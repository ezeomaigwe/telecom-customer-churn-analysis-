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7" r:id="rId2"/>
    <p:sldId id="258" r:id="rId3"/>
    <p:sldId id="259" r:id="rId4"/>
    <p:sldId id="260" r:id="rId5"/>
    <p:sldId id="261" r:id="rId6"/>
    <p:sldId id="262" r:id="rId7"/>
    <p:sldId id="285" r:id="rId8"/>
    <p:sldId id="263" r:id="rId9"/>
    <p:sldId id="264" r:id="rId10"/>
    <p:sldId id="265" r:id="rId11"/>
    <p:sldId id="283" r:id="rId12"/>
    <p:sldId id="267" r:id="rId13"/>
    <p:sldId id="280" r:id="rId14"/>
    <p:sldId id="268" r:id="rId15"/>
    <p:sldId id="269" r:id="rId16"/>
    <p:sldId id="270" r:id="rId17"/>
    <p:sldId id="277" r:id="rId18"/>
    <p:sldId id="272" r:id="rId19"/>
    <p:sldId id="273" r:id="rId20"/>
    <p:sldId id="274" r:id="rId21"/>
    <p:sldId id="284"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7B5494-D200-22B2-346D-9F1FFE562F8A}" v="299" dt="2026-04-24T01:55:10.749"/>
    <p1510:client id="{942CE03B-D9D4-2D40-6885-C3B75387F06E}" v="2" dt="2026-04-24T01:50:35.525"/>
    <p1510:client id="{9F43FB16-9FE1-2643-892B-C6AD8CE32FEC}" v="5178" dt="2026-04-24T02:48:03.451"/>
    <p1510:client id="{C56A11E7-D9FD-6B93-DDC9-63A0658BD2A8}" v="29" dt="2026-04-23T03:06:53.3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3BBCC3-DB50-4221-B75F-654D437DB507}" type="datetimeFigureOut">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B3CE34-5ED1-4B2D-8AAE-2B777B545758}" type="slidenum">
              <a:t>‹#›</a:t>
            </a:fld>
            <a:endParaRPr lang="en-US"/>
          </a:p>
        </p:txBody>
      </p:sp>
    </p:spTree>
    <p:extLst>
      <p:ext uri="{BB962C8B-B14F-4D97-AF65-F5344CB8AC3E}">
        <p14:creationId xmlns:p14="http://schemas.microsoft.com/office/powerpoint/2010/main" val="1966434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i.org/10.1177/10946705241246341"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Simulated Nature of the Dataset</a:t>
            </a:r>
          </a:p>
          <a:p>
            <a:r>
              <a:rPr lang="en-US" b="0"/>
              <a:t>The data dictionary notes the dataset is simulated, meaning it was artificially created to reflect realistic telecom customer behavior rather than real customer data.</a:t>
            </a:r>
          </a:p>
          <a:p>
            <a:r>
              <a:rPr lang="en-US" b="0"/>
              <a:t>A peer reviewed article shows that simulated datasets such as this are widely used in academic research to facilitate statistical learning without compromising real customer data (Raghunathan, 2021) Some observed evidence of the simulated dataset includes </a:t>
            </a:r>
            <a:r>
              <a:rPr lang="en-US" b="0" err="1"/>
              <a:t>CustomerID</a:t>
            </a:r>
            <a:r>
              <a:rPr lang="en-US" b="0"/>
              <a:t> running perfectly from 1 to 100 with no gaps, Age spans exactly 20-65 with near perfect mean of 41.91 and no missing values exist.</a:t>
            </a:r>
          </a:p>
          <a:p>
            <a:r>
              <a:rPr lang="en-US" b="1"/>
              <a:t>Simulated vs. Real-World Telecom Data: A Thoughtful Comparison</a:t>
            </a:r>
          </a:p>
          <a:p>
            <a:r>
              <a:rPr lang="en-US"/>
              <a:t>While this dataset serves its academic purpose well, it differs from real-world telecom data in several important ways:</a:t>
            </a:r>
          </a:p>
          <a:p>
            <a:r>
              <a:rPr lang="en-US" b="1"/>
              <a:t>Scale and Complexity-</a:t>
            </a:r>
            <a:r>
              <a:rPr lang="en-US"/>
              <a:t>Real telecom datasets are far larger and more complex than this simplified 7-variable, 100-record dataset. </a:t>
            </a:r>
          </a:p>
          <a:p>
            <a:r>
              <a:rPr lang="en-US" b="1"/>
              <a:t>Churn Rates-</a:t>
            </a:r>
            <a:r>
              <a:rPr lang="en-US"/>
              <a:t>The 28% churn rate is realistic but overly stable compared to real-world fluctuations. </a:t>
            </a:r>
          </a:p>
          <a:p>
            <a:r>
              <a:rPr lang="en-US" b="1"/>
              <a:t>Missing Data and Noise-</a:t>
            </a:r>
            <a:r>
              <a:rPr lang="en-US"/>
              <a:t>Unlike real data, this dataset is clean and lacks missing values, errors, or inconsistencies.</a:t>
            </a:r>
            <a:endParaRPr lang="en-US" b="0"/>
          </a:p>
          <a:p>
            <a:endParaRPr lang="en-US" b="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completed this entire module entirely in R Studio. From the summary() and describe() functions to ggplot2 visualizations, I performed all the calculations rigorously in R.</a:t>
            </a:r>
            <a:endParaRPr lang="en-US">
              <a:ea typeface="Calibri"/>
              <a:cs typeface="Calibri"/>
            </a:endParaRPr>
          </a:p>
          <a:p>
            <a:r>
              <a:rPr lang="en-US"/>
              <a:t>First, on Slide 5: Measures of Central Tendency. Using R’s mean(), median(), and mode() functions, the results are as follows:</a:t>
            </a:r>
            <a:endParaRPr lang="en-US">
              <a:ea typeface="Calibri"/>
              <a:cs typeface="Calibri"/>
            </a:endParaRPr>
          </a:p>
          <a:p>
            <a:r>
              <a:rPr lang="en-US"/>
              <a:t>• Tenure (months): mean = 30.4, median = 29.5, with a multimodal distribution (9 tied modes). This shows clear customer segmentation — many customers are churning in the early stages. • Monthly Charges ($): mean = 72.51, median = 72.85, with no single dominant mode, indicating diverse pricing tiers. • Age (years): mean = 37.2, median = 36, also multimodal.</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insight: The low mode in tenure highlights that new customer retention is our biggest pain point. The wide spread in monthly charges proves the company offers varied plans, but we need to focus on upselling add-on services to low-spending customers to increase ARPU.</a:t>
            </a:r>
            <a:endParaRPr lang="en-US">
              <a:ea typeface="Calibri"/>
              <a:cs typeface="Calibri"/>
            </a:endParaRPr>
          </a:p>
          <a:p>
            <a:r>
              <a:rPr lang="en-US"/>
              <a:t>Moving to Slide 6: Measures of Spread and Five-Number Summary. I calculated these in R using var(), </a:t>
            </a:r>
            <a:r>
              <a:rPr lang="en-US" err="1"/>
              <a:t>sd</a:t>
            </a:r>
            <a:r>
              <a:rPr lang="en-US"/>
              <a:t>(), IQR(), and </a:t>
            </a:r>
            <a:r>
              <a:rPr lang="en-US" err="1"/>
              <a:t>fivenum</a:t>
            </a:r>
            <a:r>
              <a:rPr lang="en-US"/>
              <a:t>():</a:t>
            </a:r>
            <a:endParaRPr lang="en-US">
              <a:ea typeface="Calibri"/>
              <a:cs typeface="Calibri"/>
            </a:endParaRPr>
          </a:p>
          <a:p>
            <a:pPr marL="171450" indent="-171450">
              <a:buFont typeface="Arial"/>
              <a:buChar char="•"/>
            </a:pPr>
            <a:r>
              <a:rPr lang="en-US"/>
              <a:t>Tenure has a standard deviation of 17.8 months, range 1–60 months, and the five-number summary is (1, 14, 29.5, 46, 60), with no outliers.</a:t>
            </a:r>
            <a:endParaRPr lang="en-US">
              <a:ea typeface="Calibri"/>
              <a:cs typeface="Calibri"/>
            </a:endParaRPr>
          </a:p>
          <a:p>
            <a:pPr marL="171450" indent="-171450">
              <a:buFont typeface="Arial"/>
              <a:buChar char="•"/>
            </a:pPr>
            <a:r>
              <a:rPr lang="en-US"/>
              <a:t>Monthly Charges has a standard deviation of $20.35, range $30.25–$119.90, and the five-number summary is ($30.25, $55.40, $72.85, $89.10, $119.90), also with no outliers.</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boxplots generated in R clearly show that churned customers have significantly lower tenure and monthly charges than retained customers. The QQ-plots indicate that Monthly Charges largely follows a normal distribution (most points align closely with the theoretical line), providing a solid foundation for our later probability and confidence interval analysis.</a:t>
            </a: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Notes:</a:t>
            </a:r>
          </a:p>
          <a:p>
            <a:endParaRPr lang="en-US"/>
          </a:p>
          <a:p>
            <a:r>
              <a:rPr lang="en-US" sz="1200" b="0" i="0" u="none" strike="noStrike" kern="1200">
                <a:solidFill>
                  <a:schemeClr val="tx1"/>
                </a:solidFill>
                <a:effectLst/>
                <a:latin typeface="+mn-lt"/>
                <a:ea typeface="+mn-ea"/>
                <a:cs typeface="+mn-cs"/>
              </a:rPr>
              <a:t>An 11pt difference found in tenure and monthly charges column between minimum and first quarter datapoints, suggesting early leave. This was then validated by mean vs median tenure where mean was greater than median by 2.09 points and the distribution showed a right-skew meaning there may be a group pulling the average.</a:t>
            </a:r>
            <a:endParaRPr lang="en-US"/>
          </a:p>
          <a:p>
            <a:endParaRPr lang="en-US"/>
          </a:p>
          <a:p>
            <a:r>
              <a:rPr lang="en-US" sz="1200" b="0" i="0" u="none" strike="noStrike" kern="1200">
                <a:solidFill>
                  <a:schemeClr val="tx1"/>
                </a:solidFill>
                <a:effectLst/>
                <a:latin typeface="+mn-lt"/>
                <a:ea typeface="+mn-ea"/>
                <a:cs typeface="+mn-cs"/>
              </a:rPr>
              <a:t>During our preliminary findings, we segmented the data and determined that price shock is not a key driver, as those with the company for over 40 months spent $49.81 more than those with the company for less than 20 months. </a:t>
            </a:r>
            <a:r>
              <a:rPr lang="en-US"/>
              <a:t>Because we saw that tenure was right skewed in our preliminary findings, meaning that consumers leave towards the beginning of the B2C relationship.</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In addition, we found that the variance of the model indicated 0.2016 while standard deviation indicated 0.4489. This means that while the model shows a 28% chance of churn out of the dataset, there is a 48% chance of spread variability. Due to these insights we looked into the potential causes of what could be the tipping point. This led to the conclusion that the variance isn’t random and is actually highly tied to the number of services.</a:t>
            </a:r>
          </a:p>
          <a:p>
            <a:endParaRPr lang="en-US"/>
          </a:p>
          <a:p>
            <a:r>
              <a:rPr lang="en-US"/>
              <a:t>When looking at </a:t>
            </a:r>
            <a:r>
              <a:rPr lang="en-US" err="1"/>
              <a:t>NumServices</a:t>
            </a:r>
            <a:r>
              <a:rPr lang="en-US"/>
              <a:t>, based on the 28% churn rate, the company appears to be losing approximately 1 subscriber for every 4 subscribers. </a:t>
            </a:r>
          </a:p>
          <a:p>
            <a:r>
              <a:rPr lang="en-US"/>
              <a:t>When we zoom into how this affects revenue, with a monthly average of $72.50 each customer that we lose represents approximately $850 in annual revenue. Multiple that by 4 and the company can potentially lose $3,400 per year at minimum. If the company plans to keep expanding, this revenue gap will continue to grow.</a:t>
            </a:r>
          </a:p>
          <a:p>
            <a:endParaRPr lang="en-US"/>
          </a:p>
          <a:p>
            <a:r>
              <a:rPr lang="en-US" sz="1200" kern="1200">
                <a:solidFill>
                  <a:schemeClr val="tx1"/>
                </a:solidFill>
                <a:effectLst/>
                <a:latin typeface="+mn-lt"/>
                <a:ea typeface="+mn-ea"/>
                <a:cs typeface="+mn-cs"/>
              </a:rPr>
              <a:t>In addition, the 28 churned customers had tenure ≤15 months, with the highest concentration between months 6–10 (43% of churns). Notably, 25 of 26 customers with tenure ≤12 months</a:t>
            </a:r>
          </a:p>
          <a:p>
            <a:r>
              <a:rPr lang="en-US" sz="1200" kern="1200">
                <a:solidFill>
                  <a:schemeClr val="tx1"/>
                </a:solidFill>
                <a:effectLst/>
                <a:latin typeface="+mn-lt"/>
                <a:ea typeface="+mn-ea"/>
                <a:cs typeface="+mn-cs"/>
              </a:rPr>
              <a:t>churned (96.2%). These findings suggest that the companies outreach and retention teams should prioritize getting customers to have 3 or more services, as customers with 1-2 can already be though of as churned.</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In addition, the boxplot on the far right reveals that those who are falling into our top tier 4+ services range tend to be older customers ages 40-65.</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Sources:</a:t>
            </a:r>
          </a:p>
          <a:p>
            <a:pPr indent="-457200"/>
            <a:r>
              <a:rPr lang="en-US" sz="1200" kern="1200">
                <a:solidFill>
                  <a:schemeClr val="tx1"/>
                </a:solidFill>
                <a:effectLst/>
                <a:latin typeface="+mn-lt"/>
                <a:ea typeface="+mn-ea"/>
                <a:cs typeface="+mn-cs"/>
              </a:rPr>
              <a:t>Fryer, Thomas. (2026). Bus 534 Week 3: Chapter 2 - Uncertainty Quantification. [</a:t>
            </a:r>
            <a:r>
              <a:rPr lang="en-US" sz="1200" kern="1200" err="1">
                <a:solidFill>
                  <a:schemeClr val="tx1"/>
                </a:solidFill>
                <a:effectLst/>
                <a:latin typeface="+mn-lt"/>
                <a:ea typeface="+mn-ea"/>
                <a:cs typeface="+mn-cs"/>
              </a:rPr>
              <a:t>Powerpoint</a:t>
            </a:r>
            <a:r>
              <a:rPr lang="en-US" sz="1200" kern="1200">
                <a:solidFill>
                  <a:schemeClr val="tx1"/>
                </a:solidFill>
                <a:effectLst/>
                <a:latin typeface="+mn-lt"/>
                <a:ea typeface="+mn-ea"/>
                <a:cs typeface="+mn-cs"/>
              </a:rPr>
              <a:t> slides]. School of Business, California Baptist University. https://</a:t>
            </a:r>
            <a:r>
              <a:rPr lang="en-US" sz="1200" kern="1200" err="1">
                <a:solidFill>
                  <a:schemeClr val="tx1"/>
                </a:solidFill>
                <a:effectLst/>
                <a:latin typeface="+mn-lt"/>
                <a:ea typeface="+mn-ea"/>
                <a:cs typeface="+mn-cs"/>
              </a:rPr>
              <a:t>calbaptist.blackboard.com</a:t>
            </a:r>
            <a:r>
              <a:rPr lang="en-US" sz="1200" kern="1200">
                <a:solidFill>
                  <a:schemeClr val="tx1"/>
                </a:solidFill>
                <a:effectLst/>
                <a:latin typeface="+mn-lt"/>
                <a:ea typeface="+mn-ea"/>
                <a:cs typeface="+mn-cs"/>
              </a:rPr>
              <a:t>/ultra/institution-page</a:t>
            </a:r>
          </a:p>
          <a:p>
            <a:endParaRPr lang="en-US" sz="1200" kern="1200">
              <a:solidFill>
                <a:schemeClr val="tx1"/>
              </a:solidFill>
              <a:effectLst/>
              <a:latin typeface="+mn-lt"/>
              <a:ea typeface="+mn-ea"/>
              <a:cs typeface="+mn-cs"/>
            </a:endParaRPr>
          </a:p>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Notes:</a:t>
            </a:r>
          </a:p>
          <a:p>
            <a:endParaRPr lang="en-US"/>
          </a:p>
          <a:p>
            <a:r>
              <a:rPr lang="en-US"/>
              <a:t>Due to the high variance identified in the previous slide, Bernoulli distribution indicates that when dealing with high variance, it is advised to not look at customers as individuals but rather as groups. For this scenario we used groups of 10 and set 3 as the expected outcome for churn rate, as this is the closest integer to 2.8 and it is impossible to have a .8 of a customer.</a:t>
            </a:r>
          </a:p>
          <a:p>
            <a:endParaRPr lang="en-US"/>
          </a:p>
          <a:p>
            <a:r>
              <a:rPr lang="en-US"/>
              <a:t>To further look into the causes of the 28% churn rate, a binomial distribution was used as churn is binary and due to the small sample size of 100. The three key concepts we looked at were the PMF function to identify the chance of 3 churns, the CDF function to identify the chance of 3 or fewer churns, and we set a red flag threshold of 5 or more churns.</a:t>
            </a:r>
          </a:p>
          <a:p>
            <a:endParaRPr lang="en-US"/>
          </a:p>
          <a:p>
            <a:r>
              <a:rPr lang="en-US"/>
              <a:t>When looking at average customers the insights revealed that when looking at every 10 customers, we can expect a 26.4% chance of 3 churns, a 70.2% chance of 3 or fewer churns, and an 11.8% chance of 5 or mor churns. Now we did run a test including the possibility for the red flag being set to 4 or more churns, however this resulted in a high 30% since we </a:t>
            </a:r>
            <a:r>
              <a:rPr lang="en-US" err="1"/>
              <a:t>broadend</a:t>
            </a:r>
            <a:r>
              <a:rPr lang="en-US"/>
              <a:t> our scope when it could attributed to chance. In order to prevent false crisis alarms we chose to stick with 5.</a:t>
            </a:r>
          </a:p>
          <a:p>
            <a:endParaRPr lang="en-US"/>
          </a:p>
          <a:p>
            <a:r>
              <a:rPr lang="en-US"/>
              <a:t>Key assumptions to be aware of is that binomial distribution does assume independence between customer decisions, and does not take in factors that could alter these results such as tenure and number of services.</a:t>
            </a:r>
          </a:p>
          <a:p>
            <a:endParaRPr lang="en-US"/>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Notes:</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 As shown in the image above we see that when comparing our previous results to monthly charges, we now shift into looking at continuous consumer behavior in a sense. Now although there is deviance the charges follow an approximate normal distribution pattern, as shown by the bell curve above. This is also backed up by the close range we see in the mean and median. This means that although our pricing is consistent, most of our customers are spending at a price point around $72.50. Because the median is slightly greater than the mean, we now know that the average customer is paying $0.34 more than what the average suggests.</a:t>
            </a:r>
          </a:p>
          <a:p>
            <a:endParaRPr lang="en-US"/>
          </a:p>
          <a:p>
            <a:r>
              <a:rPr lang="en-US"/>
              <a:t>The Shapiro-Wilk test revealed a p-value of .032. Now, this is less than the 0.05 threshold, meaning that the data has some non-normal characteristics such as slight skews and heavy tails as seen at the highest and lowest point of the QQ plot line. </a:t>
            </a:r>
          </a:p>
          <a:p>
            <a:endParaRPr lang="en-US"/>
          </a:p>
          <a:p>
            <a:r>
              <a:rPr lang="en-US"/>
              <a:t>However, because the QQ plot line shows that the majority of data does follow that line, we can treat this event as approximately normal and move forward with our financial risk assessment while acknowledging that there is some slight variance and further supporting our idea that the company has segmented users based on the amount of services they have.</a:t>
            </a:r>
          </a:p>
          <a:p>
            <a:endParaRPr lang="en-US"/>
          </a:p>
          <a:p>
            <a:endParaRPr lang="en-US"/>
          </a:p>
          <a:p>
            <a:endParaRPr lang="en-US"/>
          </a:p>
          <a:p>
            <a:endParaRPr lang="en-US"/>
          </a:p>
          <a:p>
            <a:endParaRPr lang="en-US"/>
          </a:p>
          <a:p>
            <a:endParaRPr lang="en-US"/>
          </a:p>
        </p:txBody>
      </p:sp>
      <p:sp>
        <p:nvSpPr>
          <p:cNvPr id="4" name="Slide Number Placeholder 3"/>
          <p:cNvSpPr>
            <a:spLocks noGrp="1"/>
          </p:cNvSpPr>
          <p:nvPr>
            <p:ph type="sldNum" sz="quarter" idx="5"/>
          </p:nvPr>
        </p:nvSpPr>
        <p:spPr/>
        <p:txBody>
          <a:bodyPr/>
          <a:lstStyle/>
          <a:p>
            <a:fld id="{E3B3CE34-5ED1-4B2D-8AAE-2B777B545758}" type="slidenum">
              <a:rPr lang="en-US" smtClean="0"/>
              <a:t>11</a:t>
            </a:fld>
            <a:endParaRPr lang="en-US"/>
          </a:p>
        </p:txBody>
      </p:sp>
    </p:spTree>
    <p:extLst>
      <p:ext uri="{BB962C8B-B14F-4D97-AF65-F5344CB8AC3E}">
        <p14:creationId xmlns:p14="http://schemas.microsoft.com/office/powerpoint/2010/main" val="480021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3D3D3A"/>
                </a:solidFill>
              </a:rPr>
              <a:t>We are 95% confident the average bill across the entire customer base is somewhere between $68.47 and $76.54.</a:t>
            </a:r>
          </a:p>
          <a:p>
            <a:r>
              <a:rPr lang="en-US">
                <a:solidFill>
                  <a:srgbClr val="3D3D3A"/>
                </a:solidFill>
                <a:highlight>
                  <a:srgbClr val="FFFFFF"/>
                </a:highlight>
              </a:rPr>
              <a:t>The 95% CI for churn places the true rate between 19.2% and 36.9%. Even the optimistic lower bound represents one in five customers lost per cycle. </a:t>
            </a:r>
            <a:endParaRPr lang="en-US">
              <a:solidFill>
                <a:srgbClr val="3D3D3A"/>
              </a:solidFill>
              <a:highlight>
                <a:srgbClr val="FFFFFF"/>
              </a:highlight>
              <a:ea typeface="Calibri"/>
              <a:cs typeface="Calibri"/>
            </a:endParaRPr>
          </a:p>
          <a:p>
            <a:r>
              <a:rPr lang="en-US">
                <a:solidFill>
                  <a:srgbClr val="3D3D3A"/>
                </a:solidFill>
                <a:highlight>
                  <a:srgbClr val="FFFFFF"/>
                </a:highlight>
              </a:rPr>
              <a:t>The </a:t>
            </a:r>
            <a:r>
              <a:rPr lang="en-US" b="1">
                <a:solidFill>
                  <a:srgbClr val="3D3D3A"/>
                </a:solidFill>
                <a:highlight>
                  <a:srgbClr val="FFFFFF"/>
                </a:highlight>
              </a:rPr>
              <a:t>Central Limit Theorem</a:t>
            </a:r>
            <a:r>
              <a:rPr lang="en-US">
                <a:solidFill>
                  <a:srgbClr val="3D3D3A"/>
                </a:solidFill>
                <a:highlight>
                  <a:srgbClr val="FFFFFF"/>
                </a:highlight>
              </a:rPr>
              <a:t> says that sample means tend toward a normal distribution regardless of the underlying data's shape</a:t>
            </a:r>
          </a:p>
          <a:p>
            <a:endParaRPr lang="en-US">
              <a:solidFill>
                <a:srgbClr val="3D3D3A"/>
              </a:solidFill>
              <a:highlight>
                <a:srgbClr val="FFFFFF"/>
              </a:highlight>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a:t>
            </a:r>
            <a:r>
              <a:rPr lang="en-US" b="1"/>
              <a:t>normal distribution</a:t>
            </a:r>
            <a:r>
              <a:rPr lang="en-US"/>
              <a:t> is a probability distribution that is symmetric around its mean, where data clusters around a central value with no bias left or right.</a:t>
            </a:r>
          </a:p>
        </p:txBody>
      </p:sp>
      <p:sp>
        <p:nvSpPr>
          <p:cNvPr id="4" name="Slide Number Placeholder 3"/>
          <p:cNvSpPr>
            <a:spLocks noGrp="1"/>
          </p:cNvSpPr>
          <p:nvPr>
            <p:ph type="sldNum" sz="quarter" idx="5"/>
          </p:nvPr>
        </p:nvSpPr>
        <p:spPr/>
        <p:txBody>
          <a:bodyPr/>
          <a:lstStyle/>
          <a:p>
            <a:fld id="{E3B3CE34-5ED1-4B2D-8AAE-2B777B545758}" type="slidenum">
              <a:rPr lang="en-US"/>
              <a:t>13</a:t>
            </a:fld>
            <a:endParaRPr lang="en-US"/>
          </a:p>
        </p:txBody>
      </p:sp>
    </p:spTree>
    <p:extLst>
      <p:ext uri="{BB962C8B-B14F-4D97-AF65-F5344CB8AC3E}">
        <p14:creationId xmlns:p14="http://schemas.microsoft.com/office/powerpoint/2010/main" val="666400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company has a high customer churn rate because most customers churn between months 6 and 10. In addition, customers subscribed to only 1 or 2 services churns at 100%, and those with 3 services churns at 28%. It explains the lack of effectiveness in the company's cross-selling and customer engagement strategies. Furthermore, churned customers are on average 27 years old, and retained customers are on average 47 years old. This means that the company's services are not approved by younger customers. Finally, churned customers pay an average of about $48.90 per month, and retained customers pay about $81.70 per month. This means the company is losing the lower-income customers.</a:t>
            </a: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15213F"/>
                </a:solidFill>
              </a:rPr>
              <a:t>Simulated Data</a:t>
            </a:r>
            <a:r>
              <a:rPr lang="en-US"/>
              <a:t> Only 7 columns are present (</a:t>
            </a:r>
            <a:r>
              <a:rPr lang="en-US" err="1"/>
              <a:t>CustomerID</a:t>
            </a:r>
            <a:r>
              <a:rPr lang="en-US"/>
              <a:t>, Tenure, </a:t>
            </a:r>
            <a:r>
              <a:rPr lang="en-US" err="1"/>
              <a:t>MonthlyCharges</a:t>
            </a:r>
            <a:r>
              <a:rPr lang="en-US"/>
              <a:t>, </a:t>
            </a:r>
            <a:r>
              <a:rPr lang="en-US" err="1"/>
              <a:t>NumServices</a:t>
            </a:r>
            <a:r>
              <a:rPr lang="en-US"/>
              <a:t>, Churn, Age, Gender). Missing are potentially important drivers like contract type, payment method, geographic region, data usage, customer service interactions, or plan tier — all commonly predictive of churn.</a:t>
            </a:r>
          </a:p>
          <a:p>
            <a:r>
              <a:rPr lang="en-US"/>
              <a:t>Sample Size With only 100 observations, the margins of error are wide — especially for the churn rate (±8.8 percentage points). This makes precise inference difficult and limits how confidently conclusions can be generalized.</a:t>
            </a:r>
          </a:p>
          <a:p>
            <a:r>
              <a:rPr lang="en-US">
                <a:solidFill>
                  <a:srgbClr val="15213F"/>
                </a:solidFill>
              </a:rPr>
              <a:t>No Time Series This cross-sectional snapshot misses seasonal trends and campaign effects over time.</a:t>
            </a:r>
            <a:endParaRPr lang="en-US">
              <a:solidFill>
                <a:srgbClr val="15213F"/>
              </a:solidFill>
              <a:ea typeface="Calibri"/>
              <a:cs typeface="Calibri"/>
            </a:endParaRPr>
          </a:p>
          <a:p>
            <a:r>
              <a:rPr lang="en-US">
                <a:solidFill>
                  <a:srgbClr val="15213F"/>
                </a:solidFill>
              </a:rPr>
              <a:t>Whether churn spikes in specific months. Whether average monthly charges fluctuate due to overage fees, promotional discounts, or usage surges.</a:t>
            </a:r>
          </a:p>
          <a:p>
            <a:r>
              <a:rPr lang="en-US">
                <a:solidFill>
                  <a:srgbClr val="15213F"/>
                </a:solidFill>
              </a:rPr>
              <a:t>Whether customers who pay more than competitors are significantly more likely to churn. Which customer segments are most price-sensitive.</a:t>
            </a:r>
          </a:p>
          <a:p>
            <a:r>
              <a:rPr lang="en-US">
                <a:solidFill>
                  <a:srgbClr val="15213F"/>
                </a:solidFill>
              </a:rPr>
              <a:t>Li, C., Swaminathan, S., &amp; Kim, J. (2025). Point Redemption in Loyalty Programs: The Role of Customer Relationship Characteristics and Their Implications for Service Providers. </a:t>
            </a:r>
            <a:r>
              <a:rPr lang="en-US" i="1">
                <a:solidFill>
                  <a:srgbClr val="15213F"/>
                </a:solidFill>
              </a:rPr>
              <a:t>Journal of Service Research</a:t>
            </a:r>
            <a:r>
              <a:rPr lang="en-US">
                <a:solidFill>
                  <a:srgbClr val="15213F"/>
                </a:solidFill>
              </a:rPr>
              <a:t>, </a:t>
            </a:r>
            <a:r>
              <a:rPr lang="en-US" i="1">
                <a:solidFill>
                  <a:srgbClr val="15213F"/>
                </a:solidFill>
              </a:rPr>
              <a:t>28</a:t>
            </a:r>
            <a:r>
              <a:rPr lang="en-US">
                <a:solidFill>
                  <a:srgbClr val="15213F"/>
                </a:solidFill>
              </a:rPr>
              <a:t>(4), 652–668. </a:t>
            </a:r>
            <a:r>
              <a:rPr lang="en-US">
                <a:solidFill>
                  <a:srgbClr val="15213F"/>
                </a:solidFill>
                <a:hlinkClick r:id="rId3"/>
              </a:rPr>
              <a:t>https://doi.org/10.1177/10946705241246341</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B3CE34-5ED1-4B2D-8AAE-2B777B545758}" type="slidenum">
              <a:rPr lang="en-US" smtClean="0"/>
              <a:t>17</a:t>
            </a:fld>
            <a:endParaRPr lang="en-US"/>
          </a:p>
        </p:txBody>
      </p:sp>
    </p:spTree>
    <p:extLst>
      <p:ext uri="{BB962C8B-B14F-4D97-AF65-F5344CB8AC3E}">
        <p14:creationId xmlns:p14="http://schemas.microsoft.com/office/powerpoint/2010/main" val="2864676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ED768-CC35-EBAD-B8F0-EA1E26EA21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5F7CA8-CCC1-B038-A56D-E6BC37D8CC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327557-DA7C-8D4F-CB79-72FE09B0A2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C9A8E4-C0D4-E984-C76C-07F67F751C27}"/>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8751909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B976A-9E61-D889-49D6-D19D420E8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60CE01-7085-54EF-854B-44C13BE07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1CF933-AEA1-C449-ACB7-93C9B650E2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7A10045-77EF-547E-4F26-7C8D7C0B07FD}"/>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451042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3226033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29980097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19622918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42185979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21402539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2798007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17727756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29969890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16982858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3613178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13776274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42450313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6107617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20632352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11187569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37416820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24034194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txBody>
          <a:bodyPr/>
          <a:lstStyle/>
          <a:p>
            <a:endParaRPr lang="en-US" sz="1500"/>
          </a:p>
        </p:txBody>
      </p:sp>
      <p:sp>
        <p:nvSpPr>
          <p:cNvPr id="3" name="Shape 1"/>
          <p:cNvSpPr/>
          <p:nvPr/>
        </p:nvSpPr>
        <p:spPr>
          <a:xfrm>
            <a:off x="0" y="0"/>
            <a:ext cx="12192000" cy="6858000"/>
          </a:xfrm>
          <a:prstGeom prst="rect">
            <a:avLst/>
          </a:prstGeom>
          <a:solidFill>
            <a:srgbClr val="FBFCFE"/>
          </a:solidFill>
          <a:ln/>
        </p:spPr>
        <p:txBody>
          <a:bodyPr/>
          <a:lstStyle/>
          <a:p>
            <a:endParaRPr lang="en-US" sz="1500"/>
          </a:p>
        </p:txBody>
      </p:sp>
    </p:spTree>
    <p:extLst>
      <p:ext uri="{BB962C8B-B14F-4D97-AF65-F5344CB8AC3E}">
        <p14:creationId xmlns:p14="http://schemas.microsoft.com/office/powerpoint/2010/main" val="4279713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laude.ai/chat/6cf542e6-9e5b-491f-926e-6b0b8365d44b"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hyperlink" Target="https://docs.google.com/document/d/1LQzV0T9Pr0R_gIoRSIBDU9dKHZhEJcdLLGzIGbdvJcM/edit?usp=sharing" TargetMode="External"/><Relationship Id="rId5" Type="http://schemas.openxmlformats.org/officeDocument/2006/relationships/hyperlink" Target="https://claude.ai/share/aebbca28-5c76-46be-92a9-aed6382a4b8a" TargetMode="External"/><Relationship Id="rId4" Type="http://schemas.openxmlformats.org/officeDocument/2006/relationships/hyperlink" Target="https://gemini.google.com/share/ce10d509188c"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7.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5.xml"/><Relationship Id="rId5" Type="http://schemas.openxmlformats.org/officeDocument/2006/relationships/image" Target="../media/image29.svg"/><Relationship Id="rId4" Type="http://schemas.openxmlformats.org/officeDocument/2006/relationships/image" Target="../media/image28.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calbaptist.blackboard.com/ultra/institution-page" TargetMode="External"/><Relationship Id="rId2" Type="http://schemas.openxmlformats.org/officeDocument/2006/relationships/notesSlide" Target="../notesSlides/notesSlide17.xml"/><Relationship Id="rId1" Type="http://schemas.openxmlformats.org/officeDocument/2006/relationships/slideLayout" Target="../slideLayouts/slideLayout27.xml"/><Relationship Id="rId5" Type="http://schemas.openxmlformats.org/officeDocument/2006/relationships/hyperlink" Target="https://doi.org/10.1146/annurev-statistics-040720-031848" TargetMode="External"/><Relationship Id="rId4" Type="http://schemas.openxmlformats.org/officeDocument/2006/relationships/hyperlink" Target="https://doi.org/10.1177/10946705241246341"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claude.ai/chat/6cf542e6-9e5b-491f-926e-6b0b8365d44b" TargetMode="External"/><Relationship Id="rId2" Type="http://schemas.openxmlformats.org/officeDocument/2006/relationships/notesSlide" Target="../notesSlides/notesSlide18.xml"/><Relationship Id="rId1" Type="http://schemas.openxmlformats.org/officeDocument/2006/relationships/slideLayout" Target="../slideLayouts/slideLayout28.xml"/><Relationship Id="rId6" Type="http://schemas.openxmlformats.org/officeDocument/2006/relationships/hyperlink" Target="https://docs.google.com/document/d/1LQzV0T9Pr0R_gIoRSIBDU9dKHZhEJcdLLGzIGbdvJcM/edit?usp=sharing" TargetMode="External"/><Relationship Id="rId5" Type="http://schemas.openxmlformats.org/officeDocument/2006/relationships/hyperlink" Target="https://claude.ai/share/aebbca28-5c76-46be-92a9-aed6382a4b8a" TargetMode="External"/><Relationship Id="rId4" Type="http://schemas.openxmlformats.org/officeDocument/2006/relationships/hyperlink" Target="https://gemini.google.com/share/ce10d509188c"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9.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9.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9.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92" y="296705"/>
            <a:ext cx="8935542" cy="59064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625"/>
              </a:lnSpc>
              <a:buNone/>
            </a:pPr>
            <a:r>
              <a:rPr lang="en-US" sz="3708">
                <a:solidFill>
                  <a:srgbClr val="3257B8"/>
                </a:solidFill>
                <a:latin typeface="Times New Roman" panose="02020603050405020304" pitchFamily="18" charset="0"/>
                <a:ea typeface="Libre Baskerville" pitchFamily="34" charset="-122"/>
                <a:cs typeface="Times New Roman" panose="02020603050405020304" pitchFamily="18" charset="0"/>
              </a:rPr>
              <a:t>Telecomm Customer Churn Analysis</a:t>
            </a:r>
            <a:endParaRPr lang="en-US" sz="3708">
              <a:latin typeface="Times New Roman" panose="02020603050405020304" pitchFamily="18" charset="0"/>
              <a:cs typeface="Times New Roman" panose="02020603050405020304" pitchFamily="18" charset="0"/>
            </a:endParaRPr>
          </a:p>
        </p:txBody>
      </p:sp>
      <p:sp>
        <p:nvSpPr>
          <p:cNvPr id="3" name="Text 1"/>
          <p:cNvSpPr/>
          <p:nvPr/>
        </p:nvSpPr>
        <p:spPr>
          <a:xfrm>
            <a:off x="661491" y="925135"/>
            <a:ext cx="10869018" cy="30241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Times New Roman" panose="02020603050405020304" pitchFamily="18" charset="0"/>
                <a:ea typeface="Source Sans 3" pitchFamily="34" charset="-122"/>
                <a:cs typeface="Times New Roman" panose="02020603050405020304" pitchFamily="18" charset="0"/>
              </a:rPr>
              <a:t>BUS534 Final Project · Business Analytics Presentation</a:t>
            </a:r>
            <a:endParaRPr lang="en-US" sz="1458">
              <a:latin typeface="Times New Roman" panose="02020603050405020304" pitchFamily="18" charset="0"/>
              <a:cs typeface="Times New Roman" panose="02020603050405020304" pitchFamily="18" charset="0"/>
            </a:endParaRPr>
          </a:p>
        </p:txBody>
      </p:sp>
      <p:sp>
        <p:nvSpPr>
          <p:cNvPr id="4" name="Text 2"/>
          <p:cNvSpPr/>
          <p:nvPr/>
        </p:nvSpPr>
        <p:spPr>
          <a:xfrm>
            <a:off x="661491" y="1440180"/>
            <a:ext cx="10869018" cy="30241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Times New Roman" panose="02020603050405020304" pitchFamily="18" charset="0"/>
                <a:ea typeface="Source Sans 3" pitchFamily="34" charset="-122"/>
                <a:cs typeface="Times New Roman" panose="02020603050405020304" pitchFamily="18" charset="0"/>
              </a:rPr>
              <a:t>Mia, Logan, Lewis, Lin, Zikun · Group 3 · Telecom Customer Churn Analysis</a:t>
            </a:r>
            <a:endParaRPr lang="en-US" sz="1458">
              <a:latin typeface="Times New Roman" panose="02020603050405020304" pitchFamily="18" charset="0"/>
              <a:cs typeface="Times New Roman" panose="02020603050405020304" pitchFamily="18" charset="0"/>
            </a:endParaRPr>
          </a:p>
        </p:txBody>
      </p:sp>
      <p:graphicFrame>
        <p:nvGraphicFramePr>
          <p:cNvPr id="32" name="Table 31">
            <a:extLst>
              <a:ext uri="{FF2B5EF4-FFF2-40B4-BE49-F238E27FC236}">
                <a16:creationId xmlns:a16="http://schemas.microsoft.com/office/drawing/2014/main" id="{226D6E75-1CB4-DC39-12D6-01978B7D5055}"/>
              </a:ext>
            </a:extLst>
          </p:cNvPr>
          <p:cNvGraphicFramePr>
            <a:graphicFrameLocks noGrp="1"/>
          </p:cNvGraphicFramePr>
          <p:nvPr>
            <p:extLst>
              <p:ext uri="{D42A27DB-BD31-4B8C-83A1-F6EECF244321}">
                <p14:modId xmlns:p14="http://schemas.microsoft.com/office/powerpoint/2010/main" val="395425534"/>
              </p:ext>
            </p:extLst>
          </p:nvPr>
        </p:nvGraphicFramePr>
        <p:xfrm>
          <a:off x="661491" y="1955225"/>
          <a:ext cx="11085872" cy="4645853"/>
        </p:xfrm>
        <a:graphic>
          <a:graphicData uri="http://schemas.openxmlformats.org/drawingml/2006/table">
            <a:tbl>
              <a:tblPr firstRow="1" bandRow="1">
                <a:tableStyleId>{BC89EF96-8CEA-46FF-86C4-4CE0E7609802}</a:tableStyleId>
              </a:tblPr>
              <a:tblGrid>
                <a:gridCol w="2771468">
                  <a:extLst>
                    <a:ext uri="{9D8B030D-6E8A-4147-A177-3AD203B41FA5}">
                      <a16:colId xmlns:a16="http://schemas.microsoft.com/office/drawing/2014/main" val="1936347256"/>
                    </a:ext>
                  </a:extLst>
                </a:gridCol>
                <a:gridCol w="2599540">
                  <a:extLst>
                    <a:ext uri="{9D8B030D-6E8A-4147-A177-3AD203B41FA5}">
                      <a16:colId xmlns:a16="http://schemas.microsoft.com/office/drawing/2014/main" val="2767164866"/>
                    </a:ext>
                  </a:extLst>
                </a:gridCol>
                <a:gridCol w="2943396">
                  <a:extLst>
                    <a:ext uri="{9D8B030D-6E8A-4147-A177-3AD203B41FA5}">
                      <a16:colId xmlns:a16="http://schemas.microsoft.com/office/drawing/2014/main" val="3597386909"/>
                    </a:ext>
                  </a:extLst>
                </a:gridCol>
                <a:gridCol w="2771468">
                  <a:extLst>
                    <a:ext uri="{9D8B030D-6E8A-4147-A177-3AD203B41FA5}">
                      <a16:colId xmlns:a16="http://schemas.microsoft.com/office/drawing/2014/main" val="2504119967"/>
                    </a:ext>
                  </a:extLst>
                </a:gridCol>
              </a:tblGrid>
              <a:tr h="630101">
                <a:tc>
                  <a:txBody>
                    <a:bodyPr/>
                    <a:lstStyle/>
                    <a:p>
                      <a:r>
                        <a:rPr lang="en-US" sz="1500">
                          <a:latin typeface="Times New Roman" panose="02020603050405020304" pitchFamily="18" charset="0"/>
                          <a:cs typeface="Times New Roman" panose="02020603050405020304" pitchFamily="18" charset="0"/>
                        </a:rPr>
                        <a:t>Section</a:t>
                      </a:r>
                      <a:endParaRPr lang="en-US" sz="1500" i="1">
                        <a:latin typeface="Times New Roman" panose="02020603050405020304" pitchFamily="18" charset="0"/>
                        <a:cs typeface="Times New Roman" panose="02020603050405020304" pitchFamily="18" charset="0"/>
                      </a:endParaRP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Members</a:t>
                      </a:r>
                      <a:endParaRPr lang="en-US" sz="1500" i="1">
                        <a:latin typeface="Times New Roman" panose="02020603050405020304" pitchFamily="18" charset="0"/>
                        <a:cs typeface="Times New Roman" panose="02020603050405020304" pitchFamily="18" charset="0"/>
                      </a:endParaRP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AI Used + Hyperlink</a:t>
                      </a:r>
                      <a:endParaRPr lang="en-US" sz="1500" i="1">
                        <a:latin typeface="Times New Roman" panose="02020603050405020304" pitchFamily="18" charset="0"/>
                        <a:cs typeface="Times New Roman" panose="02020603050405020304" pitchFamily="18" charset="0"/>
                      </a:endParaRP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AI Contribution</a:t>
                      </a:r>
                      <a:endParaRPr lang="en-US" sz="1500" i="1">
                        <a:latin typeface="Times New Roman" panose="02020603050405020304" pitchFamily="18" charset="0"/>
                        <a:cs typeface="Times New Roman" panose="02020603050405020304" pitchFamily="18" charset="0"/>
                      </a:endParaRPr>
                    </a:p>
                  </a:txBody>
                  <a:tcPr marL="76200" marR="76200" marT="38100" marB="38100"/>
                </a:tc>
                <a:extLst>
                  <a:ext uri="{0D108BD9-81ED-4DB2-BD59-A6C34878D82A}">
                    <a16:rowId xmlns:a16="http://schemas.microsoft.com/office/drawing/2014/main" val="143349954"/>
                  </a:ext>
                </a:extLst>
              </a:tr>
              <a:tr h="622938">
                <a:tc>
                  <a:txBody>
                    <a:bodyPr/>
                    <a:lstStyle/>
                    <a:p>
                      <a:pPr>
                        <a:buNone/>
                      </a:pPr>
                      <a:r>
                        <a:rPr lang="en-US" sz="1500">
                          <a:latin typeface="Times New Roman" panose="02020603050405020304" pitchFamily="18" charset="0"/>
                          <a:cs typeface="Times New Roman" panose="02020603050405020304" pitchFamily="18" charset="0"/>
                        </a:rPr>
                        <a:t>Business Context </a:t>
                      </a:r>
                      <a:r>
                        <a:rPr lang="en-US" sz="1500" b="1">
                          <a:latin typeface="Times New Roman" panose="02020603050405020304" pitchFamily="18" charset="0"/>
                          <a:cs typeface="Times New Roman" panose="02020603050405020304" pitchFamily="18" charset="0"/>
                        </a:rPr>
                        <a:t>I </a:t>
                      </a:r>
                      <a:r>
                        <a:rPr lang="en-US" sz="1500">
                          <a:latin typeface="Times New Roman" panose="02020603050405020304" pitchFamily="18" charset="0"/>
                          <a:cs typeface="Times New Roman" panose="02020603050405020304" pitchFamily="18" charset="0"/>
                        </a:rPr>
                        <a:t>Research Questions </a:t>
                      </a:r>
                      <a:r>
                        <a:rPr lang="en-US" sz="1500" b="1">
                          <a:latin typeface="Times New Roman" panose="02020603050405020304" pitchFamily="18" charset="0"/>
                          <a:cs typeface="Times New Roman" panose="02020603050405020304" pitchFamily="18" charset="0"/>
                        </a:rPr>
                        <a:t>I </a:t>
                      </a:r>
                      <a:r>
                        <a:rPr lang="en-US" sz="1500">
                          <a:latin typeface="Times New Roman" panose="02020603050405020304" pitchFamily="18" charset="0"/>
                          <a:cs typeface="Times New Roman" panose="02020603050405020304" pitchFamily="18" charset="0"/>
                        </a:rPr>
                        <a:t>Recommendations</a:t>
                      </a:r>
                    </a:p>
                  </a:txBody>
                  <a:tcPr marL="76200" marR="76200" marT="38100" marB="38100" anchor="ctr"/>
                </a:tc>
                <a:tc>
                  <a:txBody>
                    <a:bodyPr/>
                    <a:lstStyle/>
                    <a:p>
                      <a:pPr>
                        <a:buNone/>
                      </a:pPr>
                      <a:r>
                        <a:rPr lang="en-US" sz="1500">
                          <a:latin typeface="Times New Roman" panose="02020603050405020304" pitchFamily="18" charset="0"/>
                          <a:cs typeface="Times New Roman" panose="02020603050405020304" pitchFamily="18" charset="0"/>
                        </a:rPr>
                        <a:t>Logan</a:t>
                      </a:r>
                    </a:p>
                  </a:txBody>
                  <a:tcPr marL="76200" marR="76200" marT="38100" marB="38100" anchor="ctr"/>
                </a:tc>
                <a:tc>
                  <a:txBody>
                    <a:bodyPr/>
                    <a:lstStyle/>
                    <a:p>
                      <a:r>
                        <a:rPr lang="en-US" sz="1500">
                          <a:latin typeface="Times New Roman"/>
                          <a:cs typeface="Times New Roman"/>
                        </a:rPr>
                        <a:t>N/A</a:t>
                      </a:r>
                      <a:endParaRPr lang="en-US" sz="1500">
                        <a:latin typeface="Times New Roman" panose="02020603050405020304" pitchFamily="18" charset="0"/>
                        <a:cs typeface="Times New Roman" panose="02020603050405020304" pitchFamily="18" charset="0"/>
                      </a:endParaRPr>
                    </a:p>
                  </a:txBody>
                  <a:tcPr marL="76200" marR="76200" marT="38100" marB="38100"/>
                </a:tc>
                <a:tc>
                  <a:txBody>
                    <a:bodyPr/>
                    <a:lstStyle/>
                    <a:p>
                      <a:r>
                        <a:rPr lang="en-US" sz="1500">
                          <a:latin typeface="Times New Roman"/>
                          <a:cs typeface="Times New Roman"/>
                        </a:rPr>
                        <a:t>N/A</a:t>
                      </a:r>
                      <a:endParaRPr lang="en-US" sz="1500">
                        <a:latin typeface="Times New Roman" panose="02020603050405020304" pitchFamily="18" charset="0"/>
                        <a:cs typeface="Times New Roman" panose="02020603050405020304" pitchFamily="18" charset="0"/>
                      </a:endParaRPr>
                    </a:p>
                  </a:txBody>
                  <a:tcPr marL="76200" marR="76200" marT="38100" marB="38100"/>
                </a:tc>
                <a:extLst>
                  <a:ext uri="{0D108BD9-81ED-4DB2-BD59-A6C34878D82A}">
                    <a16:rowId xmlns:a16="http://schemas.microsoft.com/office/drawing/2014/main" val="1676995593"/>
                  </a:ext>
                </a:extLst>
              </a:tr>
              <a:tr h="76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Data Description </a:t>
                      </a:r>
                      <a:r>
                        <a:rPr lang="en-US" sz="1500" b="1">
                          <a:latin typeface="Times New Roman" panose="02020603050405020304" pitchFamily="18" charset="0"/>
                          <a:cs typeface="Times New Roman" panose="02020603050405020304" pitchFamily="18" charset="0"/>
                        </a:rPr>
                        <a:t>I </a:t>
                      </a:r>
                      <a:r>
                        <a:rPr lang="en-US" sz="1500">
                          <a:latin typeface="Times New Roman" panose="02020603050405020304" pitchFamily="18" charset="0"/>
                          <a:cs typeface="Times New Roman" panose="02020603050405020304" pitchFamily="18" charset="0"/>
                        </a:rPr>
                        <a:t>Christian Worldview Integration</a:t>
                      </a:r>
                    </a:p>
                    <a:p>
                      <a:endParaRPr lang="en-US" sz="1500">
                        <a:latin typeface="Times New Roman" panose="02020603050405020304" pitchFamily="18" charset="0"/>
                        <a:cs typeface="Times New Roman" panose="02020603050405020304" pitchFamily="18" charset="0"/>
                      </a:endParaRPr>
                    </a:p>
                  </a:txBody>
                  <a:tcPr marL="76200" marR="76200" marT="38100" marB="38100"/>
                </a:tc>
                <a:tc>
                  <a:txBody>
                    <a:bodyPr/>
                    <a:lstStyle/>
                    <a:p>
                      <a:pPr>
                        <a:buNone/>
                      </a:pPr>
                      <a:r>
                        <a:rPr lang="en-US" sz="1500">
                          <a:latin typeface="Times New Roman" panose="02020603050405020304" pitchFamily="18" charset="0"/>
                          <a:cs typeface="Times New Roman" panose="02020603050405020304" pitchFamily="18" charset="0"/>
                        </a:rPr>
                        <a:t>Lewis</a:t>
                      </a:r>
                    </a:p>
                  </a:txBody>
                  <a:tcPr marL="76200" marR="76200" marT="38100" marB="38100" anchor="ctr"/>
                </a:tc>
                <a:tc>
                  <a:txBody>
                    <a:bodyPr/>
                    <a:lstStyle/>
                    <a:p>
                      <a:r>
                        <a:rPr lang="en-US" sz="1500">
                          <a:latin typeface="Times New Roman" panose="02020603050405020304" pitchFamily="18" charset="0"/>
                          <a:cs typeface="Times New Roman" panose="02020603050405020304" pitchFamily="18" charset="0"/>
                          <a:hlinkClick r:id="rId3"/>
                        </a:rPr>
                        <a:t>Claude</a:t>
                      </a:r>
                      <a:endParaRPr lang="en-US" sz="1500">
                        <a:latin typeface="Times New Roman" panose="02020603050405020304" pitchFamily="18" charset="0"/>
                        <a:cs typeface="Times New Roman" panose="02020603050405020304" pitchFamily="18" charset="0"/>
                      </a:endParaRP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Understanding simulated nature of dataset vs real world scenario and providing biblical principles.</a:t>
                      </a:r>
                    </a:p>
                  </a:txBody>
                  <a:tcPr marL="76200" marR="76200" marT="38100" marB="38100"/>
                </a:tc>
                <a:extLst>
                  <a:ext uri="{0D108BD9-81ED-4DB2-BD59-A6C34878D82A}">
                    <a16:rowId xmlns:a16="http://schemas.microsoft.com/office/drawing/2014/main" val="4075217515"/>
                  </a:ext>
                </a:extLst>
              </a:tr>
              <a:tr h="76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Descriptive Exploratory Analysis Sections</a:t>
                      </a:r>
                    </a:p>
                    <a:p>
                      <a:endParaRPr lang="en-US" sz="1500">
                        <a:latin typeface="Times New Roman" panose="02020603050405020304" pitchFamily="18" charset="0"/>
                        <a:cs typeface="Times New Roman" panose="02020603050405020304" pitchFamily="18" charset="0"/>
                      </a:endParaRPr>
                    </a:p>
                  </a:txBody>
                  <a:tcPr marL="76200" marR="76200" marT="38100" marB="38100"/>
                </a:tc>
                <a:tc>
                  <a:txBody>
                    <a:bodyPr/>
                    <a:lstStyle/>
                    <a:p>
                      <a:pPr>
                        <a:buNone/>
                      </a:pPr>
                      <a:r>
                        <a:rPr lang="en-US" sz="1500" err="1">
                          <a:latin typeface="Times New Roman" panose="02020603050405020304" pitchFamily="18" charset="0"/>
                          <a:cs typeface="Times New Roman" panose="02020603050405020304" pitchFamily="18" charset="0"/>
                        </a:rPr>
                        <a:t>Zikun</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lvl="0">
                        <a:buNone/>
                      </a:pPr>
                      <a:r>
                        <a:rPr lang="en-US" sz="1500" b="0" i="0" u="none" strike="noStrike" noProof="0">
                          <a:latin typeface="Times New Roman"/>
                          <a:cs typeface="Times New Roman"/>
                          <a:hlinkClick r:id="rId3"/>
                        </a:rPr>
                        <a:t>Claude</a:t>
                      </a:r>
                      <a:endParaRPr lang="en-US"/>
                    </a:p>
                  </a:txBody>
                  <a:tcPr marL="76200" marR="76200" marT="38100" marB="38100"/>
                </a:tc>
                <a:tc>
                  <a:txBody>
                    <a:bodyPr/>
                    <a:lstStyle/>
                    <a:p>
                      <a:r>
                        <a:rPr lang="en-US" sz="1500">
                          <a:latin typeface="Times New Roman"/>
                          <a:cs typeface="Times New Roman"/>
                        </a:rPr>
                        <a:t>Learn R coding and data analysis.</a:t>
                      </a:r>
                      <a:endParaRPr lang="en-US" sz="1500">
                        <a:latin typeface="Times New Roman" panose="02020603050405020304" pitchFamily="18" charset="0"/>
                        <a:cs typeface="Times New Roman" panose="02020603050405020304" pitchFamily="18" charset="0"/>
                      </a:endParaRPr>
                    </a:p>
                  </a:txBody>
                  <a:tcPr marL="76200" marR="76200" marT="38100" marB="38100"/>
                </a:tc>
                <a:extLst>
                  <a:ext uri="{0D108BD9-81ED-4DB2-BD59-A6C34878D82A}">
                    <a16:rowId xmlns:a16="http://schemas.microsoft.com/office/drawing/2014/main" val="1017599234"/>
                  </a:ext>
                </a:extLst>
              </a:tr>
              <a:tr h="622938">
                <a:tc>
                  <a:txBody>
                    <a:bodyPr/>
                    <a:lstStyle/>
                    <a:p>
                      <a:pPr>
                        <a:buNone/>
                      </a:pPr>
                      <a:r>
                        <a:rPr lang="en-US" sz="1500">
                          <a:latin typeface="Times New Roman" panose="02020603050405020304" pitchFamily="18" charset="0"/>
                          <a:cs typeface="Times New Roman" panose="02020603050405020304" pitchFamily="18" charset="0"/>
                        </a:rPr>
                        <a:t>Probability &amp; Distribution Sections</a:t>
                      </a:r>
                    </a:p>
                  </a:txBody>
                  <a:tcPr marL="76200" marR="76200" marT="38100" marB="38100" anchor="ctr"/>
                </a:tc>
                <a:tc>
                  <a:txBody>
                    <a:bodyPr/>
                    <a:lstStyle/>
                    <a:p>
                      <a:pPr>
                        <a:buNone/>
                      </a:pPr>
                      <a:r>
                        <a:rPr lang="en-US" sz="1500">
                          <a:latin typeface="Times New Roman" panose="02020603050405020304" pitchFamily="18" charset="0"/>
                          <a:cs typeface="Times New Roman" panose="02020603050405020304" pitchFamily="18" charset="0"/>
                        </a:rPr>
                        <a:t>Mia</a:t>
                      </a:r>
                    </a:p>
                  </a:txBody>
                  <a:tcPr marL="76200" marR="76200" marT="38100" marB="38100" anchor="ctr"/>
                </a:tc>
                <a:tc>
                  <a:txBody>
                    <a:bodyPr/>
                    <a:lstStyle/>
                    <a:p>
                      <a:r>
                        <a:rPr lang="en-US" sz="1500">
                          <a:latin typeface="Times New Roman" panose="02020603050405020304" pitchFamily="18" charset="0"/>
                          <a:cs typeface="Times New Roman" panose="02020603050405020304" pitchFamily="18" charset="0"/>
                          <a:hlinkClick r:id="rId4"/>
                        </a:rPr>
                        <a:t>Gemini</a:t>
                      </a:r>
                      <a:endParaRPr lang="en-US" sz="1500">
                        <a:latin typeface="Times New Roman" panose="02020603050405020304" pitchFamily="18" charset="0"/>
                        <a:cs typeface="Times New Roman" panose="02020603050405020304" pitchFamily="18" charset="0"/>
                      </a:endParaRP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Aided in R coding, creating deliverable checklist, and analysis</a:t>
                      </a:r>
                    </a:p>
                  </a:txBody>
                  <a:tcPr marL="76200" marR="76200" marT="38100" marB="38100"/>
                </a:tc>
                <a:extLst>
                  <a:ext uri="{0D108BD9-81ED-4DB2-BD59-A6C34878D82A}">
                    <a16:rowId xmlns:a16="http://schemas.microsoft.com/office/drawing/2014/main" val="3894496824"/>
                  </a:ext>
                </a:extLst>
              </a:tr>
              <a:tr h="622938">
                <a:tc>
                  <a:txBody>
                    <a:bodyPr/>
                    <a:lstStyle/>
                    <a:p>
                      <a:pPr>
                        <a:buNone/>
                      </a:pPr>
                      <a:r>
                        <a:rPr lang="en-US" sz="1500">
                          <a:latin typeface="Times New Roman" panose="02020603050405020304" pitchFamily="18" charset="0"/>
                          <a:cs typeface="Times New Roman" panose="02020603050405020304" pitchFamily="18" charset="0"/>
                        </a:rPr>
                        <a:t>CI's </a:t>
                      </a:r>
                      <a:r>
                        <a:rPr lang="en-US" sz="1500" b="1">
                          <a:latin typeface="Times New Roman" panose="02020603050405020304" pitchFamily="18" charset="0"/>
                          <a:cs typeface="Times New Roman" panose="02020603050405020304" pitchFamily="18" charset="0"/>
                        </a:rPr>
                        <a:t>I</a:t>
                      </a:r>
                      <a:r>
                        <a:rPr lang="en-US" sz="1500">
                          <a:latin typeface="Times New Roman" panose="02020603050405020304" pitchFamily="18" charset="0"/>
                          <a:cs typeface="Times New Roman" panose="02020603050405020304" pitchFamily="18" charset="0"/>
                        </a:rPr>
                        <a:t> Key Findings </a:t>
                      </a:r>
                      <a:r>
                        <a:rPr lang="en-US" sz="1500" b="1">
                          <a:latin typeface="Times New Roman" panose="02020603050405020304" pitchFamily="18" charset="0"/>
                          <a:cs typeface="Times New Roman" panose="02020603050405020304" pitchFamily="18" charset="0"/>
                        </a:rPr>
                        <a:t>I </a:t>
                      </a:r>
                      <a:r>
                        <a:rPr lang="en-US" sz="1500">
                          <a:latin typeface="Times New Roman" panose="02020603050405020304" pitchFamily="18" charset="0"/>
                          <a:cs typeface="Times New Roman" panose="02020603050405020304" pitchFamily="18" charset="0"/>
                        </a:rPr>
                        <a:t>Limitations &amp; Future Analysis</a:t>
                      </a:r>
                    </a:p>
                  </a:txBody>
                  <a:tcPr marL="76200" marR="76200" marT="38100" marB="38100" anchor="ctr"/>
                </a:tc>
                <a:tc>
                  <a:txBody>
                    <a:bodyPr/>
                    <a:lstStyle/>
                    <a:p>
                      <a:pPr>
                        <a:buNone/>
                      </a:pPr>
                      <a:r>
                        <a:rPr lang="en-US" sz="1500">
                          <a:latin typeface="Times New Roman" panose="02020603050405020304" pitchFamily="18" charset="0"/>
                          <a:cs typeface="Times New Roman" panose="02020603050405020304" pitchFamily="18" charset="0"/>
                        </a:rPr>
                        <a:t>Lin</a:t>
                      </a:r>
                    </a:p>
                  </a:txBody>
                  <a:tcPr marL="76200" marR="76200" marT="38100" marB="38100" anchor="ctr"/>
                </a:tc>
                <a:tc>
                  <a:txBody>
                    <a:bodyPr/>
                    <a:lstStyle/>
                    <a:p>
                      <a:pPr lvl="0">
                        <a:buNone/>
                      </a:pPr>
                      <a:r>
                        <a:rPr lang="en-US" sz="1500" b="0" i="0" u="none" strike="noStrike" baseline="0" noProof="0">
                          <a:solidFill>
                            <a:srgbClr val="000000"/>
                          </a:solidFill>
                          <a:latin typeface="Times New Roman" panose="02020603050405020304" pitchFamily="18" charset="0"/>
                          <a:cs typeface="Times New Roman" panose="02020603050405020304" pitchFamily="18" charset="0"/>
                          <a:hlinkClick r:id="rId5"/>
                        </a:rPr>
                        <a:t>Claude</a:t>
                      </a:r>
                      <a:r>
                        <a:rPr lang="en-US" sz="1500" b="0" i="0" u="none" strike="noStrike" baseline="0" noProof="0">
                          <a:solidFill>
                            <a:srgbClr val="000000"/>
                          </a:solidFill>
                          <a:latin typeface="Times New Roman" panose="02020603050405020304" pitchFamily="18" charset="0"/>
                          <a:cs typeface="Times New Roman" panose="02020603050405020304" pitchFamily="18" charset="0"/>
                        </a:rPr>
                        <a:t> </a:t>
                      </a: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Create R code and analyze data</a:t>
                      </a:r>
                    </a:p>
                  </a:txBody>
                  <a:tcPr marL="76200" marR="76200" marT="38100" marB="38100"/>
                </a:tc>
                <a:extLst>
                  <a:ext uri="{0D108BD9-81ED-4DB2-BD59-A6C34878D82A}">
                    <a16:rowId xmlns:a16="http://schemas.microsoft.com/office/drawing/2014/main" val="3378770869"/>
                  </a:ext>
                </a:extLst>
              </a:tr>
              <a:tr h="622938">
                <a:tc>
                  <a:txBody>
                    <a:bodyPr/>
                    <a:lstStyle/>
                    <a:p>
                      <a:pPr>
                        <a:buNone/>
                      </a:pPr>
                      <a:r>
                        <a:rPr lang="en-US" sz="1500">
                          <a:latin typeface="Times New Roman" panose="02020603050405020304" pitchFamily="18" charset="0"/>
                          <a:cs typeface="Times New Roman" panose="02020603050405020304" pitchFamily="18" charset="0"/>
                        </a:rPr>
                        <a:t>PowerPoint Design</a:t>
                      </a:r>
                    </a:p>
                  </a:txBody>
                  <a:tcPr marL="76200" marR="76200" marT="38100" marB="38100" anchor="ctr"/>
                </a:tc>
                <a:tc>
                  <a:txBody>
                    <a:bodyPr/>
                    <a:lstStyle/>
                    <a:p>
                      <a:pPr>
                        <a:buNone/>
                      </a:pPr>
                      <a:r>
                        <a:rPr lang="en-US" sz="1500">
                          <a:latin typeface="Times New Roman" panose="02020603050405020304" pitchFamily="18" charset="0"/>
                          <a:cs typeface="Times New Roman" panose="02020603050405020304" pitchFamily="18" charset="0"/>
                        </a:rPr>
                        <a:t>Mia</a:t>
                      </a:r>
                    </a:p>
                  </a:txBody>
                  <a:tcPr marL="76200" marR="76200" marT="38100" marB="38100" anchor="ctr"/>
                </a:tc>
                <a:tc>
                  <a:txBody>
                    <a:bodyPr/>
                    <a:lstStyle/>
                    <a:p>
                      <a:pPr lvl="0">
                        <a:buNone/>
                      </a:pPr>
                      <a:r>
                        <a:rPr lang="en-US" sz="1500" b="0" i="0" u="none" strike="noStrike" baseline="0" noProof="0">
                          <a:solidFill>
                            <a:srgbClr val="000000"/>
                          </a:solidFill>
                          <a:latin typeface="Times New Roman" panose="02020603050405020304" pitchFamily="18" charset="0"/>
                          <a:cs typeface="Times New Roman" panose="02020603050405020304" pitchFamily="18" charset="0"/>
                          <a:hlinkClick r:id="rId6"/>
                        </a:rPr>
                        <a:t>Gamma</a:t>
                      </a:r>
                      <a:r>
                        <a:rPr lang="en-US" sz="1500" b="0" i="0" u="none" strike="noStrike" baseline="0" noProof="0">
                          <a:solidFill>
                            <a:srgbClr val="000000"/>
                          </a:solidFill>
                          <a:latin typeface="Times New Roman" panose="02020603050405020304" pitchFamily="18" charset="0"/>
                          <a:cs typeface="Times New Roman" panose="02020603050405020304" pitchFamily="18" charset="0"/>
                        </a:rPr>
                        <a:t> </a:t>
                      </a: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PowerPoint template creation aid</a:t>
                      </a:r>
                    </a:p>
                  </a:txBody>
                  <a:tcPr marL="76200" marR="76200" marT="38100" marB="38100"/>
                </a:tc>
                <a:extLst>
                  <a:ext uri="{0D108BD9-81ED-4DB2-BD59-A6C34878D82A}">
                    <a16:rowId xmlns:a16="http://schemas.microsoft.com/office/drawing/2014/main" val="681401952"/>
                  </a:ext>
                </a:extLst>
              </a:tr>
            </a:tbl>
          </a:graphicData>
        </a:graphic>
      </p:graphicFrame>
    </p:spTree>
    <p:extLst>
      <p:ext uri="{BB962C8B-B14F-4D97-AF65-F5344CB8AC3E}">
        <p14:creationId xmlns:p14="http://schemas.microsoft.com/office/powerpoint/2010/main" val="2106569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85304" y="1615182"/>
            <a:ext cx="1926233" cy="290514"/>
          </a:xfrm>
          <a:prstGeom prst="roundRect">
            <a:avLst>
              <a:gd name="adj" fmla="val 6165"/>
            </a:avLst>
          </a:prstGeom>
          <a:noFill/>
          <a:ln w="7620">
            <a:solidFill>
              <a:srgbClr val="3257B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3" name="Text 1"/>
          <p:cNvSpPr/>
          <p:nvPr/>
        </p:nvSpPr>
        <p:spPr>
          <a:xfrm>
            <a:off x="781249" y="1648420"/>
            <a:ext cx="1579563" cy="24189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167">
                <a:solidFill>
                  <a:srgbClr val="3257B8"/>
                </a:solidFill>
                <a:latin typeface="Source Sans 3" pitchFamily="34" charset="0"/>
                <a:ea typeface="Source Sans 3" pitchFamily="34" charset="-122"/>
                <a:cs typeface="Times New Roman" panose="02020603050405020304" pitchFamily="18" charset="0"/>
              </a:rPr>
              <a:t>MODULE 1: FOUNDATION</a:t>
            </a:r>
            <a:endParaRPr lang="en-US" sz="1167"/>
          </a:p>
        </p:txBody>
      </p:sp>
      <p:sp>
        <p:nvSpPr>
          <p:cNvPr id="4" name="Text 2"/>
          <p:cNvSpPr/>
          <p:nvPr/>
        </p:nvSpPr>
        <p:spPr>
          <a:xfrm>
            <a:off x="661492" y="2028924"/>
            <a:ext cx="10869018" cy="118129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625"/>
              </a:lnSpc>
              <a:buNone/>
            </a:pPr>
            <a:r>
              <a:rPr lang="en-US" sz="3708">
                <a:solidFill>
                  <a:srgbClr val="3257B8"/>
                </a:solidFill>
                <a:latin typeface="Libre Baskerville" pitchFamily="34" charset="0"/>
                <a:ea typeface="Libre Baskerville" pitchFamily="34" charset="-122"/>
                <a:cs typeface="Libre Baskerville" pitchFamily="34" charset="-120"/>
              </a:rPr>
              <a:t>Business Context &amp; Problem Statement (Logan)</a:t>
            </a:r>
            <a:endParaRPr lang="en-US" sz="3708"/>
          </a:p>
        </p:txBody>
      </p:sp>
      <p:sp>
        <p:nvSpPr>
          <p:cNvPr id="5" name="Shape 3"/>
          <p:cNvSpPr/>
          <p:nvPr/>
        </p:nvSpPr>
        <p:spPr>
          <a:xfrm>
            <a:off x="525364" y="3493691"/>
            <a:ext cx="3889871" cy="1778794"/>
          </a:xfrm>
          <a:prstGeom prst="roundRect">
            <a:avLst>
              <a:gd name="adj" fmla="val 1594"/>
            </a:avLst>
          </a:prstGeom>
          <a:solidFill>
            <a:srgbClr val="3257B8"/>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6" name="Text 4"/>
          <p:cNvSpPr/>
          <p:nvPr/>
        </p:nvSpPr>
        <p:spPr>
          <a:xfrm>
            <a:off x="714375" y="3682703"/>
            <a:ext cx="2421930"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a:solidFill>
                  <a:srgbClr val="FFFFFF"/>
                </a:solidFill>
                <a:latin typeface="Libre Baskerville" pitchFamily="34" charset="0"/>
                <a:ea typeface="Libre Baskerville" pitchFamily="34" charset="-122"/>
                <a:cs typeface="Times New Roman" panose="02020603050405020304" pitchFamily="18" charset="0"/>
              </a:rPr>
              <a:t>The Core Challenge</a:t>
            </a:r>
            <a:endParaRPr lang="en-US" sz="1833"/>
          </a:p>
        </p:txBody>
      </p:sp>
      <p:sp>
        <p:nvSpPr>
          <p:cNvPr id="7" name="Text 5"/>
          <p:cNvSpPr/>
          <p:nvPr/>
        </p:nvSpPr>
        <p:spPr>
          <a:xfrm>
            <a:off x="714375" y="4166989"/>
            <a:ext cx="3511848"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FFFFFF"/>
                </a:solidFill>
                <a:latin typeface="Source Sans 3" pitchFamily="34" charset="0"/>
                <a:ea typeface="Source Sans 3" pitchFamily="34" charset="-122"/>
                <a:cs typeface="Times New Roman" panose="02020603050405020304" pitchFamily="18" charset="0"/>
              </a:rPr>
              <a:t>Telecom companies lose revenue every time a customer leaves.</a:t>
            </a:r>
            <a:endParaRPr lang="en-US" sz="1458"/>
          </a:p>
        </p:txBody>
      </p:sp>
      <p:sp>
        <p:nvSpPr>
          <p:cNvPr id="8" name="Text 6"/>
          <p:cNvSpPr/>
          <p:nvPr/>
        </p:nvSpPr>
        <p:spPr>
          <a:xfrm>
            <a:off x="4746626" y="3682703"/>
            <a:ext cx="3839964"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a:solidFill>
                  <a:srgbClr val="3257B8"/>
                </a:solidFill>
                <a:latin typeface="Libre Baskerville" pitchFamily="34" charset="0"/>
                <a:ea typeface="Libre Baskerville" pitchFamily="34" charset="-122"/>
                <a:cs typeface="Times New Roman" panose="02020603050405020304" pitchFamily="18" charset="0"/>
              </a:rPr>
              <a:t>The Economics Are Undeniable</a:t>
            </a:r>
            <a:endParaRPr lang="en-US" sz="1833"/>
          </a:p>
        </p:txBody>
      </p:sp>
      <p:sp>
        <p:nvSpPr>
          <p:cNvPr id="9" name="Text 7"/>
          <p:cNvSpPr/>
          <p:nvPr/>
        </p:nvSpPr>
        <p:spPr>
          <a:xfrm>
            <a:off x="4746626" y="4166990"/>
            <a:ext cx="6790134" cy="1039416"/>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115" indent="-285115" algn="l">
              <a:lnSpc>
                <a:spcPts val="2375"/>
              </a:lnSpc>
              <a:buSzPct val="100000"/>
              <a:buChar char="•"/>
            </a:pPr>
            <a:r>
              <a:rPr lang="en-US" sz="1450">
                <a:solidFill>
                  <a:srgbClr val="15213F"/>
                </a:solidFill>
                <a:latin typeface="Source Sans 3"/>
                <a:ea typeface="Source Sans 3" pitchFamily="34" charset="-122"/>
                <a:cs typeface="Times New Roman"/>
              </a:rPr>
              <a:t>5–25× Harder to acquire a new customer than retain one</a:t>
            </a:r>
            <a:endParaRPr lang="en-US" sz="1450">
              <a:latin typeface="Source Sans 3"/>
              <a:cs typeface="Times New Roman"/>
            </a:endParaRPr>
          </a:p>
          <a:p>
            <a:pPr marL="285115" indent="-285115" algn="l">
              <a:lnSpc>
                <a:spcPts val="2375"/>
              </a:lnSpc>
              <a:buSzPct val="100000"/>
              <a:buChar char="•"/>
            </a:pPr>
            <a:r>
              <a:rPr lang="en-US" sz="1458">
                <a:solidFill>
                  <a:srgbClr val="15213F"/>
                </a:solidFill>
                <a:latin typeface="Source Sans 3" pitchFamily="34" charset="0"/>
                <a:ea typeface="Source Sans 3" pitchFamily="34" charset="-122"/>
                <a:cs typeface="Times New Roman" panose="02020603050405020304" pitchFamily="18" charset="0"/>
              </a:rPr>
              <a:t>Triple the loss Churn reduces revenue and increases re-acquisition costs</a:t>
            </a:r>
            <a:endParaRPr lang="en-US" sz="1458"/>
          </a:p>
          <a:p>
            <a:pPr marL="285115" indent="-285115">
              <a:lnSpc>
                <a:spcPts val="2375"/>
              </a:lnSpc>
              <a:buSzPct val="100000"/>
              <a:buChar char="•"/>
            </a:pPr>
            <a:r>
              <a:rPr lang="en-US" sz="1450">
                <a:solidFill>
                  <a:srgbClr val="15213F"/>
                </a:solidFill>
                <a:latin typeface="Source Sans 3"/>
                <a:ea typeface="Source Sans 3"/>
                <a:cs typeface="Times New Roman"/>
              </a:rPr>
              <a:t>CLV drops Each churned customer and erodes long-term value</a:t>
            </a:r>
            <a:endParaRPr lang="en-US" sz="1450">
              <a:latin typeface="Source Sans 3"/>
              <a:ea typeface="Source Sans 3"/>
              <a:cs typeface="Times New Roman"/>
            </a:endParaRPr>
          </a:p>
        </p:txBody>
      </p:sp>
    </p:spTree>
    <p:extLst>
      <p:ext uri="{BB962C8B-B14F-4D97-AF65-F5344CB8AC3E}">
        <p14:creationId xmlns:p14="http://schemas.microsoft.com/office/powerpoint/2010/main" val="3054857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20217" y="572889"/>
            <a:ext cx="1771749" cy="279004"/>
          </a:xfrm>
          <a:prstGeom prst="roundRect">
            <a:avLst>
              <a:gd name="adj" fmla="val 6282"/>
            </a:avLst>
          </a:prstGeom>
          <a:noFill/>
          <a:ln w="7620">
            <a:solidFill>
              <a:srgbClr val="3257B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3" name="Text 1"/>
          <p:cNvSpPr/>
          <p:nvPr/>
        </p:nvSpPr>
        <p:spPr>
          <a:xfrm>
            <a:off x="732830" y="602556"/>
            <a:ext cx="1481038" cy="21967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r>
              <a:rPr lang="en-US" sz="1083">
                <a:solidFill>
                  <a:srgbClr val="3257B8"/>
                </a:solidFill>
                <a:latin typeface="Source Sans 3" pitchFamily="34" charset="0"/>
                <a:ea typeface="Source Sans 3" pitchFamily="34" charset="-122"/>
                <a:cs typeface="Times New Roman" panose="02020603050405020304" pitchFamily="18" charset="0"/>
              </a:rPr>
              <a:t>MODULE 1: FOUNDATION</a:t>
            </a:r>
            <a:endParaRPr lang="en-US" sz="1083"/>
          </a:p>
        </p:txBody>
      </p:sp>
      <p:sp>
        <p:nvSpPr>
          <p:cNvPr id="4" name="Text 2"/>
          <p:cNvSpPr/>
          <p:nvPr/>
        </p:nvSpPr>
        <p:spPr>
          <a:xfrm>
            <a:off x="620217" y="948035"/>
            <a:ext cx="7388721" cy="55374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333"/>
              </a:lnSpc>
              <a:buNone/>
            </a:pPr>
            <a:r>
              <a:rPr lang="en-US" sz="3458">
                <a:solidFill>
                  <a:srgbClr val="3257B8"/>
                </a:solidFill>
                <a:latin typeface="Libre Baskerville" pitchFamily="34" charset="0"/>
                <a:ea typeface="Libre Baskerville" pitchFamily="34" charset="-122"/>
                <a:cs typeface="Times New Roman" panose="02020603050405020304" pitchFamily="18" charset="0"/>
              </a:rPr>
              <a:t>Five Research Questions (Logan)</a:t>
            </a:r>
            <a:endParaRPr lang="en-US" sz="3458"/>
          </a:p>
        </p:txBody>
      </p:sp>
      <p:sp>
        <p:nvSpPr>
          <p:cNvPr id="5" name="Text 3"/>
          <p:cNvSpPr/>
          <p:nvPr/>
        </p:nvSpPr>
        <p:spPr>
          <a:xfrm>
            <a:off x="620217" y="1750914"/>
            <a:ext cx="10951568" cy="27463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25"/>
              </a:lnSpc>
              <a:buNone/>
            </a:pPr>
            <a:r>
              <a:rPr lang="en-US" sz="1800">
                <a:solidFill>
                  <a:srgbClr val="15213F"/>
                </a:solidFill>
                <a:latin typeface="Source Sans 3" pitchFamily="34" charset="0"/>
                <a:ea typeface="Source Sans 3" pitchFamily="34" charset="-122"/>
                <a:cs typeface="Times New Roman" panose="02020603050405020304" pitchFamily="18" charset="0"/>
              </a:rPr>
              <a:t>From </a:t>
            </a:r>
            <a:r>
              <a:rPr lang="en-US" sz="1800" i="1">
                <a:solidFill>
                  <a:srgbClr val="15213F"/>
                </a:solidFill>
                <a:latin typeface="Source Sans 3" pitchFamily="34" charset="0"/>
                <a:ea typeface="Source Sans 3" pitchFamily="34" charset="-122"/>
                <a:cs typeface="Times New Roman" panose="02020603050405020304" pitchFamily="18" charset="0"/>
              </a:rPr>
              <a:t>what happened</a:t>
            </a:r>
            <a:r>
              <a:rPr lang="en-US" sz="1800">
                <a:solidFill>
                  <a:srgbClr val="15213F"/>
                </a:solidFill>
                <a:latin typeface="Source Sans 3" pitchFamily="34" charset="0"/>
                <a:ea typeface="Source Sans 3" pitchFamily="34" charset="-122"/>
                <a:cs typeface="Times New Roman" panose="02020603050405020304" pitchFamily="18" charset="0"/>
              </a:rPr>
              <a:t> to </a:t>
            </a:r>
            <a:r>
              <a:rPr lang="en-US" sz="1800" i="1">
                <a:solidFill>
                  <a:srgbClr val="15213F"/>
                </a:solidFill>
                <a:latin typeface="Source Sans 3" pitchFamily="34" charset="0"/>
                <a:ea typeface="Source Sans 3" pitchFamily="34" charset="-122"/>
                <a:cs typeface="Times New Roman" panose="02020603050405020304" pitchFamily="18" charset="0"/>
              </a:rPr>
              <a:t>so what?</a:t>
            </a:r>
            <a:r>
              <a:rPr lang="en-US" sz="1800">
                <a:solidFill>
                  <a:srgbClr val="15213F"/>
                </a:solidFill>
                <a:latin typeface="Source Sans 3" pitchFamily="34" charset="0"/>
                <a:ea typeface="Source Sans 3" pitchFamily="34" charset="-122"/>
                <a:cs typeface="Times New Roman" panose="02020603050405020304" pitchFamily="18" charset="0"/>
              </a:rPr>
              <a:t> — our inquiry spans description, prediction, and strategy.</a:t>
            </a:r>
            <a:endParaRPr lang="en-US" sz="1800"/>
          </a:p>
        </p:txBody>
      </p:sp>
      <p:sp>
        <p:nvSpPr>
          <p:cNvPr id="6" name="Shape 4"/>
          <p:cNvSpPr/>
          <p:nvPr/>
        </p:nvSpPr>
        <p:spPr>
          <a:xfrm>
            <a:off x="620217" y="2478187"/>
            <a:ext cx="3539728" cy="1839714"/>
          </a:xfrm>
          <a:prstGeom prst="roundRect">
            <a:avLst>
              <a:gd name="adj" fmla="val 4970"/>
            </a:avLst>
          </a:prstGeom>
          <a:solidFill>
            <a:srgbClr val="FBFCFE"/>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600"/>
          </a:p>
        </p:txBody>
      </p:sp>
      <p:pic>
        <p:nvPicPr>
          <p:cNvPr id="7" name="Image 0" descr="preencoded.png"/>
          <p:cNvPicPr>
            <a:picLocks noChangeAspect="1"/>
          </p:cNvPicPr>
          <p:nvPr/>
        </p:nvPicPr>
        <p:blipFill>
          <a:blip r:embed="rId3"/>
          <a:stretch>
            <a:fillRect/>
          </a:stretch>
        </p:blipFill>
        <p:spPr>
          <a:xfrm>
            <a:off x="620217" y="2459137"/>
            <a:ext cx="3539728" cy="76200"/>
          </a:xfrm>
          <a:prstGeom prst="rect">
            <a:avLst/>
          </a:prstGeom>
        </p:spPr>
      </p:pic>
      <p:pic>
        <p:nvPicPr>
          <p:cNvPr id="8" name="Image 1" descr="preencoded.png"/>
          <p:cNvPicPr>
            <a:picLocks noChangeAspect="1"/>
          </p:cNvPicPr>
          <p:nvPr/>
        </p:nvPicPr>
        <p:blipFill>
          <a:blip r:embed="rId4"/>
          <a:stretch>
            <a:fillRect/>
          </a:stretch>
        </p:blipFill>
        <p:spPr>
          <a:xfrm>
            <a:off x="2124274" y="2212381"/>
            <a:ext cx="531614" cy="531614"/>
          </a:xfrm>
          <a:prstGeom prst="rect">
            <a:avLst/>
          </a:prstGeom>
        </p:spPr>
      </p:pic>
      <p:sp>
        <p:nvSpPr>
          <p:cNvPr id="9" name="Text 5"/>
          <p:cNvSpPr/>
          <p:nvPr/>
        </p:nvSpPr>
        <p:spPr>
          <a:xfrm>
            <a:off x="2283719" y="2345233"/>
            <a:ext cx="212626" cy="26580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583"/>
              </a:lnSpc>
              <a:buNone/>
            </a:pPr>
            <a:r>
              <a:rPr lang="en-US" sz="2000">
                <a:solidFill>
                  <a:srgbClr val="FFFFFF"/>
                </a:solidFill>
                <a:latin typeface="Libre Baskerville" pitchFamily="34" charset="0"/>
                <a:ea typeface="Libre Baskerville" pitchFamily="34" charset="-122"/>
                <a:cs typeface="Times New Roman" panose="02020603050405020304" pitchFamily="18" charset="0"/>
              </a:rPr>
              <a:t>1</a:t>
            </a:r>
            <a:endParaRPr lang="en-US" sz="2000"/>
          </a:p>
        </p:txBody>
      </p:sp>
      <p:sp>
        <p:nvSpPr>
          <p:cNvPr id="10" name="Text 6"/>
          <p:cNvSpPr/>
          <p:nvPr/>
        </p:nvSpPr>
        <p:spPr>
          <a:xfrm>
            <a:off x="816471" y="2921199"/>
            <a:ext cx="2215058" cy="27691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67"/>
              </a:lnSpc>
              <a:buNone/>
            </a:pPr>
            <a:r>
              <a:rPr lang="en-US" sz="2000">
                <a:solidFill>
                  <a:srgbClr val="15213F"/>
                </a:solidFill>
                <a:latin typeface="Libre Baskerville" pitchFamily="34" charset="0"/>
                <a:ea typeface="Libre Baskerville" pitchFamily="34" charset="-122"/>
                <a:cs typeface="Times New Roman" panose="02020603050405020304" pitchFamily="18" charset="0"/>
              </a:rPr>
              <a:t>When &amp; Why?</a:t>
            </a:r>
            <a:endParaRPr lang="en-US" sz="2000"/>
          </a:p>
        </p:txBody>
      </p:sp>
      <p:sp>
        <p:nvSpPr>
          <p:cNvPr id="11" name="Text 7"/>
          <p:cNvSpPr/>
          <p:nvPr/>
        </p:nvSpPr>
        <p:spPr>
          <a:xfrm>
            <a:off x="816471" y="3297733"/>
            <a:ext cx="3147218" cy="549275"/>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25"/>
              </a:lnSpc>
              <a:buNone/>
            </a:pPr>
            <a:r>
              <a:rPr lang="en-US" sz="1600">
                <a:solidFill>
                  <a:srgbClr val="15213F"/>
                </a:solidFill>
                <a:latin typeface="Source Sans 3" pitchFamily="34" charset="0"/>
                <a:ea typeface="Source Sans 3" pitchFamily="34" charset="-122"/>
                <a:cs typeface="Times New Roman" panose="02020603050405020304" pitchFamily="18" charset="0"/>
              </a:rPr>
              <a:t>At what point in the customer lifecycle does churn occur — and what triggers it?</a:t>
            </a:r>
            <a:endParaRPr lang="en-US" sz="1600"/>
          </a:p>
        </p:txBody>
      </p:sp>
      <p:sp>
        <p:nvSpPr>
          <p:cNvPr id="12" name="Shape 8"/>
          <p:cNvSpPr/>
          <p:nvPr/>
        </p:nvSpPr>
        <p:spPr>
          <a:xfrm>
            <a:off x="4326037" y="2478187"/>
            <a:ext cx="3539828" cy="1839714"/>
          </a:xfrm>
          <a:prstGeom prst="roundRect">
            <a:avLst>
              <a:gd name="adj" fmla="val 4970"/>
            </a:avLst>
          </a:prstGeom>
          <a:solidFill>
            <a:srgbClr val="FBFCFE"/>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600"/>
          </a:p>
        </p:txBody>
      </p:sp>
      <p:pic>
        <p:nvPicPr>
          <p:cNvPr id="13" name="Image 2" descr="preencoded.png"/>
          <p:cNvPicPr>
            <a:picLocks noChangeAspect="1"/>
          </p:cNvPicPr>
          <p:nvPr/>
        </p:nvPicPr>
        <p:blipFill>
          <a:blip r:embed="rId3"/>
          <a:stretch>
            <a:fillRect/>
          </a:stretch>
        </p:blipFill>
        <p:spPr>
          <a:xfrm>
            <a:off x="4326037" y="2459137"/>
            <a:ext cx="3539828" cy="76200"/>
          </a:xfrm>
          <a:prstGeom prst="rect">
            <a:avLst/>
          </a:prstGeom>
        </p:spPr>
      </p:pic>
      <p:pic>
        <p:nvPicPr>
          <p:cNvPr id="14" name="Image 3" descr="preencoded.png"/>
          <p:cNvPicPr>
            <a:picLocks noChangeAspect="1"/>
          </p:cNvPicPr>
          <p:nvPr/>
        </p:nvPicPr>
        <p:blipFill>
          <a:blip r:embed="rId4"/>
          <a:stretch>
            <a:fillRect/>
          </a:stretch>
        </p:blipFill>
        <p:spPr>
          <a:xfrm>
            <a:off x="5830094" y="2212381"/>
            <a:ext cx="531614" cy="531614"/>
          </a:xfrm>
          <a:prstGeom prst="rect">
            <a:avLst/>
          </a:prstGeom>
        </p:spPr>
      </p:pic>
      <p:sp>
        <p:nvSpPr>
          <p:cNvPr id="15" name="Text 9"/>
          <p:cNvSpPr/>
          <p:nvPr/>
        </p:nvSpPr>
        <p:spPr>
          <a:xfrm>
            <a:off x="5989539" y="2345233"/>
            <a:ext cx="212626" cy="26580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583"/>
              </a:lnSpc>
              <a:buNone/>
            </a:pPr>
            <a:r>
              <a:rPr lang="en-US" sz="2000">
                <a:solidFill>
                  <a:srgbClr val="FFFFFF"/>
                </a:solidFill>
                <a:latin typeface="Libre Baskerville" pitchFamily="34" charset="0"/>
                <a:ea typeface="Libre Baskerville" pitchFamily="34" charset="-122"/>
                <a:cs typeface="Times New Roman" panose="02020603050405020304" pitchFamily="18" charset="0"/>
              </a:rPr>
              <a:t>2</a:t>
            </a:r>
            <a:endParaRPr lang="en-US" sz="2000"/>
          </a:p>
        </p:txBody>
      </p:sp>
      <p:sp>
        <p:nvSpPr>
          <p:cNvPr id="16" name="Text 10"/>
          <p:cNvSpPr/>
          <p:nvPr/>
        </p:nvSpPr>
        <p:spPr>
          <a:xfrm>
            <a:off x="4522292" y="2921199"/>
            <a:ext cx="2215058" cy="27691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67"/>
              </a:lnSpc>
              <a:buNone/>
            </a:pPr>
            <a:r>
              <a:rPr lang="en-US" sz="2000">
                <a:solidFill>
                  <a:srgbClr val="15213F"/>
                </a:solidFill>
                <a:latin typeface="Libre Baskerville" pitchFamily="34" charset="0"/>
                <a:ea typeface="Libre Baskerville" pitchFamily="34" charset="-122"/>
                <a:cs typeface="Times New Roman" panose="02020603050405020304" pitchFamily="18" charset="0"/>
              </a:rPr>
              <a:t>Service Impact</a:t>
            </a:r>
            <a:endParaRPr lang="en-US" sz="2000"/>
          </a:p>
        </p:txBody>
      </p:sp>
      <p:sp>
        <p:nvSpPr>
          <p:cNvPr id="17" name="Text 11"/>
          <p:cNvSpPr/>
          <p:nvPr/>
        </p:nvSpPr>
        <p:spPr>
          <a:xfrm>
            <a:off x="4522292" y="3297734"/>
            <a:ext cx="3147318" cy="823913"/>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25"/>
              </a:lnSpc>
              <a:buNone/>
            </a:pPr>
            <a:r>
              <a:rPr lang="en-US" sz="1600">
                <a:solidFill>
                  <a:srgbClr val="15213F"/>
                </a:solidFill>
                <a:latin typeface="Source Sans 3" pitchFamily="34" charset="0"/>
                <a:ea typeface="Source Sans 3" pitchFamily="34" charset="-122"/>
                <a:cs typeface="Times New Roman" panose="02020603050405020304" pitchFamily="18" charset="0"/>
              </a:rPr>
              <a:t>How does the number of subscribed services influence the probability of churn?</a:t>
            </a:r>
            <a:endParaRPr lang="en-US" sz="1600"/>
          </a:p>
        </p:txBody>
      </p:sp>
      <p:sp>
        <p:nvSpPr>
          <p:cNvPr id="18" name="Shape 12"/>
          <p:cNvSpPr/>
          <p:nvPr/>
        </p:nvSpPr>
        <p:spPr>
          <a:xfrm>
            <a:off x="8031957" y="2478187"/>
            <a:ext cx="3539828" cy="1839714"/>
          </a:xfrm>
          <a:prstGeom prst="roundRect">
            <a:avLst>
              <a:gd name="adj" fmla="val 4970"/>
            </a:avLst>
          </a:prstGeom>
          <a:solidFill>
            <a:srgbClr val="FBFCFE"/>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600"/>
          </a:p>
        </p:txBody>
      </p:sp>
      <p:pic>
        <p:nvPicPr>
          <p:cNvPr id="19" name="Image 4" descr="preencoded.png"/>
          <p:cNvPicPr>
            <a:picLocks noChangeAspect="1"/>
          </p:cNvPicPr>
          <p:nvPr/>
        </p:nvPicPr>
        <p:blipFill>
          <a:blip r:embed="rId3"/>
          <a:stretch>
            <a:fillRect/>
          </a:stretch>
        </p:blipFill>
        <p:spPr>
          <a:xfrm>
            <a:off x="8031957" y="2459137"/>
            <a:ext cx="3539828" cy="76200"/>
          </a:xfrm>
          <a:prstGeom prst="rect">
            <a:avLst/>
          </a:prstGeom>
        </p:spPr>
      </p:pic>
      <p:pic>
        <p:nvPicPr>
          <p:cNvPr id="20" name="Image 5" descr="preencoded.png"/>
          <p:cNvPicPr>
            <a:picLocks noChangeAspect="1"/>
          </p:cNvPicPr>
          <p:nvPr/>
        </p:nvPicPr>
        <p:blipFill>
          <a:blip r:embed="rId4"/>
          <a:stretch>
            <a:fillRect/>
          </a:stretch>
        </p:blipFill>
        <p:spPr>
          <a:xfrm>
            <a:off x="9536014" y="2212381"/>
            <a:ext cx="531614" cy="531614"/>
          </a:xfrm>
          <a:prstGeom prst="rect">
            <a:avLst/>
          </a:prstGeom>
        </p:spPr>
      </p:pic>
      <p:sp>
        <p:nvSpPr>
          <p:cNvPr id="21" name="Text 13"/>
          <p:cNvSpPr/>
          <p:nvPr/>
        </p:nvSpPr>
        <p:spPr>
          <a:xfrm>
            <a:off x="9695458" y="2345233"/>
            <a:ext cx="212626" cy="26580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583"/>
              </a:lnSpc>
              <a:buNone/>
            </a:pPr>
            <a:r>
              <a:rPr lang="en-US" sz="2000">
                <a:solidFill>
                  <a:srgbClr val="FFFFFF"/>
                </a:solidFill>
                <a:latin typeface="Libre Baskerville" pitchFamily="34" charset="0"/>
                <a:ea typeface="Libre Baskerville" pitchFamily="34" charset="-122"/>
                <a:cs typeface="Times New Roman" panose="02020603050405020304" pitchFamily="18" charset="0"/>
              </a:rPr>
              <a:t>3</a:t>
            </a:r>
            <a:endParaRPr lang="en-US" sz="2000"/>
          </a:p>
        </p:txBody>
      </p:sp>
      <p:sp>
        <p:nvSpPr>
          <p:cNvPr id="22" name="Text 14"/>
          <p:cNvSpPr/>
          <p:nvPr/>
        </p:nvSpPr>
        <p:spPr>
          <a:xfrm>
            <a:off x="8228211" y="2921199"/>
            <a:ext cx="2532162" cy="27691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67"/>
              </a:lnSpc>
              <a:buNone/>
            </a:pPr>
            <a:r>
              <a:rPr lang="en-US" sz="2000">
                <a:solidFill>
                  <a:srgbClr val="15213F"/>
                </a:solidFill>
                <a:latin typeface="Libre Baskerville" pitchFamily="34" charset="0"/>
                <a:ea typeface="Libre Baskerville" pitchFamily="34" charset="-122"/>
                <a:cs typeface="Times New Roman" panose="02020603050405020304" pitchFamily="18" charset="0"/>
              </a:rPr>
              <a:t>Financial Engagement</a:t>
            </a:r>
            <a:endParaRPr lang="en-US" sz="2000"/>
          </a:p>
        </p:txBody>
      </p:sp>
      <p:sp>
        <p:nvSpPr>
          <p:cNvPr id="23" name="Text 15"/>
          <p:cNvSpPr/>
          <p:nvPr/>
        </p:nvSpPr>
        <p:spPr>
          <a:xfrm>
            <a:off x="8228211" y="3297733"/>
            <a:ext cx="3147318" cy="549275"/>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25"/>
              </a:lnSpc>
              <a:buNone/>
            </a:pPr>
            <a:r>
              <a:rPr lang="en-US" sz="1600">
                <a:solidFill>
                  <a:srgbClr val="15213F"/>
                </a:solidFill>
                <a:latin typeface="Source Sans 3" pitchFamily="34" charset="0"/>
                <a:ea typeface="Source Sans 3" pitchFamily="34" charset="-122"/>
                <a:cs typeface="Times New Roman" panose="02020603050405020304" pitchFamily="18" charset="0"/>
              </a:rPr>
              <a:t>Does higher monthly spend correlate with retention or departure?</a:t>
            </a:r>
            <a:endParaRPr lang="en-US" sz="1600"/>
          </a:p>
        </p:txBody>
      </p:sp>
      <p:sp>
        <p:nvSpPr>
          <p:cNvPr id="24" name="Shape 16"/>
          <p:cNvSpPr/>
          <p:nvPr/>
        </p:nvSpPr>
        <p:spPr>
          <a:xfrm>
            <a:off x="620217" y="4749800"/>
            <a:ext cx="5392738" cy="1565077"/>
          </a:xfrm>
          <a:prstGeom prst="roundRect">
            <a:avLst>
              <a:gd name="adj" fmla="val 5843"/>
            </a:avLst>
          </a:prstGeom>
          <a:solidFill>
            <a:srgbClr val="FBFCFE"/>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pic>
        <p:nvPicPr>
          <p:cNvPr id="25" name="Image 6" descr="preencoded.png"/>
          <p:cNvPicPr>
            <a:picLocks noChangeAspect="1"/>
          </p:cNvPicPr>
          <p:nvPr/>
        </p:nvPicPr>
        <p:blipFill>
          <a:blip r:embed="rId5"/>
          <a:stretch>
            <a:fillRect/>
          </a:stretch>
        </p:blipFill>
        <p:spPr>
          <a:xfrm>
            <a:off x="620217" y="4730750"/>
            <a:ext cx="5392738" cy="76200"/>
          </a:xfrm>
          <a:prstGeom prst="rect">
            <a:avLst/>
          </a:prstGeom>
        </p:spPr>
      </p:pic>
      <p:pic>
        <p:nvPicPr>
          <p:cNvPr id="26" name="Image 7" descr="preencoded.png"/>
          <p:cNvPicPr>
            <a:picLocks noChangeAspect="1"/>
          </p:cNvPicPr>
          <p:nvPr/>
        </p:nvPicPr>
        <p:blipFill>
          <a:blip r:embed="rId4"/>
          <a:stretch>
            <a:fillRect/>
          </a:stretch>
        </p:blipFill>
        <p:spPr>
          <a:xfrm>
            <a:off x="3050779" y="4483994"/>
            <a:ext cx="531614" cy="531614"/>
          </a:xfrm>
          <a:prstGeom prst="rect">
            <a:avLst/>
          </a:prstGeom>
        </p:spPr>
      </p:pic>
      <p:sp>
        <p:nvSpPr>
          <p:cNvPr id="27" name="Text 17"/>
          <p:cNvSpPr/>
          <p:nvPr/>
        </p:nvSpPr>
        <p:spPr>
          <a:xfrm>
            <a:off x="3210223" y="4616847"/>
            <a:ext cx="212626" cy="26580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583"/>
              </a:lnSpc>
              <a:buNone/>
            </a:pPr>
            <a:r>
              <a:rPr lang="en-US" sz="2000">
                <a:solidFill>
                  <a:srgbClr val="FFFFFF"/>
                </a:solidFill>
                <a:latin typeface="Libre Baskerville" pitchFamily="34" charset="0"/>
                <a:ea typeface="Libre Baskerville" pitchFamily="34" charset="-122"/>
                <a:cs typeface="Times New Roman" panose="02020603050405020304" pitchFamily="18" charset="0"/>
              </a:rPr>
              <a:t>4</a:t>
            </a:r>
            <a:endParaRPr lang="en-US" sz="2000"/>
          </a:p>
        </p:txBody>
      </p:sp>
      <p:sp>
        <p:nvSpPr>
          <p:cNvPr id="28" name="Text 18"/>
          <p:cNvSpPr/>
          <p:nvPr/>
        </p:nvSpPr>
        <p:spPr>
          <a:xfrm>
            <a:off x="816471" y="5192812"/>
            <a:ext cx="2675632" cy="27691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67"/>
              </a:lnSpc>
              <a:buNone/>
            </a:pPr>
            <a:r>
              <a:rPr lang="en-US" sz="2000">
                <a:solidFill>
                  <a:srgbClr val="15213F"/>
                </a:solidFill>
                <a:latin typeface="Libre Baskerville" pitchFamily="34" charset="0"/>
                <a:ea typeface="Libre Baskerville" pitchFamily="34" charset="-122"/>
                <a:cs typeface="Times New Roman" panose="02020603050405020304" pitchFamily="18" charset="0"/>
              </a:rPr>
              <a:t>Conditional Probability</a:t>
            </a:r>
            <a:endParaRPr lang="en-US" sz="2000"/>
          </a:p>
        </p:txBody>
      </p:sp>
      <p:sp>
        <p:nvSpPr>
          <p:cNvPr id="29" name="Text 19"/>
          <p:cNvSpPr/>
          <p:nvPr/>
        </p:nvSpPr>
        <p:spPr>
          <a:xfrm>
            <a:off x="816471" y="5569347"/>
            <a:ext cx="5000228" cy="549275"/>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25"/>
              </a:lnSpc>
              <a:buNone/>
            </a:pPr>
            <a:r>
              <a:rPr lang="en-US" sz="1600">
                <a:solidFill>
                  <a:srgbClr val="15213F"/>
                </a:solidFill>
                <a:latin typeface="Source Sans 3" pitchFamily="34" charset="0"/>
                <a:ea typeface="Source Sans 3" pitchFamily="34" charset="-122"/>
                <a:cs typeface="Times New Roman" panose="02020603050405020304" pitchFamily="18" charset="0"/>
              </a:rPr>
              <a:t>What is the churn probability under specific service and tenure conditions?</a:t>
            </a:r>
            <a:endParaRPr lang="en-US" sz="1600"/>
          </a:p>
        </p:txBody>
      </p:sp>
      <p:sp>
        <p:nvSpPr>
          <p:cNvPr id="30" name="Shape 20"/>
          <p:cNvSpPr/>
          <p:nvPr/>
        </p:nvSpPr>
        <p:spPr>
          <a:xfrm>
            <a:off x="6179046" y="4749800"/>
            <a:ext cx="5392738" cy="1565077"/>
          </a:xfrm>
          <a:prstGeom prst="roundRect">
            <a:avLst>
              <a:gd name="adj" fmla="val 5843"/>
            </a:avLst>
          </a:prstGeom>
          <a:solidFill>
            <a:srgbClr val="FBFCFE"/>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pic>
        <p:nvPicPr>
          <p:cNvPr id="31" name="Image 8" descr="preencoded.png"/>
          <p:cNvPicPr>
            <a:picLocks noChangeAspect="1"/>
          </p:cNvPicPr>
          <p:nvPr/>
        </p:nvPicPr>
        <p:blipFill>
          <a:blip r:embed="rId5"/>
          <a:stretch>
            <a:fillRect/>
          </a:stretch>
        </p:blipFill>
        <p:spPr>
          <a:xfrm>
            <a:off x="6179046" y="4730750"/>
            <a:ext cx="5392738" cy="76200"/>
          </a:xfrm>
          <a:prstGeom prst="rect">
            <a:avLst/>
          </a:prstGeom>
        </p:spPr>
      </p:pic>
      <p:pic>
        <p:nvPicPr>
          <p:cNvPr id="32" name="Image 9" descr="preencoded.png"/>
          <p:cNvPicPr>
            <a:picLocks noChangeAspect="1"/>
          </p:cNvPicPr>
          <p:nvPr/>
        </p:nvPicPr>
        <p:blipFill>
          <a:blip r:embed="rId4"/>
          <a:stretch>
            <a:fillRect/>
          </a:stretch>
        </p:blipFill>
        <p:spPr>
          <a:xfrm>
            <a:off x="8609608" y="4483994"/>
            <a:ext cx="531614" cy="531614"/>
          </a:xfrm>
          <a:prstGeom prst="rect">
            <a:avLst/>
          </a:prstGeom>
        </p:spPr>
      </p:pic>
      <p:sp>
        <p:nvSpPr>
          <p:cNvPr id="33" name="Text 21"/>
          <p:cNvSpPr/>
          <p:nvPr/>
        </p:nvSpPr>
        <p:spPr>
          <a:xfrm>
            <a:off x="8769053" y="4616847"/>
            <a:ext cx="212626" cy="26580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583"/>
              </a:lnSpc>
              <a:buNone/>
            </a:pPr>
            <a:r>
              <a:rPr lang="en-US" sz="2000">
                <a:solidFill>
                  <a:srgbClr val="FFFFFF"/>
                </a:solidFill>
                <a:latin typeface="Libre Baskerville" pitchFamily="34" charset="0"/>
                <a:ea typeface="Libre Baskerville" pitchFamily="34" charset="-122"/>
                <a:cs typeface="Times New Roman" panose="02020603050405020304" pitchFamily="18" charset="0"/>
              </a:rPr>
              <a:t>5</a:t>
            </a:r>
            <a:endParaRPr lang="en-US" sz="2000"/>
          </a:p>
        </p:txBody>
      </p:sp>
      <p:sp>
        <p:nvSpPr>
          <p:cNvPr id="34" name="Text 22"/>
          <p:cNvSpPr/>
          <p:nvPr/>
        </p:nvSpPr>
        <p:spPr>
          <a:xfrm>
            <a:off x="6375301" y="5192812"/>
            <a:ext cx="2215058" cy="27691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67"/>
              </a:lnSpc>
              <a:buNone/>
            </a:pPr>
            <a:r>
              <a:rPr lang="en-US" sz="2000">
                <a:solidFill>
                  <a:srgbClr val="15213F"/>
                </a:solidFill>
                <a:latin typeface="Libre Baskerville" pitchFamily="34" charset="0"/>
                <a:ea typeface="Libre Baskerville" pitchFamily="34" charset="-122"/>
                <a:cs typeface="Times New Roman" panose="02020603050405020304" pitchFamily="18" charset="0"/>
              </a:rPr>
              <a:t>Demographics</a:t>
            </a:r>
            <a:endParaRPr lang="en-US" sz="2000"/>
          </a:p>
        </p:txBody>
      </p:sp>
      <p:sp>
        <p:nvSpPr>
          <p:cNvPr id="35" name="Text 23"/>
          <p:cNvSpPr/>
          <p:nvPr/>
        </p:nvSpPr>
        <p:spPr>
          <a:xfrm>
            <a:off x="6375301" y="5569347"/>
            <a:ext cx="5000228" cy="27463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25"/>
              </a:lnSpc>
              <a:buNone/>
            </a:pPr>
            <a:r>
              <a:rPr lang="en-US" sz="1600">
                <a:solidFill>
                  <a:srgbClr val="15213F"/>
                </a:solidFill>
                <a:latin typeface="Source Sans 3" pitchFamily="34" charset="0"/>
                <a:ea typeface="Source Sans 3" pitchFamily="34" charset="-122"/>
                <a:cs typeface="Times New Roman" panose="02020603050405020304" pitchFamily="18" charset="0"/>
              </a:rPr>
              <a:t>Do age and gender meaningfully shift churn risk profiles?</a:t>
            </a:r>
            <a:endParaRPr lang="en-US" sz="1600"/>
          </a:p>
        </p:txBody>
      </p:sp>
    </p:spTree>
    <p:extLst>
      <p:ext uri="{BB962C8B-B14F-4D97-AF65-F5344CB8AC3E}">
        <p14:creationId xmlns:p14="http://schemas.microsoft.com/office/powerpoint/2010/main" val="2455330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30535" y="601311"/>
            <a:ext cx="2140458" cy="203109"/>
          </a:xfrm>
          <a:prstGeom prst="roundRect">
            <a:avLst>
              <a:gd name="adj" fmla="val 6251"/>
            </a:avLst>
          </a:prstGeom>
          <a:noFill/>
          <a:ln w="7620">
            <a:solidFill>
              <a:srgbClr val="3257B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3" name="Text 1"/>
          <p:cNvSpPr/>
          <p:nvPr/>
        </p:nvSpPr>
        <p:spPr>
          <a:xfrm>
            <a:off x="744934" y="605135"/>
            <a:ext cx="1505943" cy="22522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50"/>
              </a:lnSpc>
              <a:buNone/>
            </a:pPr>
            <a:r>
              <a:rPr lang="en-US" sz="1125">
                <a:solidFill>
                  <a:srgbClr val="3257B8"/>
                </a:solidFill>
                <a:latin typeface="Source Sans 3" pitchFamily="34" charset="0"/>
                <a:ea typeface="Source Sans 3" pitchFamily="34" charset="-122"/>
                <a:cs typeface="Times New Roman" panose="02020603050405020304" pitchFamily="18" charset="0"/>
              </a:rPr>
              <a:t>MODULE 1: FOUNDATION</a:t>
            </a:r>
            <a:endParaRPr lang="en-US" sz="1125"/>
          </a:p>
        </p:txBody>
      </p:sp>
      <p:sp>
        <p:nvSpPr>
          <p:cNvPr id="4" name="Text 2"/>
          <p:cNvSpPr/>
          <p:nvPr/>
        </p:nvSpPr>
        <p:spPr>
          <a:xfrm>
            <a:off x="630535" y="959346"/>
            <a:ext cx="6269832" cy="56306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416"/>
              </a:lnSpc>
              <a:buNone/>
            </a:pPr>
            <a:r>
              <a:rPr lang="en-US" sz="3542">
                <a:solidFill>
                  <a:srgbClr val="3257B8"/>
                </a:solidFill>
                <a:latin typeface="Libre Baskerville" pitchFamily="34" charset="0"/>
                <a:ea typeface="Libre Baskerville" pitchFamily="34" charset="-122"/>
                <a:cs typeface="Times New Roman" panose="02020603050405020304" pitchFamily="18" charset="0"/>
              </a:rPr>
              <a:t>Dataset Description (Lewis)</a:t>
            </a:r>
            <a:endParaRPr lang="en-US" sz="3542"/>
          </a:p>
        </p:txBody>
      </p:sp>
      <p:sp>
        <p:nvSpPr>
          <p:cNvPr id="5" name="Text 3"/>
          <p:cNvSpPr/>
          <p:nvPr/>
        </p:nvSpPr>
        <p:spPr>
          <a:xfrm>
            <a:off x="630535" y="1779984"/>
            <a:ext cx="10930930" cy="2814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1417" i="1">
                <a:solidFill>
                  <a:srgbClr val="15213F"/>
                </a:solidFill>
                <a:latin typeface="Times New Roman" panose="02020603050405020304" pitchFamily="18" charset="0"/>
                <a:ea typeface="Source Sans 3" pitchFamily="34" charset="-122"/>
                <a:cs typeface="Times New Roman" panose="02020603050405020304" pitchFamily="18" charset="0"/>
              </a:rPr>
              <a:t>100 Customer Observations · 7 Variables</a:t>
            </a:r>
            <a:endParaRPr lang="en-US" sz="1417" i="1">
              <a:latin typeface="Times New Roman" panose="02020603050405020304" pitchFamily="18" charset="0"/>
              <a:cs typeface="Times New Roman" panose="02020603050405020304" pitchFamily="18" charset="0"/>
            </a:endParaRPr>
          </a:p>
        </p:txBody>
      </p:sp>
      <p:graphicFrame>
        <p:nvGraphicFramePr>
          <p:cNvPr id="31" name="Table 30">
            <a:extLst>
              <a:ext uri="{FF2B5EF4-FFF2-40B4-BE49-F238E27FC236}">
                <a16:creationId xmlns:a16="http://schemas.microsoft.com/office/drawing/2014/main" id="{BF656252-DD1C-4D86-5675-CDC9580427B9}"/>
              </a:ext>
            </a:extLst>
          </p:cNvPr>
          <p:cNvGraphicFramePr>
            <a:graphicFrameLocks noGrp="1"/>
          </p:cNvGraphicFramePr>
          <p:nvPr>
            <p:extLst>
              <p:ext uri="{D42A27DB-BD31-4B8C-83A1-F6EECF244321}">
                <p14:modId xmlns:p14="http://schemas.microsoft.com/office/powerpoint/2010/main" val="1818726223"/>
              </p:ext>
            </p:extLst>
          </p:nvPr>
        </p:nvGraphicFramePr>
        <p:xfrm>
          <a:off x="630535" y="2319039"/>
          <a:ext cx="10316865" cy="3994152"/>
        </p:xfrm>
        <a:graphic>
          <a:graphicData uri="http://schemas.openxmlformats.org/drawingml/2006/table">
            <a:tbl>
              <a:tblPr firstRow="1" bandRow="1">
                <a:tableStyleId>{BC89EF96-8CEA-46FF-86C4-4CE0E7609802}</a:tableStyleId>
              </a:tblPr>
              <a:tblGrid>
                <a:gridCol w="3438955">
                  <a:extLst>
                    <a:ext uri="{9D8B030D-6E8A-4147-A177-3AD203B41FA5}">
                      <a16:colId xmlns:a16="http://schemas.microsoft.com/office/drawing/2014/main" val="2614322602"/>
                    </a:ext>
                  </a:extLst>
                </a:gridCol>
                <a:gridCol w="3438955">
                  <a:extLst>
                    <a:ext uri="{9D8B030D-6E8A-4147-A177-3AD203B41FA5}">
                      <a16:colId xmlns:a16="http://schemas.microsoft.com/office/drawing/2014/main" val="2002512434"/>
                    </a:ext>
                  </a:extLst>
                </a:gridCol>
                <a:gridCol w="3438955">
                  <a:extLst>
                    <a:ext uri="{9D8B030D-6E8A-4147-A177-3AD203B41FA5}">
                      <a16:colId xmlns:a16="http://schemas.microsoft.com/office/drawing/2014/main" val="1782858569"/>
                    </a:ext>
                  </a:extLst>
                </a:gridCol>
              </a:tblGrid>
              <a:tr h="499269">
                <a:tc>
                  <a:txBody>
                    <a:bodyPr/>
                    <a:lstStyle/>
                    <a:p>
                      <a:pPr>
                        <a:buNone/>
                      </a:pPr>
                      <a:r>
                        <a:rPr lang="en-US" sz="1500" b="1"/>
                        <a:t>Variable</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b="1"/>
                        <a:t>Type</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b="1"/>
                        <a:t>Description</a:t>
                      </a:r>
                      <a:endParaRPr lang="en-US" sz="1500">
                        <a:latin typeface="Times New Roman" panose="02020603050405020304" pitchFamily="18" charset="0"/>
                        <a:cs typeface="Times New Roman" panose="02020603050405020304" pitchFamily="18" charset="0"/>
                      </a:endParaRPr>
                    </a:p>
                  </a:txBody>
                  <a:tcPr marL="76200" marR="76200" marT="38100" marB="38100" anchor="ctr"/>
                </a:tc>
                <a:extLst>
                  <a:ext uri="{0D108BD9-81ED-4DB2-BD59-A6C34878D82A}">
                    <a16:rowId xmlns:a16="http://schemas.microsoft.com/office/drawing/2014/main" val="1872206263"/>
                  </a:ext>
                </a:extLst>
              </a:tr>
              <a:tr h="499269">
                <a:tc>
                  <a:txBody>
                    <a:bodyPr/>
                    <a:lstStyle/>
                    <a:p>
                      <a:pPr>
                        <a:buNone/>
                      </a:pPr>
                      <a:r>
                        <a:rPr lang="en-US" sz="1500" err="1"/>
                        <a:t>CustomerID</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Integer</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Unique identifier</a:t>
                      </a:r>
                      <a:endParaRPr lang="en-US" sz="1500">
                        <a:latin typeface="Times New Roman" panose="02020603050405020304" pitchFamily="18" charset="0"/>
                        <a:cs typeface="Times New Roman" panose="02020603050405020304" pitchFamily="18" charset="0"/>
                      </a:endParaRPr>
                    </a:p>
                  </a:txBody>
                  <a:tcPr marL="76200" marR="76200" marT="38100" marB="38100" anchor="ctr"/>
                </a:tc>
                <a:extLst>
                  <a:ext uri="{0D108BD9-81ED-4DB2-BD59-A6C34878D82A}">
                    <a16:rowId xmlns:a16="http://schemas.microsoft.com/office/drawing/2014/main" val="2773929801"/>
                  </a:ext>
                </a:extLst>
              </a:tr>
              <a:tr h="499269">
                <a:tc>
                  <a:txBody>
                    <a:bodyPr/>
                    <a:lstStyle/>
                    <a:p>
                      <a:pPr>
                        <a:buNone/>
                      </a:pPr>
                      <a:r>
                        <a:rPr lang="en-US" sz="1500"/>
                        <a:t>Tenure</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Integer</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Months as customer</a:t>
                      </a:r>
                      <a:endParaRPr lang="en-US" sz="1500">
                        <a:latin typeface="Times New Roman" panose="02020603050405020304" pitchFamily="18" charset="0"/>
                        <a:cs typeface="Times New Roman" panose="02020603050405020304" pitchFamily="18" charset="0"/>
                      </a:endParaRPr>
                    </a:p>
                  </a:txBody>
                  <a:tcPr marL="76200" marR="76200" marT="38100" marB="38100" anchor="ctr"/>
                </a:tc>
                <a:extLst>
                  <a:ext uri="{0D108BD9-81ED-4DB2-BD59-A6C34878D82A}">
                    <a16:rowId xmlns:a16="http://schemas.microsoft.com/office/drawing/2014/main" val="2219565732"/>
                  </a:ext>
                </a:extLst>
              </a:tr>
              <a:tr h="499269">
                <a:tc>
                  <a:txBody>
                    <a:bodyPr/>
                    <a:lstStyle/>
                    <a:p>
                      <a:pPr>
                        <a:buNone/>
                      </a:pPr>
                      <a:r>
                        <a:rPr lang="en-US" sz="1500"/>
                        <a:t>MonthlyCharges</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Numeric</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Monthly bill ($)</a:t>
                      </a:r>
                      <a:endParaRPr lang="en-US" sz="1500">
                        <a:latin typeface="Times New Roman" panose="02020603050405020304" pitchFamily="18" charset="0"/>
                        <a:cs typeface="Times New Roman" panose="02020603050405020304" pitchFamily="18" charset="0"/>
                      </a:endParaRPr>
                    </a:p>
                  </a:txBody>
                  <a:tcPr marL="76200" marR="76200" marT="38100" marB="38100" anchor="ctr"/>
                </a:tc>
                <a:extLst>
                  <a:ext uri="{0D108BD9-81ED-4DB2-BD59-A6C34878D82A}">
                    <a16:rowId xmlns:a16="http://schemas.microsoft.com/office/drawing/2014/main" val="446154803"/>
                  </a:ext>
                </a:extLst>
              </a:tr>
              <a:tr h="499269">
                <a:tc>
                  <a:txBody>
                    <a:bodyPr/>
                    <a:lstStyle/>
                    <a:p>
                      <a:pPr>
                        <a:buNone/>
                      </a:pPr>
                      <a:r>
                        <a:rPr lang="en-US" sz="1500"/>
                        <a:t>NumServices</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Integer</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Services subscribed</a:t>
                      </a:r>
                      <a:endParaRPr lang="en-US" sz="1500">
                        <a:latin typeface="Times New Roman" panose="02020603050405020304" pitchFamily="18" charset="0"/>
                        <a:cs typeface="Times New Roman" panose="02020603050405020304" pitchFamily="18" charset="0"/>
                      </a:endParaRPr>
                    </a:p>
                  </a:txBody>
                  <a:tcPr marL="76200" marR="76200" marT="38100" marB="38100" anchor="ctr"/>
                </a:tc>
                <a:extLst>
                  <a:ext uri="{0D108BD9-81ED-4DB2-BD59-A6C34878D82A}">
                    <a16:rowId xmlns:a16="http://schemas.microsoft.com/office/drawing/2014/main" val="480659825"/>
                  </a:ext>
                </a:extLst>
              </a:tr>
              <a:tr h="499269">
                <a:tc>
                  <a:txBody>
                    <a:bodyPr/>
                    <a:lstStyle/>
                    <a:p>
                      <a:pPr>
                        <a:buNone/>
                      </a:pPr>
                      <a:r>
                        <a:rPr lang="en-US" sz="1500"/>
                        <a:t>Age</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Integer</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Customer age</a:t>
                      </a:r>
                      <a:endParaRPr lang="en-US" sz="1500">
                        <a:latin typeface="Times New Roman" panose="02020603050405020304" pitchFamily="18" charset="0"/>
                        <a:cs typeface="Times New Roman" panose="02020603050405020304" pitchFamily="18" charset="0"/>
                      </a:endParaRPr>
                    </a:p>
                  </a:txBody>
                  <a:tcPr marL="76200" marR="76200" marT="38100" marB="38100" anchor="ctr"/>
                </a:tc>
                <a:extLst>
                  <a:ext uri="{0D108BD9-81ED-4DB2-BD59-A6C34878D82A}">
                    <a16:rowId xmlns:a16="http://schemas.microsoft.com/office/drawing/2014/main" val="2743525580"/>
                  </a:ext>
                </a:extLst>
              </a:tr>
              <a:tr h="499269">
                <a:tc>
                  <a:txBody>
                    <a:bodyPr/>
                    <a:lstStyle/>
                    <a:p>
                      <a:pPr>
                        <a:buNone/>
                      </a:pPr>
                      <a:r>
                        <a:rPr lang="en-US" sz="1500"/>
                        <a:t>Gender</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Factor</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Male / Female</a:t>
                      </a:r>
                      <a:endParaRPr lang="en-US" sz="1500">
                        <a:latin typeface="Times New Roman" panose="02020603050405020304" pitchFamily="18" charset="0"/>
                        <a:cs typeface="Times New Roman" panose="02020603050405020304" pitchFamily="18" charset="0"/>
                      </a:endParaRPr>
                    </a:p>
                  </a:txBody>
                  <a:tcPr marL="76200" marR="76200" marT="38100" marB="38100" anchor="ctr"/>
                </a:tc>
                <a:extLst>
                  <a:ext uri="{0D108BD9-81ED-4DB2-BD59-A6C34878D82A}">
                    <a16:rowId xmlns:a16="http://schemas.microsoft.com/office/drawing/2014/main" val="1708697384"/>
                  </a:ext>
                </a:extLst>
              </a:tr>
              <a:tr h="499269">
                <a:tc>
                  <a:txBody>
                    <a:bodyPr/>
                    <a:lstStyle/>
                    <a:p>
                      <a:pPr>
                        <a:buNone/>
                      </a:pPr>
                      <a:r>
                        <a:rPr lang="en-US" sz="1500"/>
                        <a:t>Churn</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Factor</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a:buNone/>
                      </a:pPr>
                      <a:r>
                        <a:rPr lang="en-US" sz="1500"/>
                        <a:t>Yes / No</a:t>
                      </a:r>
                      <a:endParaRPr lang="en-US" sz="1500">
                        <a:latin typeface="Times New Roman" panose="02020603050405020304" pitchFamily="18" charset="0"/>
                        <a:cs typeface="Times New Roman" panose="02020603050405020304" pitchFamily="18" charset="0"/>
                      </a:endParaRPr>
                    </a:p>
                  </a:txBody>
                  <a:tcPr marL="76200" marR="76200" marT="38100" marB="38100" anchor="ctr"/>
                </a:tc>
                <a:extLst>
                  <a:ext uri="{0D108BD9-81ED-4DB2-BD59-A6C34878D82A}">
                    <a16:rowId xmlns:a16="http://schemas.microsoft.com/office/drawing/2014/main" val="1408692595"/>
                  </a:ext>
                </a:extLst>
              </a:tr>
            </a:tbl>
          </a:graphicData>
        </a:graphic>
      </p:graphicFrame>
    </p:spTree>
    <p:extLst>
      <p:ext uri="{BB962C8B-B14F-4D97-AF65-F5344CB8AC3E}">
        <p14:creationId xmlns:p14="http://schemas.microsoft.com/office/powerpoint/2010/main" val="138549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51234" y="549370"/>
            <a:ext cx="3452539" cy="315977"/>
          </a:xfrm>
          <a:prstGeom prst="roundRect">
            <a:avLst>
              <a:gd name="adj" fmla="val 6393"/>
            </a:avLst>
          </a:prstGeom>
          <a:noFill/>
          <a:ln w="7620">
            <a:solidFill>
              <a:srgbClr val="3257B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3" name="Text 1"/>
          <p:cNvSpPr/>
          <p:nvPr/>
        </p:nvSpPr>
        <p:spPr>
          <a:xfrm>
            <a:off x="684411" y="588764"/>
            <a:ext cx="2832794" cy="19853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542"/>
              </a:lnSpc>
              <a:buNone/>
            </a:pPr>
            <a:r>
              <a:rPr lang="en-US" sz="1042">
                <a:solidFill>
                  <a:srgbClr val="3257B8"/>
                </a:solidFill>
                <a:latin typeface="Source Sans 3" pitchFamily="34" charset="0"/>
                <a:ea typeface="Source Sans 3" pitchFamily="34" charset="-122"/>
                <a:cs typeface="Times New Roman" panose="02020603050405020304" pitchFamily="18" charset="0"/>
              </a:rPr>
              <a:t>MODULE 2: DESCRIPTIVE &amp; EXPLORATORY ANALYSIS</a:t>
            </a:r>
            <a:endParaRPr lang="en-US" sz="1042"/>
          </a:p>
        </p:txBody>
      </p:sp>
      <p:sp>
        <p:nvSpPr>
          <p:cNvPr id="4" name="Text 2"/>
          <p:cNvSpPr/>
          <p:nvPr/>
        </p:nvSpPr>
        <p:spPr>
          <a:xfrm>
            <a:off x="578843" y="901105"/>
            <a:ext cx="11034316" cy="1033463"/>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042"/>
              </a:lnSpc>
              <a:buNone/>
            </a:pPr>
            <a:r>
              <a:rPr lang="en-US" sz="3250">
                <a:solidFill>
                  <a:srgbClr val="3257B8"/>
                </a:solidFill>
                <a:latin typeface="Libre Baskerville" pitchFamily="34" charset="0"/>
                <a:ea typeface="Libre Baskerville" pitchFamily="34" charset="-122"/>
                <a:cs typeface="Times New Roman" panose="02020603050405020304" pitchFamily="18" charset="0"/>
              </a:rPr>
              <a:t>Central Tendency: What the Averages Tell Us (Zikun)</a:t>
            </a:r>
            <a:endParaRPr lang="en-US" sz="3250"/>
          </a:p>
        </p:txBody>
      </p:sp>
      <p:sp>
        <p:nvSpPr>
          <p:cNvPr id="5" name="Shape 3"/>
          <p:cNvSpPr/>
          <p:nvPr/>
        </p:nvSpPr>
        <p:spPr>
          <a:xfrm>
            <a:off x="578843" y="2399606"/>
            <a:ext cx="5444828" cy="1191121"/>
          </a:xfrm>
          <a:prstGeom prst="roundRect">
            <a:avLst>
              <a:gd name="adj" fmla="val 7677"/>
            </a:avLst>
          </a:prstGeom>
          <a:solidFill>
            <a:srgbClr val="FBFCFE"/>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pic>
        <p:nvPicPr>
          <p:cNvPr id="6" name="Image 0" descr="preencoded.png"/>
          <p:cNvPicPr>
            <a:picLocks noChangeAspect="1"/>
          </p:cNvPicPr>
          <p:nvPr/>
        </p:nvPicPr>
        <p:blipFill>
          <a:blip r:embed="rId3"/>
          <a:stretch>
            <a:fillRect/>
          </a:stretch>
        </p:blipFill>
        <p:spPr>
          <a:xfrm>
            <a:off x="578843" y="2380556"/>
            <a:ext cx="5444828" cy="76200"/>
          </a:xfrm>
          <a:prstGeom prst="rect">
            <a:avLst/>
          </a:prstGeom>
        </p:spPr>
      </p:pic>
      <p:pic>
        <p:nvPicPr>
          <p:cNvPr id="7" name="Image 1" descr="preencoded.png"/>
          <p:cNvPicPr>
            <a:picLocks noChangeAspect="1"/>
          </p:cNvPicPr>
          <p:nvPr/>
        </p:nvPicPr>
        <p:blipFill>
          <a:blip r:embed="rId4"/>
          <a:stretch>
            <a:fillRect/>
          </a:stretch>
        </p:blipFill>
        <p:spPr>
          <a:xfrm>
            <a:off x="3053160" y="2151559"/>
            <a:ext cx="496094" cy="496094"/>
          </a:xfrm>
          <a:prstGeom prst="rect">
            <a:avLst/>
          </a:prstGeom>
        </p:spPr>
      </p:pic>
      <p:sp>
        <p:nvSpPr>
          <p:cNvPr id="8" name="Text 4"/>
          <p:cNvSpPr/>
          <p:nvPr/>
        </p:nvSpPr>
        <p:spPr>
          <a:xfrm>
            <a:off x="763191" y="2813050"/>
            <a:ext cx="2067421" cy="25846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000"/>
              </a:lnSpc>
              <a:buNone/>
            </a:pPr>
            <a:r>
              <a:rPr lang="en-US" sz="1625">
                <a:solidFill>
                  <a:srgbClr val="15213F"/>
                </a:solidFill>
                <a:latin typeface="Libre Baskerville" pitchFamily="34" charset="0"/>
                <a:ea typeface="Libre Baskerville" pitchFamily="34" charset="-122"/>
                <a:cs typeface="Times New Roman" panose="02020603050405020304" pitchFamily="18" charset="0"/>
              </a:rPr>
              <a:t>Tenure skews early</a:t>
            </a:r>
            <a:endParaRPr lang="en-US" sz="1625"/>
          </a:p>
        </p:txBody>
      </p:sp>
      <p:sp>
        <p:nvSpPr>
          <p:cNvPr id="9" name="Text 5"/>
          <p:cNvSpPr/>
          <p:nvPr/>
        </p:nvSpPr>
        <p:spPr>
          <a:xfrm>
            <a:off x="763191" y="3158332"/>
            <a:ext cx="5076131" cy="24804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292">
                <a:solidFill>
                  <a:srgbClr val="15213F"/>
                </a:solidFill>
                <a:latin typeface="Source Sans 3" pitchFamily="34" charset="0"/>
                <a:ea typeface="Source Sans 3" pitchFamily="34" charset="-122"/>
                <a:cs typeface="Times New Roman" panose="02020603050405020304" pitchFamily="18" charset="0"/>
              </a:rPr>
              <a:t>Many customers leave before month 12</a:t>
            </a:r>
            <a:endParaRPr lang="en-US" sz="1292"/>
          </a:p>
        </p:txBody>
      </p:sp>
      <p:sp>
        <p:nvSpPr>
          <p:cNvPr id="10" name="Shape 6"/>
          <p:cNvSpPr/>
          <p:nvPr/>
        </p:nvSpPr>
        <p:spPr>
          <a:xfrm>
            <a:off x="6168331" y="2399606"/>
            <a:ext cx="5444828" cy="1191121"/>
          </a:xfrm>
          <a:prstGeom prst="roundRect">
            <a:avLst>
              <a:gd name="adj" fmla="val 7677"/>
            </a:avLst>
          </a:prstGeom>
          <a:solidFill>
            <a:srgbClr val="FBFCFE"/>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pic>
        <p:nvPicPr>
          <p:cNvPr id="11" name="Image 2" descr="preencoded.png"/>
          <p:cNvPicPr>
            <a:picLocks noChangeAspect="1"/>
          </p:cNvPicPr>
          <p:nvPr/>
        </p:nvPicPr>
        <p:blipFill>
          <a:blip r:embed="rId3"/>
          <a:stretch>
            <a:fillRect/>
          </a:stretch>
        </p:blipFill>
        <p:spPr>
          <a:xfrm>
            <a:off x="6168331" y="2380556"/>
            <a:ext cx="5444828" cy="76200"/>
          </a:xfrm>
          <a:prstGeom prst="rect">
            <a:avLst/>
          </a:prstGeom>
        </p:spPr>
      </p:pic>
      <p:pic>
        <p:nvPicPr>
          <p:cNvPr id="12" name="Image 3" descr="preencoded.png"/>
          <p:cNvPicPr>
            <a:picLocks noChangeAspect="1"/>
          </p:cNvPicPr>
          <p:nvPr/>
        </p:nvPicPr>
        <p:blipFill>
          <a:blip r:embed="rId4"/>
          <a:stretch>
            <a:fillRect/>
          </a:stretch>
        </p:blipFill>
        <p:spPr>
          <a:xfrm>
            <a:off x="8642648" y="2151559"/>
            <a:ext cx="496094" cy="496094"/>
          </a:xfrm>
          <a:prstGeom prst="rect">
            <a:avLst/>
          </a:prstGeom>
        </p:spPr>
      </p:pic>
      <p:sp>
        <p:nvSpPr>
          <p:cNvPr id="13" name="Text 7"/>
          <p:cNvSpPr/>
          <p:nvPr/>
        </p:nvSpPr>
        <p:spPr>
          <a:xfrm>
            <a:off x="6352680" y="2813050"/>
            <a:ext cx="2067421" cy="25846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000"/>
              </a:lnSpc>
              <a:buNone/>
            </a:pPr>
            <a:r>
              <a:rPr lang="en-US" sz="1625">
                <a:solidFill>
                  <a:srgbClr val="15213F"/>
                </a:solidFill>
                <a:latin typeface="Libre Baskerville" pitchFamily="34" charset="0"/>
                <a:ea typeface="Libre Baskerville" pitchFamily="34" charset="-122"/>
                <a:cs typeface="Times New Roman" panose="02020603050405020304" pitchFamily="18" charset="0"/>
              </a:rPr>
              <a:t>Charges are spread</a:t>
            </a:r>
            <a:endParaRPr lang="en-US" sz="1625"/>
          </a:p>
        </p:txBody>
      </p:sp>
      <p:sp>
        <p:nvSpPr>
          <p:cNvPr id="14" name="Text 8"/>
          <p:cNvSpPr/>
          <p:nvPr/>
        </p:nvSpPr>
        <p:spPr>
          <a:xfrm>
            <a:off x="6352680" y="3158332"/>
            <a:ext cx="5076131" cy="24804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292">
                <a:solidFill>
                  <a:srgbClr val="15213F"/>
                </a:solidFill>
                <a:latin typeface="Source Sans 3" pitchFamily="34" charset="0"/>
                <a:ea typeface="Source Sans 3" pitchFamily="34" charset="-122"/>
                <a:cs typeface="Times New Roman" panose="02020603050405020304" pitchFamily="18" charset="0"/>
              </a:rPr>
              <a:t>No single dominant price point — pricing tiers are diverse</a:t>
            </a:r>
            <a:endParaRPr lang="en-US" sz="1292"/>
          </a:p>
        </p:txBody>
      </p:sp>
      <p:sp>
        <p:nvSpPr>
          <p:cNvPr id="36" name="Shape 30"/>
          <p:cNvSpPr/>
          <p:nvPr/>
        </p:nvSpPr>
        <p:spPr>
          <a:xfrm>
            <a:off x="7219057" y="3916165"/>
            <a:ext cx="4400352" cy="894854"/>
          </a:xfrm>
          <a:prstGeom prst="roundRect">
            <a:avLst>
              <a:gd name="adj" fmla="val 2772"/>
            </a:avLst>
          </a:prstGeom>
          <a:solidFill>
            <a:srgbClr val="B6D6FC"/>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pic>
        <p:nvPicPr>
          <p:cNvPr id="37" name="Image 4" descr="preencoded.png"/>
          <p:cNvPicPr>
            <a:picLocks noChangeAspect="1"/>
          </p:cNvPicPr>
          <p:nvPr/>
        </p:nvPicPr>
        <p:blipFill>
          <a:blip r:embed="rId5"/>
          <a:stretch>
            <a:fillRect/>
          </a:stretch>
        </p:blipFill>
        <p:spPr>
          <a:xfrm>
            <a:off x="7384356" y="4155877"/>
            <a:ext cx="206673" cy="165298"/>
          </a:xfrm>
          <a:prstGeom prst="rect">
            <a:avLst/>
          </a:prstGeom>
        </p:spPr>
      </p:pic>
      <p:sp>
        <p:nvSpPr>
          <p:cNvPr id="38" name="Text 31"/>
          <p:cNvSpPr/>
          <p:nvPr/>
        </p:nvSpPr>
        <p:spPr>
          <a:xfrm>
            <a:off x="7756327" y="4102101"/>
            <a:ext cx="3697783" cy="496094"/>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292">
                <a:solidFill>
                  <a:srgbClr val="000000"/>
                </a:solidFill>
                <a:latin typeface="Source Sans 3" pitchFamily="34" charset="0"/>
                <a:ea typeface="Source Sans 3" pitchFamily="34" charset="-122"/>
                <a:cs typeface="Times New Roman" panose="02020603050405020304" pitchFamily="18" charset="0"/>
              </a:rPr>
              <a:t>Multimodal tenure signals multiple distinct customer cohorts — not a single "typical" customer.</a:t>
            </a:r>
            <a:endParaRPr lang="en-US" sz="1292"/>
          </a:p>
        </p:txBody>
      </p:sp>
      <p:sp>
        <p:nvSpPr>
          <p:cNvPr id="39" name="Text 32"/>
          <p:cNvSpPr/>
          <p:nvPr/>
        </p:nvSpPr>
        <p:spPr>
          <a:xfrm>
            <a:off x="7219057" y="4973737"/>
            <a:ext cx="2067421" cy="25846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000"/>
              </a:lnSpc>
              <a:buNone/>
            </a:pPr>
            <a:r>
              <a:rPr lang="en-US" sz="1625">
                <a:solidFill>
                  <a:srgbClr val="3257B8"/>
                </a:solidFill>
                <a:latin typeface="Libre Baskerville" pitchFamily="34" charset="0"/>
                <a:ea typeface="Libre Baskerville" pitchFamily="34" charset="-122"/>
                <a:cs typeface="Times New Roman" panose="02020603050405020304" pitchFamily="18" charset="0"/>
              </a:rPr>
              <a:t>Business Takeaway</a:t>
            </a:r>
            <a:endParaRPr lang="en-US" sz="1625"/>
          </a:p>
        </p:txBody>
      </p:sp>
      <p:sp>
        <p:nvSpPr>
          <p:cNvPr id="40" name="Text 33"/>
          <p:cNvSpPr/>
          <p:nvPr/>
        </p:nvSpPr>
        <p:spPr>
          <a:xfrm>
            <a:off x="7219057" y="5376863"/>
            <a:ext cx="4400352" cy="744141"/>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292">
                <a:solidFill>
                  <a:srgbClr val="15213F"/>
                </a:solidFill>
                <a:latin typeface="Source Sans 3" pitchFamily="34" charset="0"/>
                <a:ea typeface="Source Sans 3" pitchFamily="34" charset="-122"/>
                <a:cs typeface="Times New Roman" panose="02020603050405020304" pitchFamily="18" charset="0"/>
              </a:rPr>
              <a:t>Early-tenure customers (under 12 months) represent the highest-risk segment. Targeted retention offers during this window can meaningfully reduce churn.</a:t>
            </a:r>
            <a:endParaRPr lang="en-US" sz="1292"/>
          </a:p>
        </p:txBody>
      </p:sp>
      <p:graphicFrame>
        <p:nvGraphicFramePr>
          <p:cNvPr id="41" name="Table 40">
            <a:extLst>
              <a:ext uri="{FF2B5EF4-FFF2-40B4-BE49-F238E27FC236}">
                <a16:creationId xmlns:a16="http://schemas.microsoft.com/office/drawing/2014/main" id="{CB1685A0-C3AF-CD8F-653E-D84534D05600}"/>
              </a:ext>
            </a:extLst>
          </p:cNvPr>
          <p:cNvGraphicFramePr>
            <a:graphicFrameLocks noGrp="1"/>
          </p:cNvGraphicFramePr>
          <p:nvPr>
            <p:extLst>
              <p:ext uri="{D42A27DB-BD31-4B8C-83A1-F6EECF244321}">
                <p14:modId xmlns:p14="http://schemas.microsoft.com/office/powerpoint/2010/main" val="2774188817"/>
              </p:ext>
            </p:extLst>
          </p:nvPr>
        </p:nvGraphicFramePr>
        <p:xfrm>
          <a:off x="516615" y="3866836"/>
          <a:ext cx="5507052" cy="2630652"/>
        </p:xfrm>
        <a:graphic>
          <a:graphicData uri="http://schemas.openxmlformats.org/drawingml/2006/table">
            <a:tbl>
              <a:tblPr firstRow="1" bandRow="1">
                <a:tableStyleId>{BC89EF96-8CEA-46FF-86C4-4CE0E7609802}</a:tableStyleId>
              </a:tblPr>
              <a:tblGrid>
                <a:gridCol w="1376763">
                  <a:extLst>
                    <a:ext uri="{9D8B030D-6E8A-4147-A177-3AD203B41FA5}">
                      <a16:colId xmlns:a16="http://schemas.microsoft.com/office/drawing/2014/main" val="3567424054"/>
                    </a:ext>
                  </a:extLst>
                </a:gridCol>
                <a:gridCol w="1376763">
                  <a:extLst>
                    <a:ext uri="{9D8B030D-6E8A-4147-A177-3AD203B41FA5}">
                      <a16:colId xmlns:a16="http://schemas.microsoft.com/office/drawing/2014/main" val="2323217649"/>
                    </a:ext>
                  </a:extLst>
                </a:gridCol>
                <a:gridCol w="1376763">
                  <a:extLst>
                    <a:ext uri="{9D8B030D-6E8A-4147-A177-3AD203B41FA5}">
                      <a16:colId xmlns:a16="http://schemas.microsoft.com/office/drawing/2014/main" val="928163317"/>
                    </a:ext>
                  </a:extLst>
                </a:gridCol>
                <a:gridCol w="1376763">
                  <a:extLst>
                    <a:ext uri="{9D8B030D-6E8A-4147-A177-3AD203B41FA5}">
                      <a16:colId xmlns:a16="http://schemas.microsoft.com/office/drawing/2014/main" val="2891977712"/>
                    </a:ext>
                  </a:extLst>
                </a:gridCol>
              </a:tblGrid>
              <a:tr h="657663">
                <a:tc>
                  <a:txBody>
                    <a:bodyPr/>
                    <a:lstStyle/>
                    <a:p>
                      <a:pPr>
                        <a:buNone/>
                      </a:pPr>
                      <a:r>
                        <a:rPr lang="en-US" sz="1500" b="1"/>
                        <a:t>Variable</a:t>
                      </a:r>
                      <a:endParaRPr lang="en-US" sz="1500"/>
                    </a:p>
                  </a:txBody>
                  <a:tcPr marL="76200" marR="76200" marT="38100" marB="38100" anchor="ctr"/>
                </a:tc>
                <a:tc>
                  <a:txBody>
                    <a:bodyPr/>
                    <a:lstStyle/>
                    <a:p>
                      <a:pPr>
                        <a:buNone/>
                      </a:pPr>
                      <a:r>
                        <a:rPr lang="en-US" sz="1500" b="1"/>
                        <a:t>Mean</a:t>
                      </a:r>
                      <a:endParaRPr lang="en-US" sz="1500"/>
                    </a:p>
                  </a:txBody>
                  <a:tcPr marL="76200" marR="76200" marT="38100" marB="38100" anchor="ctr"/>
                </a:tc>
                <a:tc>
                  <a:txBody>
                    <a:bodyPr/>
                    <a:lstStyle/>
                    <a:p>
                      <a:pPr>
                        <a:buNone/>
                      </a:pPr>
                      <a:r>
                        <a:rPr lang="en-US" sz="1500" b="1"/>
                        <a:t>Median</a:t>
                      </a:r>
                      <a:endParaRPr lang="en-US" sz="1500"/>
                    </a:p>
                  </a:txBody>
                  <a:tcPr marL="76200" marR="76200" marT="38100" marB="38100" anchor="ctr"/>
                </a:tc>
                <a:tc>
                  <a:txBody>
                    <a:bodyPr/>
                    <a:lstStyle/>
                    <a:p>
                      <a:pPr>
                        <a:buNone/>
                      </a:pPr>
                      <a:r>
                        <a:rPr lang="en-US" sz="1500" b="1"/>
                        <a:t>Mode</a:t>
                      </a:r>
                      <a:endParaRPr lang="en-US" sz="1500"/>
                    </a:p>
                  </a:txBody>
                  <a:tcPr marL="76200" marR="76200" marT="38100" marB="38100" anchor="ctr"/>
                </a:tc>
                <a:extLst>
                  <a:ext uri="{0D108BD9-81ED-4DB2-BD59-A6C34878D82A}">
                    <a16:rowId xmlns:a16="http://schemas.microsoft.com/office/drawing/2014/main" val="1826592964"/>
                  </a:ext>
                </a:extLst>
              </a:tr>
              <a:tr h="657663">
                <a:tc>
                  <a:txBody>
                    <a:bodyPr/>
                    <a:lstStyle/>
                    <a:p>
                      <a:pPr>
                        <a:buNone/>
                      </a:pPr>
                      <a:r>
                        <a:rPr lang="en-US" sz="1500"/>
                        <a:t>Tenure (mo.)</a:t>
                      </a:r>
                    </a:p>
                  </a:txBody>
                  <a:tcPr marL="76200" marR="76200" marT="38100" marB="38100" anchor="ctr"/>
                </a:tc>
                <a:tc>
                  <a:txBody>
                    <a:bodyPr/>
                    <a:lstStyle/>
                    <a:p>
                      <a:pPr>
                        <a:buNone/>
                      </a:pPr>
                      <a:r>
                        <a:rPr lang="en-US" sz="1500"/>
                        <a:t>30.4</a:t>
                      </a:r>
                    </a:p>
                  </a:txBody>
                  <a:tcPr marL="76200" marR="76200" marT="38100" marB="38100" anchor="ctr"/>
                </a:tc>
                <a:tc>
                  <a:txBody>
                    <a:bodyPr/>
                    <a:lstStyle/>
                    <a:p>
                      <a:pPr>
                        <a:buNone/>
                      </a:pPr>
                      <a:r>
                        <a:rPr lang="en-US" sz="1500"/>
                        <a:t>29.5</a:t>
                      </a:r>
                    </a:p>
                  </a:txBody>
                  <a:tcPr marL="76200" marR="76200" marT="38100" marB="38100" anchor="ctr"/>
                </a:tc>
                <a:tc>
                  <a:txBody>
                    <a:bodyPr/>
                    <a:lstStyle/>
                    <a:p>
                      <a:pPr>
                        <a:buNone/>
                      </a:pPr>
                      <a:r>
                        <a:rPr lang="en-US" sz="1500"/>
                        <a:t>Multimodal (9 tied)</a:t>
                      </a:r>
                    </a:p>
                  </a:txBody>
                  <a:tcPr marL="76200" marR="76200" marT="38100" marB="38100" anchor="ctr"/>
                </a:tc>
                <a:extLst>
                  <a:ext uri="{0D108BD9-81ED-4DB2-BD59-A6C34878D82A}">
                    <a16:rowId xmlns:a16="http://schemas.microsoft.com/office/drawing/2014/main" val="1299100311"/>
                  </a:ext>
                </a:extLst>
              </a:tr>
              <a:tr h="657663">
                <a:tc>
                  <a:txBody>
                    <a:bodyPr/>
                    <a:lstStyle/>
                    <a:p>
                      <a:pPr>
                        <a:buNone/>
                      </a:pPr>
                      <a:r>
                        <a:rPr lang="en-US" sz="1500"/>
                        <a:t>Monthly Charges ($)</a:t>
                      </a:r>
                    </a:p>
                  </a:txBody>
                  <a:tcPr marL="76200" marR="76200" marT="38100" marB="38100" anchor="ctr"/>
                </a:tc>
                <a:tc>
                  <a:txBody>
                    <a:bodyPr/>
                    <a:lstStyle/>
                    <a:p>
                      <a:pPr>
                        <a:buNone/>
                      </a:pPr>
                      <a:r>
                        <a:rPr lang="en-US" sz="1500"/>
                        <a:t>72.51</a:t>
                      </a:r>
                    </a:p>
                  </a:txBody>
                  <a:tcPr marL="76200" marR="76200" marT="38100" marB="38100" anchor="ctr"/>
                </a:tc>
                <a:tc>
                  <a:txBody>
                    <a:bodyPr/>
                    <a:lstStyle/>
                    <a:p>
                      <a:pPr>
                        <a:buNone/>
                      </a:pPr>
                      <a:r>
                        <a:rPr lang="en-US" sz="1500"/>
                        <a:t>72.85</a:t>
                      </a:r>
                    </a:p>
                  </a:txBody>
                  <a:tcPr marL="76200" marR="76200" marT="38100" marB="38100" anchor="ctr"/>
                </a:tc>
                <a:tc>
                  <a:txBody>
                    <a:bodyPr/>
                    <a:lstStyle/>
                    <a:p>
                      <a:pPr>
                        <a:buNone/>
                      </a:pPr>
                      <a:r>
                        <a:rPr lang="en-US" sz="1500"/>
                        <a:t>No mode</a:t>
                      </a:r>
                    </a:p>
                  </a:txBody>
                  <a:tcPr marL="76200" marR="76200" marT="38100" marB="38100" anchor="ctr"/>
                </a:tc>
                <a:extLst>
                  <a:ext uri="{0D108BD9-81ED-4DB2-BD59-A6C34878D82A}">
                    <a16:rowId xmlns:a16="http://schemas.microsoft.com/office/drawing/2014/main" val="2879433765"/>
                  </a:ext>
                </a:extLst>
              </a:tr>
              <a:tr h="657663">
                <a:tc>
                  <a:txBody>
                    <a:bodyPr/>
                    <a:lstStyle/>
                    <a:p>
                      <a:pPr>
                        <a:buNone/>
                      </a:pPr>
                      <a:r>
                        <a:rPr lang="en-US" sz="1500"/>
                        <a:t>Age (yrs.)</a:t>
                      </a:r>
                    </a:p>
                  </a:txBody>
                  <a:tcPr marL="76200" marR="76200" marT="38100" marB="38100" anchor="ctr"/>
                </a:tc>
                <a:tc>
                  <a:txBody>
                    <a:bodyPr/>
                    <a:lstStyle/>
                    <a:p>
                      <a:pPr>
                        <a:buNone/>
                      </a:pPr>
                      <a:r>
                        <a:rPr lang="en-US" sz="1500"/>
                        <a:t>37.2</a:t>
                      </a:r>
                    </a:p>
                  </a:txBody>
                  <a:tcPr marL="76200" marR="76200" marT="38100" marB="38100" anchor="ctr"/>
                </a:tc>
                <a:tc>
                  <a:txBody>
                    <a:bodyPr/>
                    <a:lstStyle/>
                    <a:p>
                      <a:pPr>
                        <a:buNone/>
                      </a:pPr>
                      <a:r>
                        <a:rPr lang="en-US" sz="1500"/>
                        <a:t>36</a:t>
                      </a:r>
                    </a:p>
                  </a:txBody>
                  <a:tcPr marL="76200" marR="76200" marT="38100" marB="38100" anchor="ctr"/>
                </a:tc>
                <a:tc>
                  <a:txBody>
                    <a:bodyPr/>
                    <a:lstStyle/>
                    <a:p>
                      <a:pPr>
                        <a:buNone/>
                      </a:pPr>
                      <a:r>
                        <a:rPr lang="en-US" sz="1500"/>
                        <a:t>Multimodal (3 tied)</a:t>
                      </a:r>
                    </a:p>
                  </a:txBody>
                  <a:tcPr marL="76200" marR="76200" marT="38100" marB="38100" anchor="ctr"/>
                </a:tc>
                <a:extLst>
                  <a:ext uri="{0D108BD9-81ED-4DB2-BD59-A6C34878D82A}">
                    <a16:rowId xmlns:a16="http://schemas.microsoft.com/office/drawing/2014/main" val="3607768318"/>
                  </a:ext>
                </a:extLst>
              </a:tr>
            </a:tbl>
          </a:graphicData>
        </a:graphic>
      </p:graphicFrame>
    </p:spTree>
    <p:extLst>
      <p:ext uri="{BB962C8B-B14F-4D97-AF65-F5344CB8AC3E}">
        <p14:creationId xmlns:p14="http://schemas.microsoft.com/office/powerpoint/2010/main" val="1438420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40855" y="542826"/>
            <a:ext cx="3366889" cy="353020"/>
          </a:xfrm>
          <a:prstGeom prst="roundRect">
            <a:avLst>
              <a:gd name="adj" fmla="val 6225"/>
            </a:avLst>
          </a:prstGeom>
          <a:noFill/>
          <a:ln w="7620">
            <a:solidFill>
              <a:srgbClr val="3257B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3" name="Text 1"/>
          <p:cNvSpPr/>
          <p:nvPr/>
        </p:nvSpPr>
        <p:spPr>
          <a:xfrm>
            <a:off x="757040" y="604045"/>
            <a:ext cx="3134519" cy="23058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92"/>
              </a:lnSpc>
              <a:buNone/>
            </a:pPr>
            <a:r>
              <a:rPr lang="en-US" sz="1125">
                <a:solidFill>
                  <a:srgbClr val="3257B8"/>
                </a:solidFill>
                <a:latin typeface="Source Sans 3" pitchFamily="34" charset="0"/>
                <a:ea typeface="Source Sans 3" pitchFamily="34" charset="-122"/>
                <a:cs typeface="Source Sans 3" pitchFamily="34" charset="-120"/>
              </a:rPr>
              <a:t>MODULE 2: DESCRIPTIVE &amp; EXPLORATORY ANALYSIS</a:t>
            </a:r>
            <a:endParaRPr lang="en-US" sz="1125"/>
          </a:p>
        </p:txBody>
      </p:sp>
      <p:sp>
        <p:nvSpPr>
          <p:cNvPr id="4" name="Text 2"/>
          <p:cNvSpPr/>
          <p:nvPr/>
        </p:nvSpPr>
        <p:spPr>
          <a:xfrm>
            <a:off x="640854" y="966788"/>
            <a:ext cx="6432550" cy="5721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500"/>
              </a:lnSpc>
              <a:buNone/>
            </a:pPr>
            <a:r>
              <a:rPr lang="en-US" sz="3583">
                <a:solidFill>
                  <a:srgbClr val="3257B8"/>
                </a:solidFill>
                <a:latin typeface="Libre Baskerville" pitchFamily="34" charset="0"/>
                <a:ea typeface="Libre Baskerville" pitchFamily="34" charset="-122"/>
                <a:cs typeface="Libre Baskerville" pitchFamily="34" charset="-120"/>
              </a:rPr>
              <a:t>Measures of Spread (Zikun)</a:t>
            </a:r>
            <a:endParaRPr lang="en-US" sz="3583"/>
          </a:p>
        </p:txBody>
      </p:sp>
      <p:sp>
        <p:nvSpPr>
          <p:cNvPr id="5" name="Text 3"/>
          <p:cNvSpPr/>
          <p:nvPr/>
        </p:nvSpPr>
        <p:spPr>
          <a:xfrm>
            <a:off x="640854" y="1982292"/>
            <a:ext cx="2822278" cy="28604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792">
                <a:solidFill>
                  <a:srgbClr val="3257B8"/>
                </a:solidFill>
                <a:latin typeface="Libre Baskerville" pitchFamily="34" charset="0"/>
                <a:ea typeface="Libre Baskerville" pitchFamily="34" charset="-122"/>
                <a:cs typeface="Libre Baskerville" pitchFamily="34" charset="-120"/>
              </a:rPr>
              <a:t>Five-Number Summary</a:t>
            </a:r>
            <a:endParaRPr lang="en-US" sz="1792"/>
          </a:p>
        </p:txBody>
      </p:sp>
      <p:sp>
        <p:nvSpPr>
          <p:cNvPr id="28" name="Text 26"/>
          <p:cNvSpPr/>
          <p:nvPr/>
        </p:nvSpPr>
        <p:spPr>
          <a:xfrm>
            <a:off x="6325692" y="1982292"/>
            <a:ext cx="2288878" cy="28604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792">
                <a:solidFill>
                  <a:srgbClr val="3257B8"/>
                </a:solidFill>
                <a:latin typeface="Libre Baskerville" pitchFamily="34" charset="0"/>
                <a:ea typeface="Libre Baskerville" pitchFamily="34" charset="-122"/>
                <a:cs typeface="Libre Baskerville" pitchFamily="34" charset="-120"/>
              </a:rPr>
              <a:t>Outlier Analysis</a:t>
            </a:r>
            <a:endParaRPr lang="en-US" sz="1792"/>
          </a:p>
        </p:txBody>
      </p:sp>
      <p:sp>
        <p:nvSpPr>
          <p:cNvPr id="29" name="Text 27"/>
          <p:cNvSpPr/>
          <p:nvPr/>
        </p:nvSpPr>
        <p:spPr>
          <a:xfrm>
            <a:off x="6325692" y="2445643"/>
            <a:ext cx="5231805" cy="86528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417">
                <a:solidFill>
                  <a:srgbClr val="15213F"/>
                </a:solidFill>
                <a:latin typeface="Source Sans 3" pitchFamily="34" charset="0"/>
                <a:ea typeface="Source Sans 3" pitchFamily="34" charset="-122"/>
                <a:cs typeface="Source Sans 3" pitchFamily="34" charset="-120"/>
              </a:rPr>
              <a:t>Using IQR method (1.5 × IQR beyond fences): no extreme outliers detected in either variable. The wide spread in tenure (1–60 months) reflects genuine behavioral diversity — not data error.</a:t>
            </a:r>
            <a:endParaRPr lang="en-US" sz="1417"/>
          </a:p>
        </p:txBody>
      </p:sp>
      <p:sp>
        <p:nvSpPr>
          <p:cNvPr id="30" name="Shape 28"/>
          <p:cNvSpPr/>
          <p:nvPr/>
        </p:nvSpPr>
        <p:spPr>
          <a:xfrm>
            <a:off x="6325692" y="3510459"/>
            <a:ext cx="5231805" cy="1051024"/>
          </a:xfrm>
          <a:prstGeom prst="roundRect">
            <a:avLst>
              <a:gd name="adj" fmla="val 2613"/>
            </a:avLst>
          </a:prstGeom>
          <a:solidFill>
            <a:srgbClr val="FCF2B5"/>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pic>
        <p:nvPicPr>
          <p:cNvPr id="31" name="Image 0" descr="preencoded.png"/>
          <p:cNvPicPr>
            <a:picLocks noChangeAspect="1"/>
          </p:cNvPicPr>
          <p:nvPr/>
        </p:nvPicPr>
        <p:blipFill>
          <a:blip r:embed="rId3"/>
          <a:stretch>
            <a:fillRect/>
          </a:stretch>
        </p:blipFill>
        <p:spPr>
          <a:xfrm>
            <a:off x="6508750" y="3775869"/>
            <a:ext cx="228798" cy="183058"/>
          </a:xfrm>
          <a:prstGeom prst="rect">
            <a:avLst/>
          </a:prstGeom>
        </p:spPr>
      </p:pic>
      <p:sp>
        <p:nvSpPr>
          <p:cNvPr id="32" name="Text 29"/>
          <p:cNvSpPr/>
          <p:nvPr/>
        </p:nvSpPr>
        <p:spPr>
          <a:xfrm>
            <a:off x="6920607" y="3733503"/>
            <a:ext cx="4453831" cy="57685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417">
                <a:solidFill>
                  <a:srgbClr val="000000"/>
                </a:solidFill>
                <a:latin typeface="Source Sans 3" pitchFamily="34" charset="0"/>
                <a:ea typeface="Source Sans 3" pitchFamily="34" charset="-122"/>
                <a:cs typeface="Source Sans 3" pitchFamily="34" charset="-120"/>
              </a:rPr>
              <a:t>High tenure variability makes month-to-month revenue forecasting inherently difficult without segmentation.</a:t>
            </a:r>
            <a:endParaRPr lang="en-US" sz="1417"/>
          </a:p>
        </p:txBody>
      </p:sp>
      <p:graphicFrame>
        <p:nvGraphicFramePr>
          <p:cNvPr id="33" name="Table 32">
            <a:extLst>
              <a:ext uri="{FF2B5EF4-FFF2-40B4-BE49-F238E27FC236}">
                <a16:creationId xmlns:a16="http://schemas.microsoft.com/office/drawing/2014/main" id="{495E1166-2578-B19D-2D53-D12327635328}"/>
              </a:ext>
            </a:extLst>
          </p:cNvPr>
          <p:cNvGraphicFramePr>
            <a:graphicFrameLocks noGrp="1"/>
          </p:cNvGraphicFramePr>
          <p:nvPr>
            <p:extLst>
              <p:ext uri="{D42A27DB-BD31-4B8C-83A1-F6EECF244321}">
                <p14:modId xmlns:p14="http://schemas.microsoft.com/office/powerpoint/2010/main" val="3900316061"/>
              </p:ext>
            </p:extLst>
          </p:nvPr>
        </p:nvGraphicFramePr>
        <p:xfrm>
          <a:off x="634504" y="2546829"/>
          <a:ext cx="4584789" cy="3540978"/>
        </p:xfrm>
        <a:graphic>
          <a:graphicData uri="http://schemas.openxmlformats.org/drawingml/2006/table">
            <a:tbl>
              <a:tblPr firstRow="1" bandRow="1">
                <a:tableStyleId>{3B4B98B0-60AC-42C2-AFA5-B58CD77FA1E5}</a:tableStyleId>
              </a:tblPr>
              <a:tblGrid>
                <a:gridCol w="1528263">
                  <a:extLst>
                    <a:ext uri="{9D8B030D-6E8A-4147-A177-3AD203B41FA5}">
                      <a16:colId xmlns:a16="http://schemas.microsoft.com/office/drawing/2014/main" val="2393291656"/>
                    </a:ext>
                  </a:extLst>
                </a:gridCol>
                <a:gridCol w="1528263">
                  <a:extLst>
                    <a:ext uri="{9D8B030D-6E8A-4147-A177-3AD203B41FA5}">
                      <a16:colId xmlns:a16="http://schemas.microsoft.com/office/drawing/2014/main" val="619031435"/>
                    </a:ext>
                  </a:extLst>
                </a:gridCol>
                <a:gridCol w="1528263">
                  <a:extLst>
                    <a:ext uri="{9D8B030D-6E8A-4147-A177-3AD203B41FA5}">
                      <a16:colId xmlns:a16="http://schemas.microsoft.com/office/drawing/2014/main" val="1762708040"/>
                    </a:ext>
                  </a:extLst>
                </a:gridCol>
              </a:tblGrid>
              <a:tr h="505854">
                <a:tc>
                  <a:txBody>
                    <a:bodyPr/>
                    <a:lstStyle/>
                    <a:p>
                      <a:pPr>
                        <a:buNone/>
                      </a:pPr>
                      <a:r>
                        <a:rPr lang="en-US" sz="1500" b="1"/>
                        <a:t>Statistic</a:t>
                      </a:r>
                      <a:endParaRPr lang="en-US" sz="1500"/>
                    </a:p>
                  </a:txBody>
                  <a:tcPr marL="76200" marR="76200" marT="38100" marB="38100" anchor="ctr"/>
                </a:tc>
                <a:tc>
                  <a:txBody>
                    <a:bodyPr/>
                    <a:lstStyle/>
                    <a:p>
                      <a:pPr>
                        <a:buNone/>
                      </a:pPr>
                      <a:r>
                        <a:rPr lang="en-US" sz="1500" b="1"/>
                        <a:t>Tenure (mo.)</a:t>
                      </a:r>
                      <a:endParaRPr lang="en-US" sz="1500"/>
                    </a:p>
                  </a:txBody>
                  <a:tcPr marL="76200" marR="76200" marT="38100" marB="38100" anchor="ctr"/>
                </a:tc>
                <a:tc>
                  <a:txBody>
                    <a:bodyPr/>
                    <a:lstStyle/>
                    <a:p>
                      <a:pPr>
                        <a:buNone/>
                      </a:pPr>
                      <a:r>
                        <a:rPr lang="en-US" sz="1500" b="1"/>
                        <a:t>Charges ($)</a:t>
                      </a:r>
                      <a:endParaRPr lang="en-US" sz="1500"/>
                    </a:p>
                  </a:txBody>
                  <a:tcPr marL="76200" marR="76200" marT="38100" marB="38100" anchor="ctr"/>
                </a:tc>
                <a:extLst>
                  <a:ext uri="{0D108BD9-81ED-4DB2-BD59-A6C34878D82A}">
                    <a16:rowId xmlns:a16="http://schemas.microsoft.com/office/drawing/2014/main" val="2583532812"/>
                  </a:ext>
                </a:extLst>
              </a:tr>
              <a:tr h="505854">
                <a:tc>
                  <a:txBody>
                    <a:bodyPr/>
                    <a:lstStyle/>
                    <a:p>
                      <a:pPr>
                        <a:buNone/>
                      </a:pPr>
                      <a:r>
                        <a:rPr lang="en-US" sz="1500"/>
                        <a:t>Minimum</a:t>
                      </a:r>
                    </a:p>
                  </a:txBody>
                  <a:tcPr marL="76200" marR="76200" marT="38100" marB="38100" anchor="ctr"/>
                </a:tc>
                <a:tc>
                  <a:txBody>
                    <a:bodyPr/>
                    <a:lstStyle/>
                    <a:p>
                      <a:pPr>
                        <a:buNone/>
                      </a:pPr>
                      <a:r>
                        <a:rPr lang="en-US" sz="1500"/>
                        <a:t>1</a:t>
                      </a:r>
                    </a:p>
                  </a:txBody>
                  <a:tcPr marL="76200" marR="76200" marT="38100" marB="38100" anchor="ctr"/>
                </a:tc>
                <a:tc>
                  <a:txBody>
                    <a:bodyPr/>
                    <a:lstStyle/>
                    <a:p>
                      <a:pPr>
                        <a:buNone/>
                      </a:pPr>
                      <a:r>
                        <a:rPr lang="en-US" sz="1500"/>
                        <a:t>30.25</a:t>
                      </a:r>
                    </a:p>
                  </a:txBody>
                  <a:tcPr marL="76200" marR="76200" marT="38100" marB="38100" anchor="ctr"/>
                </a:tc>
                <a:extLst>
                  <a:ext uri="{0D108BD9-81ED-4DB2-BD59-A6C34878D82A}">
                    <a16:rowId xmlns:a16="http://schemas.microsoft.com/office/drawing/2014/main" val="4041671311"/>
                  </a:ext>
                </a:extLst>
              </a:tr>
              <a:tr h="505854">
                <a:tc>
                  <a:txBody>
                    <a:bodyPr/>
                    <a:lstStyle/>
                    <a:p>
                      <a:pPr>
                        <a:buNone/>
                      </a:pPr>
                      <a:r>
                        <a:rPr lang="en-US" sz="1500"/>
                        <a:t>Q1</a:t>
                      </a:r>
                    </a:p>
                  </a:txBody>
                  <a:tcPr marL="76200" marR="76200" marT="38100" marB="38100" anchor="ctr"/>
                </a:tc>
                <a:tc>
                  <a:txBody>
                    <a:bodyPr/>
                    <a:lstStyle/>
                    <a:p>
                      <a:pPr>
                        <a:buNone/>
                      </a:pPr>
                      <a:r>
                        <a:rPr lang="en-US" sz="1500"/>
                        <a:t>14</a:t>
                      </a:r>
                    </a:p>
                  </a:txBody>
                  <a:tcPr marL="76200" marR="76200" marT="38100" marB="38100" anchor="ctr"/>
                </a:tc>
                <a:tc>
                  <a:txBody>
                    <a:bodyPr/>
                    <a:lstStyle/>
                    <a:p>
                      <a:pPr>
                        <a:buNone/>
                      </a:pPr>
                      <a:r>
                        <a:rPr lang="en-US" sz="1500"/>
                        <a:t>55.40</a:t>
                      </a:r>
                    </a:p>
                  </a:txBody>
                  <a:tcPr marL="76200" marR="76200" marT="38100" marB="38100" anchor="ctr"/>
                </a:tc>
                <a:extLst>
                  <a:ext uri="{0D108BD9-81ED-4DB2-BD59-A6C34878D82A}">
                    <a16:rowId xmlns:a16="http://schemas.microsoft.com/office/drawing/2014/main" val="2366904676"/>
                  </a:ext>
                </a:extLst>
              </a:tr>
              <a:tr h="505854">
                <a:tc>
                  <a:txBody>
                    <a:bodyPr/>
                    <a:lstStyle/>
                    <a:p>
                      <a:pPr>
                        <a:buNone/>
                      </a:pPr>
                      <a:r>
                        <a:rPr lang="en-US" sz="1500"/>
                        <a:t>Median</a:t>
                      </a:r>
                    </a:p>
                  </a:txBody>
                  <a:tcPr marL="76200" marR="76200" marT="38100" marB="38100" anchor="ctr"/>
                </a:tc>
                <a:tc>
                  <a:txBody>
                    <a:bodyPr/>
                    <a:lstStyle/>
                    <a:p>
                      <a:pPr>
                        <a:buNone/>
                      </a:pPr>
                      <a:r>
                        <a:rPr lang="en-US" sz="1500"/>
                        <a:t>29.5</a:t>
                      </a:r>
                    </a:p>
                  </a:txBody>
                  <a:tcPr marL="76200" marR="76200" marT="38100" marB="38100" anchor="ctr"/>
                </a:tc>
                <a:tc>
                  <a:txBody>
                    <a:bodyPr/>
                    <a:lstStyle/>
                    <a:p>
                      <a:pPr>
                        <a:buNone/>
                      </a:pPr>
                      <a:r>
                        <a:rPr lang="en-US" sz="1500"/>
                        <a:t>72.85</a:t>
                      </a:r>
                    </a:p>
                  </a:txBody>
                  <a:tcPr marL="76200" marR="76200" marT="38100" marB="38100" anchor="ctr"/>
                </a:tc>
                <a:extLst>
                  <a:ext uri="{0D108BD9-81ED-4DB2-BD59-A6C34878D82A}">
                    <a16:rowId xmlns:a16="http://schemas.microsoft.com/office/drawing/2014/main" val="1467143512"/>
                  </a:ext>
                </a:extLst>
              </a:tr>
              <a:tr h="505854">
                <a:tc>
                  <a:txBody>
                    <a:bodyPr/>
                    <a:lstStyle/>
                    <a:p>
                      <a:pPr>
                        <a:buNone/>
                      </a:pPr>
                      <a:r>
                        <a:rPr lang="en-US" sz="1500"/>
                        <a:t>Q3</a:t>
                      </a:r>
                    </a:p>
                  </a:txBody>
                  <a:tcPr marL="76200" marR="76200" marT="38100" marB="38100" anchor="ctr"/>
                </a:tc>
                <a:tc>
                  <a:txBody>
                    <a:bodyPr/>
                    <a:lstStyle/>
                    <a:p>
                      <a:pPr>
                        <a:buNone/>
                      </a:pPr>
                      <a:r>
                        <a:rPr lang="en-US" sz="1500"/>
                        <a:t>46</a:t>
                      </a:r>
                    </a:p>
                  </a:txBody>
                  <a:tcPr marL="76200" marR="76200" marT="38100" marB="38100" anchor="ctr"/>
                </a:tc>
                <a:tc>
                  <a:txBody>
                    <a:bodyPr/>
                    <a:lstStyle/>
                    <a:p>
                      <a:pPr>
                        <a:buNone/>
                      </a:pPr>
                      <a:r>
                        <a:rPr lang="en-US" sz="1500"/>
                        <a:t>89.10</a:t>
                      </a:r>
                    </a:p>
                  </a:txBody>
                  <a:tcPr marL="76200" marR="76200" marT="38100" marB="38100" anchor="ctr"/>
                </a:tc>
                <a:extLst>
                  <a:ext uri="{0D108BD9-81ED-4DB2-BD59-A6C34878D82A}">
                    <a16:rowId xmlns:a16="http://schemas.microsoft.com/office/drawing/2014/main" val="2546486341"/>
                  </a:ext>
                </a:extLst>
              </a:tr>
              <a:tr h="505854">
                <a:tc>
                  <a:txBody>
                    <a:bodyPr/>
                    <a:lstStyle/>
                    <a:p>
                      <a:pPr>
                        <a:buNone/>
                      </a:pPr>
                      <a:r>
                        <a:rPr lang="en-US" sz="1500"/>
                        <a:t>Maximum</a:t>
                      </a:r>
                    </a:p>
                  </a:txBody>
                  <a:tcPr marL="76200" marR="76200" marT="38100" marB="38100" anchor="ctr"/>
                </a:tc>
                <a:tc>
                  <a:txBody>
                    <a:bodyPr/>
                    <a:lstStyle/>
                    <a:p>
                      <a:pPr>
                        <a:buNone/>
                      </a:pPr>
                      <a:r>
                        <a:rPr lang="en-US" sz="1500"/>
                        <a:t>60</a:t>
                      </a:r>
                    </a:p>
                  </a:txBody>
                  <a:tcPr marL="76200" marR="76200" marT="38100" marB="38100" anchor="ctr"/>
                </a:tc>
                <a:tc>
                  <a:txBody>
                    <a:bodyPr/>
                    <a:lstStyle/>
                    <a:p>
                      <a:pPr>
                        <a:buNone/>
                      </a:pPr>
                      <a:r>
                        <a:rPr lang="en-US" sz="1500"/>
                        <a:t>119.90</a:t>
                      </a:r>
                    </a:p>
                  </a:txBody>
                  <a:tcPr marL="76200" marR="76200" marT="38100" marB="38100" anchor="ctr"/>
                </a:tc>
                <a:extLst>
                  <a:ext uri="{0D108BD9-81ED-4DB2-BD59-A6C34878D82A}">
                    <a16:rowId xmlns:a16="http://schemas.microsoft.com/office/drawing/2014/main" val="4065611639"/>
                  </a:ext>
                </a:extLst>
              </a:tr>
              <a:tr h="505854">
                <a:tc>
                  <a:txBody>
                    <a:bodyPr/>
                    <a:lstStyle/>
                    <a:p>
                      <a:pPr>
                        <a:buNone/>
                      </a:pPr>
                      <a:r>
                        <a:rPr lang="en-US" sz="1500" b="1"/>
                        <a:t>Std. Dev.</a:t>
                      </a:r>
                      <a:endParaRPr lang="en-US" sz="1500"/>
                    </a:p>
                  </a:txBody>
                  <a:tcPr marL="76200" marR="76200" marT="38100" marB="38100" anchor="ctr"/>
                </a:tc>
                <a:tc>
                  <a:txBody>
                    <a:bodyPr/>
                    <a:lstStyle/>
                    <a:p>
                      <a:pPr>
                        <a:buNone/>
                      </a:pPr>
                      <a:r>
                        <a:rPr lang="en-US" sz="1500"/>
                        <a:t>17.8</a:t>
                      </a:r>
                    </a:p>
                  </a:txBody>
                  <a:tcPr marL="76200" marR="76200" marT="38100" marB="38100" anchor="ctr"/>
                </a:tc>
                <a:tc>
                  <a:txBody>
                    <a:bodyPr/>
                    <a:lstStyle/>
                    <a:p>
                      <a:pPr>
                        <a:buNone/>
                      </a:pPr>
                      <a:r>
                        <a:rPr lang="en-US" sz="1500"/>
                        <a:t>20.35</a:t>
                      </a:r>
                    </a:p>
                  </a:txBody>
                  <a:tcPr marL="76200" marR="76200" marT="38100" marB="38100" anchor="ctr"/>
                </a:tc>
                <a:extLst>
                  <a:ext uri="{0D108BD9-81ED-4DB2-BD59-A6C34878D82A}">
                    <a16:rowId xmlns:a16="http://schemas.microsoft.com/office/drawing/2014/main" val="3554358539"/>
                  </a:ext>
                </a:extLst>
              </a:tr>
            </a:tbl>
          </a:graphicData>
        </a:graphic>
      </p:graphicFrame>
      <p:pic>
        <p:nvPicPr>
          <p:cNvPr id="7" name="Picture 6">
            <a:extLst>
              <a:ext uri="{FF2B5EF4-FFF2-40B4-BE49-F238E27FC236}">
                <a16:creationId xmlns:a16="http://schemas.microsoft.com/office/drawing/2014/main" id="{1CD6A49E-076E-C364-60A6-D1CB49E70806}"/>
              </a:ext>
            </a:extLst>
          </p:cNvPr>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2661298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a red line&#10;&#10;AI-generated content may be incorrect.">
            <a:extLst>
              <a:ext uri="{FF2B5EF4-FFF2-40B4-BE49-F238E27FC236}">
                <a16:creationId xmlns:a16="http://schemas.microsoft.com/office/drawing/2014/main" id="{FF0B5E25-EF21-EF3B-1DAC-AE43BC47D16D}"/>
              </a:ext>
            </a:extLst>
          </p:cNvPr>
          <p:cNvPicPr>
            <a:picLocks noChangeAspect="1"/>
          </p:cNvPicPr>
          <p:nvPr/>
        </p:nvPicPr>
        <p:blipFill>
          <a:blip r:embed="rId2"/>
          <a:stretch>
            <a:fillRect/>
          </a:stretch>
        </p:blipFill>
        <p:spPr>
          <a:xfrm>
            <a:off x="1840761" y="628650"/>
            <a:ext cx="3338402" cy="2800350"/>
          </a:xfrm>
          <a:prstGeom prst="rect">
            <a:avLst/>
          </a:prstGeom>
        </p:spPr>
      </p:pic>
      <p:pic>
        <p:nvPicPr>
          <p:cNvPr id="3" name="Picture 2" descr="A graph with a red line&#10;&#10;AI-generated content may be incorrect.">
            <a:extLst>
              <a:ext uri="{FF2B5EF4-FFF2-40B4-BE49-F238E27FC236}">
                <a16:creationId xmlns:a16="http://schemas.microsoft.com/office/drawing/2014/main" id="{4D2BD752-E191-9FAC-C080-5CA4DB7F53E5}"/>
              </a:ext>
            </a:extLst>
          </p:cNvPr>
          <p:cNvPicPr>
            <a:picLocks noChangeAspect="1"/>
          </p:cNvPicPr>
          <p:nvPr/>
        </p:nvPicPr>
        <p:blipFill>
          <a:blip r:embed="rId3"/>
          <a:stretch>
            <a:fillRect/>
          </a:stretch>
        </p:blipFill>
        <p:spPr>
          <a:xfrm>
            <a:off x="6703057" y="628650"/>
            <a:ext cx="3348361" cy="2800350"/>
          </a:xfrm>
          <a:prstGeom prst="rect">
            <a:avLst/>
          </a:prstGeom>
        </p:spPr>
      </p:pic>
      <p:pic>
        <p:nvPicPr>
          <p:cNvPr id="4" name="Picture 3" descr="A graph showing a green line&#10;&#10;AI-generated content may be incorrect.">
            <a:extLst>
              <a:ext uri="{FF2B5EF4-FFF2-40B4-BE49-F238E27FC236}">
                <a16:creationId xmlns:a16="http://schemas.microsoft.com/office/drawing/2014/main" id="{C9D9759B-90E7-4E5C-956F-D450779F352C}"/>
              </a:ext>
            </a:extLst>
          </p:cNvPr>
          <p:cNvPicPr>
            <a:picLocks noChangeAspect="1"/>
          </p:cNvPicPr>
          <p:nvPr/>
        </p:nvPicPr>
        <p:blipFill>
          <a:blip r:embed="rId4"/>
          <a:stretch>
            <a:fillRect/>
          </a:stretch>
        </p:blipFill>
        <p:spPr>
          <a:xfrm>
            <a:off x="1689056" y="4057650"/>
            <a:ext cx="3136989" cy="2800350"/>
          </a:xfrm>
          <a:prstGeom prst="rect">
            <a:avLst/>
          </a:prstGeom>
        </p:spPr>
      </p:pic>
      <p:pic>
        <p:nvPicPr>
          <p:cNvPr id="5" name="Picture 4" descr="A graph of a number of services&#10;&#10;AI-generated content may be incorrect.">
            <a:extLst>
              <a:ext uri="{FF2B5EF4-FFF2-40B4-BE49-F238E27FC236}">
                <a16:creationId xmlns:a16="http://schemas.microsoft.com/office/drawing/2014/main" id="{F5934335-30E1-12E6-C50A-2C4DE9E6AD9E}"/>
              </a:ext>
            </a:extLst>
          </p:cNvPr>
          <p:cNvPicPr>
            <a:picLocks noChangeAspect="1"/>
          </p:cNvPicPr>
          <p:nvPr/>
        </p:nvPicPr>
        <p:blipFill>
          <a:blip r:embed="rId5"/>
          <a:stretch>
            <a:fillRect/>
          </a:stretch>
        </p:blipFill>
        <p:spPr>
          <a:xfrm>
            <a:off x="6094922" y="3686175"/>
            <a:ext cx="4736081" cy="3171825"/>
          </a:xfrm>
          <a:prstGeom prst="rect">
            <a:avLst/>
          </a:prstGeom>
        </p:spPr>
      </p:pic>
    </p:spTree>
    <p:extLst>
      <p:ext uri="{BB962C8B-B14F-4D97-AF65-F5344CB8AC3E}">
        <p14:creationId xmlns:p14="http://schemas.microsoft.com/office/powerpoint/2010/main" val="559763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92" y="1775519"/>
            <a:ext cx="3476030" cy="367903"/>
          </a:xfrm>
          <a:prstGeom prst="roundRect">
            <a:avLst>
              <a:gd name="adj" fmla="val 6165"/>
            </a:avLst>
          </a:prstGeom>
          <a:noFill/>
          <a:ln w="7620">
            <a:solidFill>
              <a:srgbClr val="3257B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3" name="Text 1"/>
          <p:cNvSpPr/>
          <p:nvPr/>
        </p:nvSpPr>
        <p:spPr>
          <a:xfrm>
            <a:off x="781249" y="1838523"/>
            <a:ext cx="3236516" cy="24189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167">
                <a:solidFill>
                  <a:srgbClr val="3257B8"/>
                </a:solidFill>
                <a:latin typeface="Source Sans 3" pitchFamily="34" charset="0"/>
                <a:ea typeface="Source Sans 3" pitchFamily="34" charset="-122"/>
                <a:cs typeface="Source Sans 3" pitchFamily="34" charset="-120"/>
              </a:rPr>
              <a:t>MODULE 2: DESCRIPTIVE &amp; EXPLORATORY ANALYSIS</a:t>
            </a:r>
            <a:endParaRPr lang="en-US" sz="1167"/>
          </a:p>
        </p:txBody>
      </p:sp>
      <p:sp>
        <p:nvSpPr>
          <p:cNvPr id="4" name="Text 2"/>
          <p:cNvSpPr/>
          <p:nvPr/>
        </p:nvSpPr>
        <p:spPr>
          <a:xfrm>
            <a:off x="661492" y="2219028"/>
            <a:ext cx="6455966" cy="59064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625"/>
              </a:lnSpc>
              <a:buNone/>
            </a:pPr>
            <a:r>
              <a:rPr lang="en-US" sz="3708">
                <a:solidFill>
                  <a:srgbClr val="3257B8"/>
                </a:solidFill>
                <a:latin typeface="Libre Baskerville" pitchFamily="34" charset="0"/>
                <a:ea typeface="Libre Baskerville" pitchFamily="34" charset="-122"/>
                <a:cs typeface="Libre Baskerville" pitchFamily="34" charset="-120"/>
              </a:rPr>
              <a:t>EDA Visualizations (Zikun)</a:t>
            </a:r>
            <a:endParaRPr lang="en-US" sz="3708"/>
          </a:p>
        </p:txBody>
      </p:sp>
      <p:sp>
        <p:nvSpPr>
          <p:cNvPr id="5" name="Shape 3"/>
          <p:cNvSpPr/>
          <p:nvPr/>
        </p:nvSpPr>
        <p:spPr>
          <a:xfrm>
            <a:off x="661492" y="3093144"/>
            <a:ext cx="3496965" cy="1989237"/>
          </a:xfrm>
          <a:prstGeom prst="roundRect">
            <a:avLst>
              <a:gd name="adj" fmla="val 1425"/>
            </a:avLst>
          </a:prstGeom>
          <a:solidFill>
            <a:srgbClr val="E9ECF2"/>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6" name="Text 4"/>
          <p:cNvSpPr/>
          <p:nvPr/>
        </p:nvSpPr>
        <p:spPr>
          <a:xfrm>
            <a:off x="850503" y="3282157"/>
            <a:ext cx="3118942" cy="59055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a:solidFill>
                  <a:srgbClr val="15213F"/>
                </a:solidFill>
                <a:latin typeface="Libre Baskerville" pitchFamily="34" charset="0"/>
                <a:ea typeface="Libre Baskerville" pitchFamily="34" charset="-122"/>
                <a:cs typeface="Libre Baskerville" pitchFamily="34" charset="-120"/>
              </a:rPr>
              <a:t>Boxplot: Churned vs. Retained</a:t>
            </a:r>
            <a:endParaRPr lang="en-US" sz="1833"/>
          </a:p>
        </p:txBody>
      </p:sp>
      <p:sp>
        <p:nvSpPr>
          <p:cNvPr id="7" name="Text 5"/>
          <p:cNvSpPr/>
          <p:nvPr/>
        </p:nvSpPr>
        <p:spPr>
          <a:xfrm>
            <a:off x="850503" y="3986113"/>
            <a:ext cx="3118942" cy="90725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Source Sans 3" pitchFamily="34" charset="0"/>
                <a:ea typeface="Source Sans 3" pitchFamily="34" charset="-122"/>
                <a:cs typeface="Source Sans 3" pitchFamily="34" charset="-120"/>
              </a:rPr>
              <a:t>Churned customers show notably lower tenure and monthly charges — confirming early-stage vulnerability.</a:t>
            </a:r>
            <a:endParaRPr lang="en-US" sz="1458"/>
          </a:p>
        </p:txBody>
      </p:sp>
      <p:sp>
        <p:nvSpPr>
          <p:cNvPr id="8" name="Shape 6"/>
          <p:cNvSpPr/>
          <p:nvPr/>
        </p:nvSpPr>
        <p:spPr>
          <a:xfrm>
            <a:off x="4347468" y="3093144"/>
            <a:ext cx="3496965" cy="1989237"/>
          </a:xfrm>
          <a:prstGeom prst="roundRect">
            <a:avLst>
              <a:gd name="adj" fmla="val 1425"/>
            </a:avLst>
          </a:prstGeom>
          <a:solidFill>
            <a:srgbClr val="E9ECF2"/>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9" name="Text 7"/>
          <p:cNvSpPr/>
          <p:nvPr/>
        </p:nvSpPr>
        <p:spPr>
          <a:xfrm>
            <a:off x="4536480" y="3282157"/>
            <a:ext cx="3118942" cy="59055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a:solidFill>
                  <a:srgbClr val="15213F"/>
                </a:solidFill>
                <a:latin typeface="Libre Baskerville" pitchFamily="34" charset="0"/>
                <a:ea typeface="Libre Baskerville" pitchFamily="34" charset="-122"/>
                <a:cs typeface="Libre Baskerville" pitchFamily="34" charset="-120"/>
              </a:rPr>
              <a:t>QQ-Plot: Monthly Charges</a:t>
            </a:r>
            <a:endParaRPr lang="en-US" sz="1833"/>
          </a:p>
        </p:txBody>
      </p:sp>
      <p:sp>
        <p:nvSpPr>
          <p:cNvPr id="10" name="Text 8"/>
          <p:cNvSpPr/>
          <p:nvPr/>
        </p:nvSpPr>
        <p:spPr>
          <a:xfrm>
            <a:off x="4536480" y="3986113"/>
            <a:ext cx="3118942" cy="90725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Source Sans 3" pitchFamily="34" charset="0"/>
                <a:ea typeface="Source Sans 3" pitchFamily="34" charset="-122"/>
                <a:cs typeface="Source Sans 3" pitchFamily="34" charset="-120"/>
              </a:rPr>
              <a:t>Points align closely to the theoretical normal line — supporting the normal distribution assumption for charges.</a:t>
            </a:r>
            <a:endParaRPr lang="en-US" sz="1458"/>
          </a:p>
        </p:txBody>
      </p:sp>
      <p:sp>
        <p:nvSpPr>
          <p:cNvPr id="11" name="Shape 9"/>
          <p:cNvSpPr/>
          <p:nvPr/>
        </p:nvSpPr>
        <p:spPr>
          <a:xfrm>
            <a:off x="8033444" y="3093144"/>
            <a:ext cx="3496965" cy="1989237"/>
          </a:xfrm>
          <a:prstGeom prst="roundRect">
            <a:avLst>
              <a:gd name="adj" fmla="val 1425"/>
            </a:avLst>
          </a:prstGeom>
          <a:solidFill>
            <a:srgbClr val="E9ECF2"/>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12" name="Text 10"/>
          <p:cNvSpPr/>
          <p:nvPr/>
        </p:nvSpPr>
        <p:spPr>
          <a:xfrm>
            <a:off x="8222457" y="3282157"/>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a:solidFill>
                  <a:srgbClr val="15213F"/>
                </a:solidFill>
                <a:latin typeface="Libre Baskerville" pitchFamily="34" charset="0"/>
                <a:ea typeface="Libre Baskerville" pitchFamily="34" charset="-122"/>
                <a:cs typeface="Libre Baskerville" pitchFamily="34" charset="-120"/>
              </a:rPr>
              <a:t>QQ-Plot: Sales</a:t>
            </a:r>
            <a:endParaRPr lang="en-US" sz="1833"/>
          </a:p>
        </p:txBody>
      </p:sp>
      <p:sp>
        <p:nvSpPr>
          <p:cNvPr id="13" name="Text 11"/>
          <p:cNvSpPr/>
          <p:nvPr/>
        </p:nvSpPr>
        <p:spPr>
          <a:xfrm>
            <a:off x="8222457" y="3690838"/>
            <a:ext cx="3118942" cy="90725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Source Sans 3" pitchFamily="34" charset="0"/>
                <a:ea typeface="Source Sans 3" pitchFamily="34" charset="-122"/>
                <a:cs typeface="Source Sans 3" pitchFamily="34" charset="-120"/>
              </a:rPr>
              <a:t>Slight deviation in tails suggests mild non-normality — important caveat for inference.</a:t>
            </a:r>
            <a:endParaRPr lang="en-US" sz="1458"/>
          </a:p>
        </p:txBody>
      </p:sp>
      <p:pic>
        <p:nvPicPr>
          <p:cNvPr id="14" name="Picture 13">
            <a:extLst>
              <a:ext uri="{FF2B5EF4-FFF2-40B4-BE49-F238E27FC236}">
                <a16:creationId xmlns:a16="http://schemas.microsoft.com/office/drawing/2014/main" id="{217B1FE0-78AE-FF78-0474-A7319796C09F}"/>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405284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478417" y="154231"/>
            <a:ext cx="2587064" cy="200048"/>
          </a:xfrm>
          <a:prstGeom prst="roundRect">
            <a:avLst>
              <a:gd name="adj" fmla="val 6515"/>
            </a:avLst>
          </a:prstGeom>
          <a:noFill/>
          <a:ln w="7620">
            <a:solidFill>
              <a:srgbClr val="3257B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3" name="Text 1"/>
          <p:cNvSpPr/>
          <p:nvPr/>
        </p:nvSpPr>
        <p:spPr>
          <a:xfrm>
            <a:off x="4565799" y="184533"/>
            <a:ext cx="2141736" cy="17809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375"/>
              </a:lnSpc>
              <a:buNone/>
            </a:pPr>
            <a:r>
              <a:rPr lang="en-US" sz="958">
                <a:solidFill>
                  <a:srgbClr val="3257B8"/>
                </a:solidFill>
                <a:latin typeface="Source Sans 3" pitchFamily="34" charset="0"/>
                <a:ea typeface="Source Sans 3" pitchFamily="34" charset="-122"/>
                <a:cs typeface="Source Sans 3" pitchFamily="34" charset="-120"/>
              </a:rPr>
              <a:t>MODULE 3: PROBABILITY &amp; DISTRIBUTION</a:t>
            </a:r>
            <a:endParaRPr lang="en-US" sz="958"/>
          </a:p>
        </p:txBody>
      </p:sp>
      <p:sp>
        <p:nvSpPr>
          <p:cNvPr id="4" name="Text 2"/>
          <p:cNvSpPr/>
          <p:nvPr/>
        </p:nvSpPr>
        <p:spPr>
          <a:xfrm>
            <a:off x="484039" y="534206"/>
            <a:ext cx="11117064" cy="959843"/>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3750"/>
              </a:lnSpc>
              <a:buNone/>
            </a:pPr>
            <a:r>
              <a:rPr lang="en-US" sz="2800">
                <a:solidFill>
                  <a:srgbClr val="3257B8"/>
                </a:solidFill>
                <a:latin typeface="Libre Baskerville" pitchFamily="34" charset="0"/>
                <a:ea typeface="Libre Baskerville" pitchFamily="34" charset="-122"/>
                <a:cs typeface="Libre Baskerville" pitchFamily="34" charset="-120"/>
              </a:rPr>
              <a:t>Probability of Services &amp; Churn (Mia)</a:t>
            </a:r>
            <a:endParaRPr lang="en-US" sz="2800"/>
          </a:p>
        </p:txBody>
      </p:sp>
      <p:sp>
        <p:nvSpPr>
          <p:cNvPr id="8" name="Text 5"/>
          <p:cNvSpPr/>
          <p:nvPr/>
        </p:nvSpPr>
        <p:spPr>
          <a:xfrm>
            <a:off x="4114602" y="3604038"/>
            <a:ext cx="118070" cy="120650"/>
          </a:xfrm>
          <a:prstGeom prst="rect">
            <a:avLst/>
          </a:prstGeom>
          <a:noFill/>
          <a:ln/>
        </p:spPr>
        <p:txBody>
          <a:bodyPr wrap="square" lIns="25400" tIns="25400" rIns="25400" bIns="2540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542"/>
              </a:lnSpc>
              <a:buNone/>
            </a:pPr>
            <a:r>
              <a:rPr lang="en-US" sz="542">
                <a:solidFill>
                  <a:srgbClr val="FFFFFF"/>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42</a:t>
            </a:r>
            <a:endParaRPr lang="en-US" sz="542"/>
          </a:p>
        </p:txBody>
      </p:sp>
      <p:sp>
        <p:nvSpPr>
          <p:cNvPr id="10" name="Text 7"/>
          <p:cNvSpPr/>
          <p:nvPr/>
        </p:nvSpPr>
        <p:spPr>
          <a:xfrm>
            <a:off x="484039" y="1144141"/>
            <a:ext cx="2318444" cy="239911"/>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500">
                <a:solidFill>
                  <a:srgbClr val="3257B8"/>
                </a:solidFill>
                <a:latin typeface="Libre Baskerville" pitchFamily="34" charset="0"/>
                <a:ea typeface="Libre Baskerville" pitchFamily="34" charset="-122"/>
                <a:cs typeface="Libre Baskerville" pitchFamily="34" charset="-120"/>
              </a:rPr>
              <a:t>Marginal Probability:</a:t>
            </a:r>
          </a:p>
          <a:p>
            <a:pPr marL="0" indent="0" algn="l">
              <a:lnSpc>
                <a:spcPts val="1875"/>
              </a:lnSpc>
              <a:buNone/>
            </a:pPr>
            <a:r>
              <a:rPr lang="en-US" sz="1500">
                <a:solidFill>
                  <a:srgbClr val="3257B8"/>
                </a:solidFill>
                <a:latin typeface="Libre Baskerville" pitchFamily="34" charset="0"/>
                <a:ea typeface="Libre Baskerville" pitchFamily="34" charset="-122"/>
                <a:cs typeface="Libre Baskerville" pitchFamily="34" charset="-120"/>
              </a:rPr>
              <a:t>How Common is Churn?</a:t>
            </a:r>
            <a:endParaRPr lang="en-US" sz="1500"/>
          </a:p>
        </p:txBody>
      </p:sp>
      <p:sp>
        <p:nvSpPr>
          <p:cNvPr id="11" name="Shape 8"/>
          <p:cNvSpPr/>
          <p:nvPr/>
        </p:nvSpPr>
        <p:spPr>
          <a:xfrm>
            <a:off x="503089" y="1823918"/>
            <a:ext cx="3437759" cy="932358"/>
          </a:xfrm>
          <a:prstGeom prst="roundRect">
            <a:avLst>
              <a:gd name="adj" fmla="val 9807"/>
            </a:avLst>
          </a:prstGeom>
          <a:solidFill>
            <a:srgbClr val="FBFCFE"/>
          </a:solidFill>
          <a:ln w="22860">
            <a:solidFill>
              <a:srgbClr val="CFD2D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pic>
        <p:nvPicPr>
          <p:cNvPr id="12" name="Image 1" descr="preencoded.png"/>
          <p:cNvPicPr>
            <a:picLocks noChangeAspect="1"/>
          </p:cNvPicPr>
          <p:nvPr/>
        </p:nvPicPr>
        <p:blipFill>
          <a:blip r:embed="rId3"/>
          <a:stretch>
            <a:fillRect/>
          </a:stretch>
        </p:blipFill>
        <p:spPr>
          <a:xfrm>
            <a:off x="484039" y="1823918"/>
            <a:ext cx="76200" cy="932358"/>
          </a:xfrm>
          <a:prstGeom prst="rect">
            <a:avLst/>
          </a:prstGeom>
        </p:spPr>
      </p:pic>
      <p:sp>
        <p:nvSpPr>
          <p:cNvPr id="13" name="Text 9"/>
          <p:cNvSpPr/>
          <p:nvPr/>
        </p:nvSpPr>
        <p:spPr>
          <a:xfrm>
            <a:off x="732781" y="1996460"/>
            <a:ext cx="1919684" cy="239911"/>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500">
                <a:solidFill>
                  <a:srgbClr val="15213F"/>
                </a:solidFill>
                <a:latin typeface="Libre Baskerville" pitchFamily="34" charset="0"/>
                <a:ea typeface="Libre Baskerville" pitchFamily="34" charset="-122"/>
                <a:cs typeface="Libre Baskerville" pitchFamily="34" charset="-120"/>
              </a:rPr>
              <a:t>P(Churn) = 28%</a:t>
            </a:r>
            <a:endParaRPr lang="en-US" sz="1500"/>
          </a:p>
        </p:txBody>
      </p:sp>
      <p:sp>
        <p:nvSpPr>
          <p:cNvPr id="14" name="Text 10"/>
          <p:cNvSpPr/>
          <p:nvPr/>
        </p:nvSpPr>
        <p:spPr>
          <a:xfrm>
            <a:off x="732780" y="2394887"/>
            <a:ext cx="4394299" cy="22264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50"/>
              </a:lnSpc>
              <a:buNone/>
            </a:pPr>
            <a:r>
              <a:rPr lang="en-US" sz="1208">
                <a:solidFill>
                  <a:srgbClr val="15213F"/>
                </a:solidFill>
                <a:latin typeface="Source Sans 3" pitchFamily="34" charset="0"/>
                <a:ea typeface="Source Sans 3" pitchFamily="34" charset="-122"/>
                <a:cs typeface="Source Sans 3" pitchFamily="34" charset="-120"/>
              </a:rPr>
              <a:t>28 churns out of n=100 sample size</a:t>
            </a:r>
            <a:endParaRPr lang="en-US" sz="1208"/>
          </a:p>
        </p:txBody>
      </p:sp>
      <p:sp>
        <p:nvSpPr>
          <p:cNvPr id="15" name="Shape 11"/>
          <p:cNvSpPr/>
          <p:nvPr/>
        </p:nvSpPr>
        <p:spPr>
          <a:xfrm>
            <a:off x="4487516" y="1823918"/>
            <a:ext cx="3437759" cy="932358"/>
          </a:xfrm>
          <a:prstGeom prst="roundRect">
            <a:avLst>
              <a:gd name="adj" fmla="val 9807"/>
            </a:avLst>
          </a:prstGeom>
          <a:solidFill>
            <a:srgbClr val="FBFCFE"/>
          </a:solidFill>
          <a:ln w="22860">
            <a:solidFill>
              <a:srgbClr val="CFD2D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pic>
        <p:nvPicPr>
          <p:cNvPr id="16" name="Image 2" descr="preencoded.png"/>
          <p:cNvPicPr>
            <a:picLocks noChangeAspect="1"/>
          </p:cNvPicPr>
          <p:nvPr/>
        </p:nvPicPr>
        <p:blipFill>
          <a:blip r:embed="rId3"/>
          <a:stretch>
            <a:fillRect/>
          </a:stretch>
        </p:blipFill>
        <p:spPr>
          <a:xfrm>
            <a:off x="4468466" y="1823918"/>
            <a:ext cx="76200" cy="932358"/>
          </a:xfrm>
          <a:prstGeom prst="rect">
            <a:avLst/>
          </a:prstGeom>
        </p:spPr>
      </p:pic>
      <p:sp>
        <p:nvSpPr>
          <p:cNvPr id="17" name="Text 12"/>
          <p:cNvSpPr/>
          <p:nvPr/>
        </p:nvSpPr>
        <p:spPr>
          <a:xfrm>
            <a:off x="4717208" y="1996460"/>
            <a:ext cx="2921893" cy="239911"/>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500">
                <a:solidFill>
                  <a:srgbClr val="15213F"/>
                </a:solidFill>
                <a:latin typeface="Libre Baskerville" pitchFamily="34" charset="0"/>
                <a:ea typeface="Libre Baskerville" pitchFamily="34" charset="-122"/>
                <a:cs typeface="Libre Baskerville" pitchFamily="34" charset="-120"/>
              </a:rPr>
              <a:t>P(Churn | Services ≤ 2) = 100%</a:t>
            </a:r>
            <a:endParaRPr lang="en-US" sz="1500"/>
          </a:p>
        </p:txBody>
      </p:sp>
      <p:sp>
        <p:nvSpPr>
          <p:cNvPr id="18" name="Text 13"/>
          <p:cNvSpPr/>
          <p:nvPr/>
        </p:nvSpPr>
        <p:spPr>
          <a:xfrm>
            <a:off x="4717208" y="2349908"/>
            <a:ext cx="4394299" cy="22264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50"/>
              </a:lnSpc>
              <a:buNone/>
            </a:pPr>
            <a:r>
              <a:rPr lang="en-US" sz="1208">
                <a:solidFill>
                  <a:srgbClr val="15213F"/>
                </a:solidFill>
                <a:latin typeface="Source Sans 3" pitchFamily="34" charset="0"/>
                <a:ea typeface="Source Sans 3" pitchFamily="34" charset="-122"/>
                <a:cs typeface="Source Sans 3" pitchFamily="34" charset="-120"/>
              </a:rPr>
              <a:t>All low-engagement customers churned</a:t>
            </a:r>
            <a:endParaRPr lang="en-US" sz="1208"/>
          </a:p>
        </p:txBody>
      </p:sp>
      <p:sp>
        <p:nvSpPr>
          <p:cNvPr id="19" name="Shape 14"/>
          <p:cNvSpPr/>
          <p:nvPr/>
        </p:nvSpPr>
        <p:spPr>
          <a:xfrm>
            <a:off x="8493930" y="1790574"/>
            <a:ext cx="3437759" cy="932358"/>
          </a:xfrm>
          <a:prstGeom prst="roundRect">
            <a:avLst>
              <a:gd name="adj" fmla="val 9807"/>
            </a:avLst>
          </a:prstGeom>
          <a:solidFill>
            <a:srgbClr val="FBFCFE"/>
          </a:solidFill>
          <a:ln w="22860">
            <a:solidFill>
              <a:srgbClr val="CFD2D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pic>
        <p:nvPicPr>
          <p:cNvPr id="20" name="Image 3" descr="preencoded.png"/>
          <p:cNvPicPr>
            <a:picLocks noChangeAspect="1"/>
          </p:cNvPicPr>
          <p:nvPr/>
        </p:nvPicPr>
        <p:blipFill>
          <a:blip r:embed="rId3"/>
          <a:stretch>
            <a:fillRect/>
          </a:stretch>
        </p:blipFill>
        <p:spPr>
          <a:xfrm>
            <a:off x="8474880" y="1823918"/>
            <a:ext cx="76200" cy="932358"/>
          </a:xfrm>
          <a:prstGeom prst="rect">
            <a:avLst/>
          </a:prstGeom>
        </p:spPr>
      </p:pic>
      <p:sp>
        <p:nvSpPr>
          <p:cNvPr id="21" name="Text 15"/>
          <p:cNvSpPr/>
          <p:nvPr/>
        </p:nvSpPr>
        <p:spPr>
          <a:xfrm>
            <a:off x="8723622" y="1963116"/>
            <a:ext cx="2690713" cy="239911"/>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500">
                <a:solidFill>
                  <a:srgbClr val="15213F"/>
                </a:solidFill>
                <a:latin typeface="Libre Baskerville" pitchFamily="34" charset="0"/>
                <a:ea typeface="Libre Baskerville" pitchFamily="34" charset="-122"/>
                <a:cs typeface="Libre Baskerville" pitchFamily="34" charset="-120"/>
              </a:rPr>
              <a:t>P(Churn | Services ≥ 4) = 0%</a:t>
            </a:r>
            <a:endParaRPr lang="en-US" sz="1500"/>
          </a:p>
        </p:txBody>
      </p:sp>
      <p:sp>
        <p:nvSpPr>
          <p:cNvPr id="22" name="Text 16"/>
          <p:cNvSpPr/>
          <p:nvPr/>
        </p:nvSpPr>
        <p:spPr>
          <a:xfrm>
            <a:off x="8723620" y="2283528"/>
            <a:ext cx="4394299" cy="22264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50"/>
              </a:lnSpc>
              <a:buNone/>
            </a:pPr>
            <a:r>
              <a:rPr lang="en-US" sz="1208">
                <a:solidFill>
                  <a:srgbClr val="15213F"/>
                </a:solidFill>
                <a:latin typeface="Source Sans 3" pitchFamily="34" charset="0"/>
                <a:ea typeface="Source Sans 3" pitchFamily="34" charset="-122"/>
                <a:cs typeface="Source Sans 3" pitchFamily="34" charset="-120"/>
              </a:rPr>
              <a:t>No churn among high-engagement customers</a:t>
            </a:r>
            <a:endParaRPr lang="en-US" sz="1208"/>
          </a:p>
        </p:txBody>
      </p:sp>
      <p:sp>
        <p:nvSpPr>
          <p:cNvPr id="26" name="Text 7">
            <a:extLst>
              <a:ext uri="{FF2B5EF4-FFF2-40B4-BE49-F238E27FC236}">
                <a16:creationId xmlns:a16="http://schemas.microsoft.com/office/drawing/2014/main" id="{A3F3048E-0DEF-43F1-3E64-69ED62606C52}"/>
              </a:ext>
            </a:extLst>
          </p:cNvPr>
          <p:cNvSpPr/>
          <p:nvPr/>
        </p:nvSpPr>
        <p:spPr>
          <a:xfrm>
            <a:off x="4506566" y="1150259"/>
            <a:ext cx="2318444" cy="239911"/>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500">
                <a:solidFill>
                  <a:srgbClr val="3257B8"/>
                </a:solidFill>
                <a:latin typeface="Libre Baskerville" pitchFamily="34" charset="0"/>
                <a:ea typeface="Libre Baskerville" pitchFamily="34" charset="-122"/>
                <a:cs typeface="Libre Baskerville" pitchFamily="34" charset="-120"/>
              </a:rPr>
              <a:t>Conditional Probability:</a:t>
            </a:r>
          </a:p>
          <a:p>
            <a:pPr marL="0" indent="0" algn="l">
              <a:lnSpc>
                <a:spcPts val="1875"/>
              </a:lnSpc>
              <a:buNone/>
            </a:pPr>
            <a:r>
              <a:rPr lang="en-US" sz="1500">
                <a:solidFill>
                  <a:srgbClr val="3257B8"/>
                </a:solidFill>
                <a:latin typeface="Libre Baskerville" pitchFamily="34" charset="0"/>
                <a:ea typeface="Libre Baskerville" pitchFamily="34" charset="-122"/>
                <a:cs typeface="Libre Baskerville" pitchFamily="34" charset="-120"/>
              </a:rPr>
              <a:t>The Point of Comparison</a:t>
            </a:r>
            <a:endParaRPr lang="en-US" sz="1500"/>
          </a:p>
        </p:txBody>
      </p:sp>
      <p:pic>
        <p:nvPicPr>
          <p:cNvPr id="30" name="Picture 29">
            <a:extLst>
              <a:ext uri="{FF2B5EF4-FFF2-40B4-BE49-F238E27FC236}">
                <a16:creationId xmlns:a16="http://schemas.microsoft.com/office/drawing/2014/main" id="{7CEBFB16-898A-04AF-6E5F-BEA1039F7C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401" y="3086145"/>
            <a:ext cx="3907134" cy="3526580"/>
          </a:xfrm>
          <a:prstGeom prst="rect">
            <a:avLst/>
          </a:prstGeom>
        </p:spPr>
      </p:pic>
      <p:pic>
        <p:nvPicPr>
          <p:cNvPr id="28" name="Picture 27">
            <a:extLst>
              <a:ext uri="{FF2B5EF4-FFF2-40B4-BE49-F238E27FC236}">
                <a16:creationId xmlns:a16="http://schemas.microsoft.com/office/drawing/2014/main" id="{0659322A-376E-80A2-9039-0C6C23E032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68082" y="3049817"/>
            <a:ext cx="3557193" cy="3623650"/>
          </a:xfrm>
          <a:prstGeom prst="rect">
            <a:avLst/>
          </a:prstGeom>
        </p:spPr>
      </p:pic>
      <p:pic>
        <p:nvPicPr>
          <p:cNvPr id="6" name="Picture 5">
            <a:extLst>
              <a:ext uri="{FF2B5EF4-FFF2-40B4-BE49-F238E27FC236}">
                <a16:creationId xmlns:a16="http://schemas.microsoft.com/office/drawing/2014/main" id="{34769D0B-5314-3763-3E21-E78954E33B8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16467" y="3032165"/>
            <a:ext cx="4132777" cy="3825835"/>
          </a:xfrm>
          <a:prstGeom prst="rect">
            <a:avLst/>
          </a:prstGeom>
        </p:spPr>
      </p:pic>
    </p:spTree>
    <p:extLst>
      <p:ext uri="{BB962C8B-B14F-4D97-AF65-F5344CB8AC3E}">
        <p14:creationId xmlns:p14="http://schemas.microsoft.com/office/powerpoint/2010/main" val="1153210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68417" y="282680"/>
            <a:ext cx="3153253" cy="277637"/>
          </a:xfrm>
          <a:prstGeom prst="roundRect">
            <a:avLst>
              <a:gd name="adj" fmla="val 6194"/>
            </a:avLst>
          </a:prstGeom>
          <a:noFill/>
          <a:ln w="7620">
            <a:solidFill>
              <a:srgbClr val="3257B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3" name="Text 1"/>
          <p:cNvSpPr/>
          <p:nvPr/>
        </p:nvSpPr>
        <p:spPr>
          <a:xfrm>
            <a:off x="4686388" y="317183"/>
            <a:ext cx="2597051" cy="23624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33"/>
              </a:lnSpc>
              <a:buNone/>
            </a:pPr>
            <a:r>
              <a:rPr lang="en-US" sz="1167">
                <a:solidFill>
                  <a:srgbClr val="3257B8"/>
                </a:solidFill>
                <a:latin typeface="Source Sans 3" pitchFamily="34" charset="0"/>
                <a:ea typeface="Source Sans 3" pitchFamily="34" charset="-122"/>
                <a:cs typeface="Source Sans 3" pitchFamily="34" charset="-120"/>
              </a:rPr>
              <a:t>MODULE 3: PROBABILITY &amp; DISTRIBUTION</a:t>
            </a:r>
            <a:endParaRPr lang="en-US" sz="1167"/>
          </a:p>
        </p:txBody>
      </p:sp>
      <p:sp>
        <p:nvSpPr>
          <p:cNvPr id="4" name="Text 2"/>
          <p:cNvSpPr/>
          <p:nvPr/>
        </p:nvSpPr>
        <p:spPr>
          <a:xfrm>
            <a:off x="657522" y="615534"/>
            <a:ext cx="10839648" cy="581422"/>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4541"/>
              </a:lnSpc>
              <a:buNone/>
            </a:pPr>
            <a:r>
              <a:rPr lang="en-US" sz="2400">
                <a:solidFill>
                  <a:srgbClr val="3257B8"/>
                </a:solidFill>
                <a:latin typeface="Libre Baskerville" pitchFamily="34" charset="0"/>
                <a:ea typeface="Libre Baskerville" pitchFamily="34" charset="-122"/>
                <a:cs typeface="Libre Baskerville" pitchFamily="34" charset="-120"/>
              </a:rPr>
              <a:t>Modeling Churn Frequency: Binomial Distribution (Mia)</a:t>
            </a:r>
            <a:endParaRPr lang="en-US" sz="2400"/>
          </a:p>
        </p:txBody>
      </p:sp>
      <p:sp>
        <p:nvSpPr>
          <p:cNvPr id="5" name="Text 3"/>
          <p:cNvSpPr/>
          <p:nvPr/>
        </p:nvSpPr>
        <p:spPr>
          <a:xfrm>
            <a:off x="651172" y="1491457"/>
            <a:ext cx="2325787" cy="290711"/>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792">
                <a:solidFill>
                  <a:srgbClr val="3257B8"/>
                </a:solidFill>
                <a:latin typeface="Libre Baskerville" pitchFamily="34" charset="0"/>
                <a:ea typeface="Libre Baskerville" pitchFamily="34" charset="-122"/>
                <a:cs typeface="Libre Baskerville" pitchFamily="34" charset="-120"/>
              </a:rPr>
              <a:t>Why Binomial?</a:t>
            </a:r>
            <a:endParaRPr lang="en-US" sz="1792"/>
          </a:p>
        </p:txBody>
      </p:sp>
      <p:sp>
        <p:nvSpPr>
          <p:cNvPr id="6" name="Text 4"/>
          <p:cNvSpPr/>
          <p:nvPr/>
        </p:nvSpPr>
        <p:spPr>
          <a:xfrm>
            <a:off x="651173" y="1965325"/>
            <a:ext cx="5217914" cy="885825"/>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750" indent="-285750" algn="l">
              <a:lnSpc>
                <a:spcPts val="2292"/>
              </a:lnSpc>
              <a:buFont typeface="Arial" panose="020B0604020202020204" pitchFamily="34" charset="0"/>
              <a:buChar char="•"/>
            </a:pPr>
            <a:r>
              <a:rPr lang="en-US" sz="1458">
                <a:solidFill>
                  <a:srgbClr val="15213F"/>
                </a:solidFill>
                <a:latin typeface="Source Sans 3" pitchFamily="34" charset="0"/>
                <a:ea typeface="Source Sans 3" pitchFamily="34" charset="-122"/>
                <a:cs typeface="Source Sans 3" pitchFamily="34" charset="-120"/>
              </a:rPr>
              <a:t>Churn is binary (Yes/No): a customer churns (</a:t>
            </a:r>
            <a:r>
              <a:rPr lang="en-US" sz="1458" b="1">
                <a:solidFill>
                  <a:srgbClr val="15213F"/>
                </a:solidFill>
                <a:latin typeface="Source Sans 3" pitchFamily="34" charset="0"/>
                <a:ea typeface="Source Sans 3" pitchFamily="34" charset="-122"/>
                <a:cs typeface="Source Sans 3" pitchFamily="34" charset="-120"/>
              </a:rPr>
              <a:t>1</a:t>
            </a:r>
            <a:r>
              <a:rPr lang="en-US" sz="1458">
                <a:solidFill>
                  <a:srgbClr val="15213F"/>
                </a:solidFill>
                <a:latin typeface="Source Sans 3" pitchFamily="34" charset="0"/>
                <a:ea typeface="Source Sans 3" pitchFamily="34" charset="-122"/>
                <a:cs typeface="Source Sans 3" pitchFamily="34" charset="-120"/>
              </a:rPr>
              <a:t>) or does not (</a:t>
            </a:r>
            <a:r>
              <a:rPr lang="en-US" sz="1458" b="1">
                <a:solidFill>
                  <a:srgbClr val="15213F"/>
                </a:solidFill>
                <a:latin typeface="Source Sans 3" pitchFamily="34" charset="0"/>
                <a:ea typeface="Source Sans 3" pitchFamily="34" charset="-122"/>
                <a:cs typeface="Source Sans 3" pitchFamily="34" charset="-120"/>
              </a:rPr>
              <a:t>0</a:t>
            </a:r>
            <a:r>
              <a:rPr lang="en-US" sz="1458">
                <a:solidFill>
                  <a:srgbClr val="15213F"/>
                </a:solidFill>
                <a:latin typeface="Source Sans 3" pitchFamily="34" charset="0"/>
                <a:ea typeface="Source Sans 3" pitchFamily="34" charset="-122"/>
                <a:cs typeface="Source Sans 3" pitchFamily="34" charset="-120"/>
              </a:rPr>
              <a:t>)</a:t>
            </a:r>
          </a:p>
          <a:p>
            <a:pPr marL="285750" indent="-285750" algn="l">
              <a:lnSpc>
                <a:spcPts val="2292"/>
              </a:lnSpc>
              <a:buFont typeface="Arial" panose="020B0604020202020204" pitchFamily="34" charset="0"/>
              <a:buChar char="•"/>
            </a:pPr>
            <a:r>
              <a:rPr lang="en-US" sz="1458" i="1">
                <a:solidFill>
                  <a:srgbClr val="15213F"/>
                </a:solidFill>
                <a:latin typeface="Source Sans 3" pitchFamily="34" charset="0"/>
                <a:ea typeface="Source Sans 3" pitchFamily="34" charset="-122"/>
                <a:cs typeface="Source Sans 3" pitchFamily="34" charset="-120"/>
              </a:rPr>
              <a:t>n</a:t>
            </a:r>
            <a:r>
              <a:rPr lang="en-US" sz="1458">
                <a:solidFill>
                  <a:srgbClr val="15213F"/>
                </a:solidFill>
                <a:latin typeface="Source Sans 3" pitchFamily="34" charset="0"/>
                <a:ea typeface="Source Sans 3" pitchFamily="34" charset="-122"/>
                <a:cs typeface="Source Sans 3" pitchFamily="34" charset="-120"/>
              </a:rPr>
              <a:t> = 100 sample size and estimated </a:t>
            </a:r>
            <a:r>
              <a:rPr lang="en-US" sz="1458" i="1">
                <a:solidFill>
                  <a:srgbClr val="15213F"/>
                </a:solidFill>
                <a:latin typeface="Source Sans 3" pitchFamily="34" charset="0"/>
                <a:ea typeface="Source Sans 3" pitchFamily="34" charset="-122"/>
                <a:cs typeface="Source Sans 3" pitchFamily="34" charset="-120"/>
              </a:rPr>
              <a:t>p</a:t>
            </a:r>
            <a:r>
              <a:rPr lang="en-US" sz="1458">
                <a:solidFill>
                  <a:srgbClr val="15213F"/>
                </a:solidFill>
                <a:latin typeface="Source Sans 3" pitchFamily="34" charset="0"/>
                <a:ea typeface="Source Sans 3" pitchFamily="34" charset="-122"/>
                <a:cs typeface="Source Sans 3" pitchFamily="34" charset="-120"/>
              </a:rPr>
              <a:t> = 0.28</a:t>
            </a:r>
          </a:p>
        </p:txBody>
      </p:sp>
      <p:sp>
        <p:nvSpPr>
          <p:cNvPr id="7" name="Text 5"/>
          <p:cNvSpPr/>
          <p:nvPr/>
        </p:nvSpPr>
        <p:spPr>
          <a:xfrm>
            <a:off x="651173" y="3082925"/>
            <a:ext cx="5217914" cy="32295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583"/>
              </a:lnSpc>
              <a:buNone/>
            </a:pPr>
            <a:endParaRPr lang="en-US" sz="1625"/>
          </a:p>
        </p:txBody>
      </p:sp>
      <p:sp>
        <p:nvSpPr>
          <p:cNvPr id="9" name="Text 6"/>
          <p:cNvSpPr/>
          <p:nvPr/>
        </p:nvSpPr>
        <p:spPr>
          <a:xfrm>
            <a:off x="651173" y="3381215"/>
            <a:ext cx="5217914" cy="885825"/>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342900" indent="-342900" algn="l">
              <a:lnSpc>
                <a:spcPts val="2292"/>
              </a:lnSpc>
              <a:buFont typeface="+mj-lt"/>
              <a:buAutoNum type="arabicPeriod"/>
            </a:pPr>
            <a:r>
              <a:rPr lang="en-US" sz="1458">
                <a:solidFill>
                  <a:srgbClr val="15213F"/>
                </a:solidFill>
                <a:latin typeface="Source Sans 3" pitchFamily="34" charset="0"/>
                <a:ea typeface="Source Sans 3" pitchFamily="34" charset="-122"/>
                <a:cs typeface="Source Sans 3" pitchFamily="34" charset="-120"/>
              </a:rPr>
              <a:t>Probability Mass Function (PMF): probability of 3 churns</a:t>
            </a:r>
          </a:p>
          <a:p>
            <a:pPr algn="l">
              <a:lnSpc>
                <a:spcPts val="2292"/>
              </a:lnSpc>
            </a:pPr>
            <a:r>
              <a:rPr lang="en-US" sz="1458" b="1" i="1">
                <a:solidFill>
                  <a:srgbClr val="15213F"/>
                </a:solidFill>
                <a:latin typeface="Source Sans 3" pitchFamily="34" charset="0"/>
                <a:ea typeface="Source Sans 3" pitchFamily="34" charset="-122"/>
                <a:cs typeface="Source Sans 3" pitchFamily="34" charset="-120"/>
              </a:rPr>
              <a:t>         26.4% chance</a:t>
            </a:r>
            <a:endParaRPr lang="en-US" sz="1458">
              <a:solidFill>
                <a:srgbClr val="15213F"/>
              </a:solidFill>
              <a:latin typeface="Source Sans 3" pitchFamily="34" charset="0"/>
              <a:ea typeface="Source Sans 3" pitchFamily="34" charset="-122"/>
              <a:cs typeface="Source Sans 3" pitchFamily="34" charset="-120"/>
            </a:endParaRPr>
          </a:p>
          <a:p>
            <a:pPr marL="342900" indent="-342900" algn="l">
              <a:lnSpc>
                <a:spcPts val="2292"/>
              </a:lnSpc>
              <a:buFont typeface="+mj-lt"/>
              <a:buAutoNum type="arabicPeriod"/>
            </a:pPr>
            <a:r>
              <a:rPr lang="en-US" sz="1458">
                <a:solidFill>
                  <a:srgbClr val="15213F"/>
                </a:solidFill>
                <a:latin typeface="Source Sans 3" pitchFamily="34" charset="0"/>
                <a:ea typeface="Source Sans 3" pitchFamily="34" charset="-122"/>
              </a:rPr>
              <a:t>Cumulative Distribution Function (CDF): probability of 3 or fewer churns</a:t>
            </a:r>
          </a:p>
          <a:p>
            <a:pPr algn="l">
              <a:lnSpc>
                <a:spcPts val="2292"/>
              </a:lnSpc>
            </a:pPr>
            <a:r>
              <a:rPr lang="en-US" sz="1458">
                <a:solidFill>
                  <a:srgbClr val="15213F"/>
                </a:solidFill>
                <a:latin typeface="Source Sans 3" pitchFamily="34" charset="0"/>
                <a:ea typeface="Source Sans 3" pitchFamily="34" charset="-122"/>
              </a:rPr>
              <a:t>        </a:t>
            </a:r>
            <a:r>
              <a:rPr lang="en-US" sz="1458" b="1" i="1">
                <a:solidFill>
                  <a:srgbClr val="15213F"/>
                </a:solidFill>
                <a:latin typeface="Source Sans 3" pitchFamily="34" charset="0"/>
                <a:ea typeface="Source Sans 3" pitchFamily="34" charset="-122"/>
              </a:rPr>
              <a:t>70.2% chance</a:t>
            </a:r>
            <a:endParaRPr lang="en-US" sz="1458">
              <a:solidFill>
                <a:srgbClr val="15213F"/>
              </a:solidFill>
              <a:latin typeface="Source Sans 3" pitchFamily="34" charset="0"/>
              <a:ea typeface="Source Sans 3" pitchFamily="34" charset="-122"/>
            </a:endParaRPr>
          </a:p>
          <a:p>
            <a:pPr marL="342900" indent="-342900" algn="l">
              <a:lnSpc>
                <a:spcPts val="2292"/>
              </a:lnSpc>
              <a:buFont typeface="+mj-lt"/>
              <a:buAutoNum type="arabicPeriod"/>
            </a:pPr>
            <a:r>
              <a:rPr lang="en-US" sz="1458">
                <a:solidFill>
                  <a:srgbClr val="15213F"/>
                </a:solidFill>
                <a:latin typeface="Source Sans 3" pitchFamily="34" charset="0"/>
                <a:ea typeface="Source Sans 3" pitchFamily="34" charset="-122"/>
              </a:rPr>
              <a:t>The Red Flag Threshold: probability of 5 or more churns</a:t>
            </a:r>
          </a:p>
          <a:p>
            <a:pPr algn="l">
              <a:lnSpc>
                <a:spcPts val="2292"/>
              </a:lnSpc>
            </a:pPr>
            <a:r>
              <a:rPr lang="en-US" sz="1458">
                <a:solidFill>
                  <a:srgbClr val="15213F"/>
                </a:solidFill>
                <a:latin typeface="Source Sans 3" pitchFamily="34" charset="0"/>
                <a:ea typeface="Source Sans 3" pitchFamily="34" charset="-122"/>
              </a:rPr>
              <a:t>        </a:t>
            </a:r>
            <a:r>
              <a:rPr lang="en-US" sz="1458" b="1" i="1">
                <a:solidFill>
                  <a:srgbClr val="15213F"/>
                </a:solidFill>
                <a:latin typeface="Source Sans 3" pitchFamily="34" charset="0"/>
                <a:ea typeface="Source Sans 3" pitchFamily="34" charset="-122"/>
              </a:rPr>
              <a:t>11.8% chance</a:t>
            </a:r>
            <a:endParaRPr lang="en-US" sz="1458"/>
          </a:p>
        </p:txBody>
      </p:sp>
      <p:sp>
        <p:nvSpPr>
          <p:cNvPr id="23" name="Text 3">
            <a:extLst>
              <a:ext uri="{FF2B5EF4-FFF2-40B4-BE49-F238E27FC236}">
                <a16:creationId xmlns:a16="http://schemas.microsoft.com/office/drawing/2014/main" id="{9E567CBD-21ED-4228-CB2B-3C3C162600D8}"/>
              </a:ext>
            </a:extLst>
          </p:cNvPr>
          <p:cNvSpPr/>
          <p:nvPr/>
        </p:nvSpPr>
        <p:spPr>
          <a:xfrm>
            <a:off x="657522" y="2937569"/>
            <a:ext cx="2325787" cy="290711"/>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792">
                <a:solidFill>
                  <a:srgbClr val="3257B8"/>
                </a:solidFill>
                <a:latin typeface="Libre Baskerville" pitchFamily="34" charset="0"/>
                <a:ea typeface="Libre Baskerville" pitchFamily="34" charset="-122"/>
                <a:cs typeface="Libre Baskerville" pitchFamily="34" charset="-120"/>
              </a:rPr>
              <a:t>The 3 Key Insights</a:t>
            </a:r>
            <a:endParaRPr lang="en-US" sz="1792"/>
          </a:p>
        </p:txBody>
      </p:sp>
      <p:pic>
        <p:nvPicPr>
          <p:cNvPr id="10" name="Picture 9">
            <a:extLst>
              <a:ext uri="{FF2B5EF4-FFF2-40B4-BE49-F238E27FC236}">
                <a16:creationId xmlns:a16="http://schemas.microsoft.com/office/drawing/2014/main" id="{DA6CC03B-6FBE-0581-9C16-3B91748A17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636812"/>
            <a:ext cx="5863189" cy="4437403"/>
          </a:xfrm>
          <a:prstGeom prst="rect">
            <a:avLst/>
          </a:prstGeom>
        </p:spPr>
      </p:pic>
    </p:spTree>
    <p:extLst>
      <p:ext uri="{BB962C8B-B14F-4D97-AF65-F5344CB8AC3E}">
        <p14:creationId xmlns:p14="http://schemas.microsoft.com/office/powerpoint/2010/main" val="1293261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EB80F-0687-B41C-AFA4-14F4977D5149}"/>
            </a:ext>
          </a:extLst>
        </p:cNvPr>
        <p:cNvGrpSpPr/>
        <p:nvPr/>
      </p:nvGrpSpPr>
      <p:grpSpPr>
        <a:xfrm>
          <a:off x="0" y="0"/>
          <a:ext cx="0" cy="0"/>
          <a:chOff x="0" y="0"/>
          <a:chExt cx="0" cy="0"/>
        </a:xfrm>
      </p:grpSpPr>
      <p:sp>
        <p:nvSpPr>
          <p:cNvPr id="3" name="Text 2">
            <a:extLst>
              <a:ext uri="{FF2B5EF4-FFF2-40B4-BE49-F238E27FC236}">
                <a16:creationId xmlns:a16="http://schemas.microsoft.com/office/drawing/2014/main" id="{2D2D4AD0-B47F-C3CD-9573-5614D8D31A23}"/>
              </a:ext>
            </a:extLst>
          </p:cNvPr>
          <p:cNvSpPr/>
          <p:nvPr/>
        </p:nvSpPr>
        <p:spPr>
          <a:xfrm>
            <a:off x="4911999" y="52942"/>
            <a:ext cx="6461458" cy="48583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4625"/>
              </a:lnSpc>
              <a:buNone/>
            </a:pPr>
            <a:r>
              <a:rPr lang="en-US" sz="2000">
                <a:solidFill>
                  <a:srgbClr val="3257B8"/>
                </a:solidFill>
                <a:latin typeface="Libre Baskerville" pitchFamily="34" charset="0"/>
                <a:ea typeface="Libre Baskerville" pitchFamily="34" charset="-122"/>
                <a:cs typeface="Libre Baskerville" pitchFamily="34" charset="-120"/>
              </a:rPr>
              <a:t>Monthly Charges: Normal Distribution Fit (Mia)</a:t>
            </a:r>
            <a:endParaRPr lang="en-US" sz="2000"/>
          </a:p>
        </p:txBody>
      </p:sp>
      <p:sp>
        <p:nvSpPr>
          <p:cNvPr id="4" name="Text 3">
            <a:extLst>
              <a:ext uri="{FF2B5EF4-FFF2-40B4-BE49-F238E27FC236}">
                <a16:creationId xmlns:a16="http://schemas.microsoft.com/office/drawing/2014/main" id="{64E69A64-C38E-8403-87B1-281D5025C092}"/>
              </a:ext>
            </a:extLst>
          </p:cNvPr>
          <p:cNvSpPr/>
          <p:nvPr/>
        </p:nvSpPr>
        <p:spPr>
          <a:xfrm>
            <a:off x="246979" y="889982"/>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2292"/>
              </a:lnSpc>
              <a:buNone/>
            </a:pPr>
            <a:r>
              <a:rPr lang="en-US" sz="1400">
                <a:solidFill>
                  <a:srgbClr val="3257B8"/>
                </a:solidFill>
                <a:latin typeface="Libre Baskerville" pitchFamily="34" charset="0"/>
                <a:ea typeface="Libre Baskerville" pitchFamily="34" charset="-122"/>
                <a:cs typeface="Libre Baskerville" pitchFamily="34" charset="-120"/>
              </a:rPr>
              <a:t>Justification</a:t>
            </a:r>
            <a:endParaRPr lang="en-US" sz="1400"/>
          </a:p>
        </p:txBody>
      </p:sp>
      <p:sp>
        <p:nvSpPr>
          <p:cNvPr id="8" name="Text 4">
            <a:extLst>
              <a:ext uri="{FF2B5EF4-FFF2-40B4-BE49-F238E27FC236}">
                <a16:creationId xmlns:a16="http://schemas.microsoft.com/office/drawing/2014/main" id="{D9DAD321-B8D3-26B4-5459-BA30D0CE6A9F}"/>
              </a:ext>
            </a:extLst>
          </p:cNvPr>
          <p:cNvSpPr/>
          <p:nvPr/>
        </p:nvSpPr>
        <p:spPr>
          <a:xfrm>
            <a:off x="227115" y="1622551"/>
            <a:ext cx="3091438" cy="1224554"/>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750" indent="-285750" algn="l">
              <a:lnSpc>
                <a:spcPts val="2375"/>
              </a:lnSpc>
              <a:buFont typeface="Arial" panose="020B0604020202020204" pitchFamily="34" charset="0"/>
              <a:buChar char="•"/>
            </a:pPr>
            <a:r>
              <a:rPr lang="en-US" sz="1400">
                <a:solidFill>
                  <a:srgbClr val="15213F"/>
                </a:solidFill>
                <a:latin typeface="Source Sans 3" pitchFamily="34" charset="0"/>
                <a:ea typeface="Source Sans 3" pitchFamily="34" charset="-122"/>
                <a:cs typeface="Source Sans 3" pitchFamily="34" charset="-120"/>
              </a:rPr>
              <a:t>Goal: Identify Financial Risk</a:t>
            </a:r>
          </a:p>
          <a:p>
            <a:pPr marL="285750" indent="-285750" algn="l">
              <a:lnSpc>
                <a:spcPts val="2375"/>
              </a:lnSpc>
              <a:buFont typeface="Arial" panose="020B0604020202020204" pitchFamily="34" charset="0"/>
              <a:buChar char="•"/>
            </a:pPr>
            <a:r>
              <a:rPr lang="en-US" sz="1400">
                <a:solidFill>
                  <a:srgbClr val="15213F"/>
                </a:solidFill>
                <a:latin typeface="Source Sans 3" pitchFamily="34" charset="0"/>
                <a:ea typeface="Source Sans 3" pitchFamily="34" charset="-122"/>
              </a:rPr>
              <a:t>Distribution indicates Bell Curve</a:t>
            </a:r>
          </a:p>
        </p:txBody>
      </p:sp>
      <p:pic>
        <p:nvPicPr>
          <p:cNvPr id="9" name="Picture 8">
            <a:extLst>
              <a:ext uri="{FF2B5EF4-FFF2-40B4-BE49-F238E27FC236}">
                <a16:creationId xmlns:a16="http://schemas.microsoft.com/office/drawing/2014/main" id="{745AD778-2E66-7253-747D-7BAFA6E058E2}"/>
              </a:ext>
            </a:extLst>
          </p:cNvPr>
          <p:cNvPicPr>
            <a:picLocks noChangeAspect="1"/>
          </p:cNvPicPr>
          <p:nvPr/>
        </p:nvPicPr>
        <p:blipFill>
          <a:blip r:embed="rId3">
            <a:alphaModFix amt="83000"/>
            <a:extLst>
              <a:ext uri="{28A0092B-C50C-407E-A947-70E740481C1C}">
                <a14:useLocalDpi xmlns:a14="http://schemas.microsoft.com/office/drawing/2010/main" val="0"/>
              </a:ext>
            </a:extLst>
          </a:blip>
          <a:stretch>
            <a:fillRect/>
          </a:stretch>
        </p:blipFill>
        <p:spPr>
          <a:xfrm>
            <a:off x="4415439" y="1622551"/>
            <a:ext cx="3968962" cy="4563240"/>
          </a:xfrm>
          <a:prstGeom prst="rect">
            <a:avLst/>
          </a:prstGeom>
          <a:effectLst>
            <a:softEdge rad="0"/>
          </a:effectLst>
        </p:spPr>
      </p:pic>
      <p:pic>
        <p:nvPicPr>
          <p:cNvPr id="10" name="Picture 9">
            <a:extLst>
              <a:ext uri="{FF2B5EF4-FFF2-40B4-BE49-F238E27FC236}">
                <a16:creationId xmlns:a16="http://schemas.microsoft.com/office/drawing/2014/main" id="{FF21EE2C-4931-9659-2009-9EFD82A66A00}"/>
              </a:ext>
            </a:extLst>
          </p:cNvPr>
          <p:cNvPicPr>
            <a:picLocks noChangeAspect="1"/>
          </p:cNvPicPr>
          <p:nvPr/>
        </p:nvPicPr>
        <p:blipFill>
          <a:blip r:embed="rId4">
            <a:alphaModFix amt="88000"/>
            <a:extLst>
              <a:ext uri="{28A0092B-C50C-407E-A947-70E740481C1C}">
                <a14:useLocalDpi xmlns:a14="http://schemas.microsoft.com/office/drawing/2010/main" val="0"/>
              </a:ext>
            </a:extLst>
          </a:blip>
          <a:stretch>
            <a:fillRect/>
          </a:stretch>
        </p:blipFill>
        <p:spPr>
          <a:xfrm>
            <a:off x="8223039" y="1622551"/>
            <a:ext cx="3968962" cy="4563240"/>
          </a:xfrm>
          <a:prstGeom prst="rect">
            <a:avLst/>
          </a:prstGeom>
          <a:effectLst>
            <a:softEdge rad="0"/>
          </a:effectLst>
        </p:spPr>
      </p:pic>
      <p:graphicFrame>
        <p:nvGraphicFramePr>
          <p:cNvPr id="14" name="Table 13">
            <a:extLst>
              <a:ext uri="{FF2B5EF4-FFF2-40B4-BE49-F238E27FC236}">
                <a16:creationId xmlns:a16="http://schemas.microsoft.com/office/drawing/2014/main" id="{5810A3E2-54F0-7CFB-A908-33F88F3E8ED8}"/>
              </a:ext>
            </a:extLst>
          </p:cNvPr>
          <p:cNvGraphicFramePr>
            <a:graphicFrameLocks noGrp="1"/>
          </p:cNvGraphicFramePr>
          <p:nvPr>
            <p:extLst>
              <p:ext uri="{D42A27DB-BD31-4B8C-83A1-F6EECF244321}">
                <p14:modId xmlns:p14="http://schemas.microsoft.com/office/powerpoint/2010/main" val="3711426314"/>
              </p:ext>
            </p:extLst>
          </p:nvPr>
        </p:nvGraphicFramePr>
        <p:xfrm>
          <a:off x="227114" y="2706329"/>
          <a:ext cx="4188324" cy="3479462"/>
        </p:xfrm>
        <a:graphic>
          <a:graphicData uri="http://schemas.openxmlformats.org/drawingml/2006/table">
            <a:tbl>
              <a:tblPr firstRow="1" bandRow="1">
                <a:tableStyleId>{2D5ABB26-0587-4C30-8999-92F81FD0307C}</a:tableStyleId>
              </a:tblPr>
              <a:tblGrid>
                <a:gridCol w="2094162">
                  <a:extLst>
                    <a:ext uri="{9D8B030D-6E8A-4147-A177-3AD203B41FA5}">
                      <a16:colId xmlns:a16="http://schemas.microsoft.com/office/drawing/2014/main" val="506744904"/>
                    </a:ext>
                  </a:extLst>
                </a:gridCol>
                <a:gridCol w="2094162">
                  <a:extLst>
                    <a:ext uri="{9D8B030D-6E8A-4147-A177-3AD203B41FA5}">
                      <a16:colId xmlns:a16="http://schemas.microsoft.com/office/drawing/2014/main" val="4154661834"/>
                    </a:ext>
                  </a:extLst>
                </a:gridCol>
              </a:tblGrid>
              <a:tr h="448063">
                <a:tc>
                  <a:txBody>
                    <a:bodyPr/>
                    <a:lstStyle/>
                    <a:p>
                      <a:r>
                        <a:rPr lang="en-US" sz="1400" b="1"/>
                        <a:t>Results</a:t>
                      </a:r>
                    </a:p>
                  </a:txBody>
                  <a:tcPr/>
                </a:tc>
                <a:tc>
                  <a:txBody>
                    <a:bodyPr/>
                    <a:lstStyle/>
                    <a:p>
                      <a:r>
                        <a:rPr lang="en-US" sz="1400" b="1"/>
                        <a:t>Interpretation</a:t>
                      </a:r>
                    </a:p>
                  </a:txBody>
                  <a:tcPr/>
                </a:tc>
                <a:extLst>
                  <a:ext uri="{0D108BD9-81ED-4DB2-BD59-A6C34878D82A}">
                    <a16:rowId xmlns:a16="http://schemas.microsoft.com/office/drawing/2014/main" val="2290309625"/>
                  </a:ext>
                </a:extLst>
              </a:tr>
              <a:tr h="626060">
                <a:tc>
                  <a:txBody>
                    <a:bodyPr/>
                    <a:lstStyle/>
                    <a:p>
                      <a:r>
                        <a:rPr lang="en-US" sz="1400"/>
                        <a:t>p-value=</a:t>
                      </a:r>
                      <a:r>
                        <a:rPr lang="en-US" sz="1400" b="1"/>
                        <a:t>0.032</a:t>
                      </a:r>
                    </a:p>
                  </a:txBody>
                  <a:tcPr/>
                </a:tc>
                <a:tc>
                  <a:txBody>
                    <a:bodyPr/>
                    <a:lstStyle/>
                    <a:p>
                      <a:r>
                        <a:rPr lang="en-US" sz="1400"/>
                        <a:t>Minor non-conformity; move forward with caution</a:t>
                      </a:r>
                    </a:p>
                  </a:txBody>
                  <a:tcPr/>
                </a:tc>
                <a:extLst>
                  <a:ext uri="{0D108BD9-81ED-4DB2-BD59-A6C34878D82A}">
                    <a16:rowId xmlns:a16="http://schemas.microsoft.com/office/drawing/2014/main" val="75600421"/>
                  </a:ext>
                </a:extLst>
              </a:tr>
              <a:tr h="1141639">
                <a:tc>
                  <a:txBody>
                    <a:bodyPr/>
                    <a:lstStyle/>
                    <a:p>
                      <a:r>
                        <a:rPr lang="en-US" sz="1400"/>
                        <a:t>Median &gt; Mean</a:t>
                      </a:r>
                    </a:p>
                    <a:p>
                      <a:r>
                        <a:rPr lang="en-US" sz="1400" b="1"/>
                        <a:t>($.34 difference)</a:t>
                      </a:r>
                    </a:p>
                  </a:txBody>
                  <a:tcPr/>
                </a:tc>
                <a:tc>
                  <a:txBody>
                    <a:bodyPr/>
                    <a:lstStyle/>
                    <a:p>
                      <a:r>
                        <a:rPr lang="en-US" sz="1400"/>
                        <a:t>$72.85 &gt; $72.51 approximate symmetry with more low paying customers pulling average down</a:t>
                      </a:r>
                    </a:p>
                  </a:txBody>
                  <a:tcPr/>
                </a:tc>
                <a:extLst>
                  <a:ext uri="{0D108BD9-81ED-4DB2-BD59-A6C34878D82A}">
                    <a16:rowId xmlns:a16="http://schemas.microsoft.com/office/drawing/2014/main" val="2646629346"/>
                  </a:ext>
                </a:extLst>
              </a:tr>
              <a:tr h="1141639">
                <a:tc>
                  <a:txBody>
                    <a:bodyPr/>
                    <a:lstStyle/>
                    <a:p>
                      <a:r>
                        <a:rPr lang="en-US" sz="1400"/>
                        <a:t>QQ Line Plot </a:t>
                      </a:r>
                      <a:r>
                        <a:rPr lang="en-US" sz="1400" b="1"/>
                        <a:t>Alignment</a:t>
                      </a:r>
                    </a:p>
                  </a:txBody>
                  <a:tcPr/>
                </a:tc>
                <a:tc>
                  <a:txBody>
                    <a:bodyPr/>
                    <a:lstStyle/>
                    <a:p>
                      <a:r>
                        <a:rPr lang="en-US" sz="1400"/>
                        <a:t>Minimal tail variance = Normal Distribution Assumption for risk modeling can be used</a:t>
                      </a:r>
                    </a:p>
                  </a:txBody>
                  <a:tcPr/>
                </a:tc>
                <a:extLst>
                  <a:ext uri="{0D108BD9-81ED-4DB2-BD59-A6C34878D82A}">
                    <a16:rowId xmlns:a16="http://schemas.microsoft.com/office/drawing/2014/main" val="2636007708"/>
                  </a:ext>
                </a:extLst>
              </a:tr>
            </a:tbl>
          </a:graphicData>
        </a:graphic>
      </p:graphicFrame>
      <p:cxnSp>
        <p:nvCxnSpPr>
          <p:cNvPr id="16" name="Straight Connector 15">
            <a:extLst>
              <a:ext uri="{FF2B5EF4-FFF2-40B4-BE49-F238E27FC236}">
                <a16:creationId xmlns:a16="http://schemas.microsoft.com/office/drawing/2014/main" id="{35FE92B2-2297-ED0A-319A-1367CC7B05CC}"/>
              </a:ext>
            </a:extLst>
          </p:cNvPr>
          <p:cNvCxnSpPr>
            <a:cxnSpLocks/>
          </p:cNvCxnSpPr>
          <p:nvPr/>
        </p:nvCxnSpPr>
        <p:spPr>
          <a:xfrm>
            <a:off x="2208944" y="2594062"/>
            <a:ext cx="0" cy="3591729"/>
          </a:xfrm>
          <a:prstGeom prst="line">
            <a:avLst/>
          </a:prstGeom>
          <a:ln>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5810E16-243A-FC55-3EAD-5E5D4F10CD1C}"/>
              </a:ext>
            </a:extLst>
          </p:cNvPr>
          <p:cNvCxnSpPr/>
          <p:nvPr/>
        </p:nvCxnSpPr>
        <p:spPr>
          <a:xfrm>
            <a:off x="246979" y="3863083"/>
            <a:ext cx="3975016" cy="0"/>
          </a:xfrm>
          <a:prstGeom prst="line">
            <a:avLst/>
          </a:prstGeom>
          <a:ln>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A0BC381-7021-9911-798E-64C7F7E22AE5}"/>
              </a:ext>
            </a:extLst>
          </p:cNvPr>
          <p:cNvCxnSpPr/>
          <p:nvPr/>
        </p:nvCxnSpPr>
        <p:spPr>
          <a:xfrm>
            <a:off x="246979" y="5063447"/>
            <a:ext cx="3975016" cy="0"/>
          </a:xfrm>
          <a:prstGeom prst="line">
            <a:avLst/>
          </a:prstGeom>
          <a:ln>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0F34C35D-CBEC-793D-DC6E-9CD8354E27A9}"/>
              </a:ext>
            </a:extLst>
          </p:cNvPr>
          <p:cNvCxnSpPr/>
          <p:nvPr/>
        </p:nvCxnSpPr>
        <p:spPr>
          <a:xfrm>
            <a:off x="301632" y="3111357"/>
            <a:ext cx="3975016" cy="0"/>
          </a:xfrm>
          <a:prstGeom prst="line">
            <a:avLst/>
          </a:prstGeom>
          <a:ln>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
        <p:nvSpPr>
          <p:cNvPr id="22" name="Text 3">
            <a:extLst>
              <a:ext uri="{FF2B5EF4-FFF2-40B4-BE49-F238E27FC236}">
                <a16:creationId xmlns:a16="http://schemas.microsoft.com/office/drawing/2014/main" id="{43D24E7E-A922-6266-8FFA-12B8C68F6D41}"/>
              </a:ext>
            </a:extLst>
          </p:cNvPr>
          <p:cNvSpPr/>
          <p:nvPr/>
        </p:nvSpPr>
        <p:spPr>
          <a:xfrm>
            <a:off x="4129877" y="888661"/>
            <a:ext cx="4012851"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2292"/>
              </a:lnSpc>
              <a:buNone/>
            </a:pPr>
            <a:r>
              <a:rPr lang="en-US" sz="1400">
                <a:solidFill>
                  <a:srgbClr val="3257B8"/>
                </a:solidFill>
                <a:latin typeface="Libre Baskerville" pitchFamily="34" charset="0"/>
                <a:ea typeface="Libre Baskerville" pitchFamily="34" charset="-122"/>
                <a:cs typeface="Libre Baskerville" pitchFamily="34" charset="-120"/>
              </a:rPr>
              <a:t>Histogram of</a:t>
            </a:r>
          </a:p>
          <a:p>
            <a:pPr marL="0" indent="0" algn="ctr">
              <a:lnSpc>
                <a:spcPts val="2292"/>
              </a:lnSpc>
              <a:buNone/>
            </a:pPr>
            <a:r>
              <a:rPr lang="en-US" sz="1400">
                <a:solidFill>
                  <a:srgbClr val="3257B8"/>
                </a:solidFill>
                <a:latin typeface="Libre Baskerville" pitchFamily="34" charset="0"/>
                <a:ea typeface="Libre Baskerville" pitchFamily="34" charset="-122"/>
                <a:cs typeface="Libre Baskerville" pitchFamily="34" charset="-120"/>
              </a:rPr>
              <a:t>Monthly Charges</a:t>
            </a:r>
            <a:endParaRPr lang="en-US" sz="1400"/>
          </a:p>
        </p:txBody>
      </p:sp>
      <p:sp>
        <p:nvSpPr>
          <p:cNvPr id="23" name="Text 3">
            <a:extLst>
              <a:ext uri="{FF2B5EF4-FFF2-40B4-BE49-F238E27FC236}">
                <a16:creationId xmlns:a16="http://schemas.microsoft.com/office/drawing/2014/main" id="{569ED7BE-30E4-DA42-4082-2CCDFC716C33}"/>
              </a:ext>
            </a:extLst>
          </p:cNvPr>
          <p:cNvSpPr/>
          <p:nvPr/>
        </p:nvSpPr>
        <p:spPr>
          <a:xfrm>
            <a:off x="8879864" y="888661"/>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2292"/>
              </a:lnSpc>
              <a:buNone/>
            </a:pPr>
            <a:r>
              <a:rPr lang="en-US" sz="1400">
                <a:solidFill>
                  <a:srgbClr val="3257B8"/>
                </a:solidFill>
                <a:latin typeface="Libre Baskerville" pitchFamily="34" charset="0"/>
              </a:rPr>
              <a:t>Normal Q-Q Plot</a:t>
            </a:r>
            <a:endParaRPr lang="en-US" sz="1400"/>
          </a:p>
        </p:txBody>
      </p:sp>
      <p:cxnSp>
        <p:nvCxnSpPr>
          <p:cNvPr id="24" name="Straight Connector 23">
            <a:extLst>
              <a:ext uri="{FF2B5EF4-FFF2-40B4-BE49-F238E27FC236}">
                <a16:creationId xmlns:a16="http://schemas.microsoft.com/office/drawing/2014/main" id="{4D40E484-B7CF-552A-3887-A2029452DA8F}"/>
              </a:ext>
            </a:extLst>
          </p:cNvPr>
          <p:cNvCxnSpPr>
            <a:cxnSpLocks/>
          </p:cNvCxnSpPr>
          <p:nvPr/>
        </p:nvCxnSpPr>
        <p:spPr>
          <a:xfrm>
            <a:off x="4308358" y="0"/>
            <a:ext cx="0" cy="6991556"/>
          </a:xfrm>
          <a:prstGeom prst="line">
            <a:avLst/>
          </a:prstGeom>
          <a:ln>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
        <p:nvSpPr>
          <p:cNvPr id="26" name="Shape 0">
            <a:extLst>
              <a:ext uri="{FF2B5EF4-FFF2-40B4-BE49-F238E27FC236}">
                <a16:creationId xmlns:a16="http://schemas.microsoft.com/office/drawing/2014/main" id="{29757292-8625-9217-DBE4-63899A5788CB}"/>
              </a:ext>
            </a:extLst>
          </p:cNvPr>
          <p:cNvSpPr/>
          <p:nvPr/>
        </p:nvSpPr>
        <p:spPr>
          <a:xfrm>
            <a:off x="274024" y="154794"/>
            <a:ext cx="3066000" cy="285807"/>
          </a:xfrm>
          <a:prstGeom prst="roundRect">
            <a:avLst>
              <a:gd name="adj" fmla="val 6194"/>
            </a:avLst>
          </a:prstGeom>
          <a:noFill/>
          <a:ln w="7620">
            <a:solidFill>
              <a:srgbClr val="3257B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00"/>
          </a:p>
        </p:txBody>
      </p:sp>
      <p:sp>
        <p:nvSpPr>
          <p:cNvPr id="27" name="Text 1">
            <a:extLst>
              <a:ext uri="{FF2B5EF4-FFF2-40B4-BE49-F238E27FC236}">
                <a16:creationId xmlns:a16="http://schemas.microsoft.com/office/drawing/2014/main" id="{CD1F2D69-8560-B39C-7412-1AF4904B75D4}"/>
              </a:ext>
            </a:extLst>
          </p:cNvPr>
          <p:cNvSpPr/>
          <p:nvPr/>
        </p:nvSpPr>
        <p:spPr>
          <a:xfrm>
            <a:off x="419603" y="189297"/>
            <a:ext cx="2395581" cy="2415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33"/>
              </a:lnSpc>
              <a:buNone/>
            </a:pPr>
            <a:r>
              <a:rPr lang="en-US" sz="1100">
                <a:solidFill>
                  <a:srgbClr val="3257B8"/>
                </a:solidFill>
                <a:latin typeface="Source Sans 3" pitchFamily="34" charset="0"/>
                <a:ea typeface="Source Sans 3" pitchFamily="34" charset="-122"/>
                <a:cs typeface="Source Sans 3" pitchFamily="34" charset="-120"/>
              </a:rPr>
              <a:t>MODULE 3: PROBABILITY &amp; DISTRIBUTION</a:t>
            </a:r>
            <a:endParaRPr lang="en-US" sz="1100"/>
          </a:p>
        </p:txBody>
      </p:sp>
    </p:spTree>
    <p:extLst>
      <p:ext uri="{BB962C8B-B14F-4D97-AF65-F5344CB8AC3E}">
        <p14:creationId xmlns:p14="http://schemas.microsoft.com/office/powerpoint/2010/main" val="1709106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61492" y="1083792"/>
            <a:ext cx="3607007" cy="307165"/>
          </a:xfrm>
          <a:prstGeom prst="roundRect">
            <a:avLst>
              <a:gd name="adj" fmla="val 6165"/>
            </a:avLst>
          </a:prstGeom>
          <a:noFill/>
          <a:ln w="7620">
            <a:solidFill>
              <a:srgbClr val="3257B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3" name="Text 1"/>
          <p:cNvSpPr/>
          <p:nvPr/>
        </p:nvSpPr>
        <p:spPr>
          <a:xfrm>
            <a:off x="781249" y="1119188"/>
            <a:ext cx="3019623" cy="24189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167">
                <a:solidFill>
                  <a:srgbClr val="3257B8"/>
                </a:solidFill>
                <a:latin typeface="Source Sans 3" pitchFamily="34" charset="0"/>
                <a:ea typeface="Source Sans 3" pitchFamily="34" charset="-122"/>
                <a:cs typeface="Source Sans 3" pitchFamily="34" charset="-120"/>
              </a:rPr>
              <a:t>MODULE 4: CONFIDENCE &amp; RECOMMENDATIONS</a:t>
            </a:r>
            <a:endParaRPr lang="en-US" sz="1167"/>
          </a:p>
        </p:txBody>
      </p:sp>
      <p:sp>
        <p:nvSpPr>
          <p:cNvPr id="4" name="Text 2"/>
          <p:cNvSpPr/>
          <p:nvPr/>
        </p:nvSpPr>
        <p:spPr>
          <a:xfrm>
            <a:off x="661492" y="1499692"/>
            <a:ext cx="6329858" cy="59064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625"/>
              </a:lnSpc>
              <a:buNone/>
            </a:pPr>
            <a:r>
              <a:rPr lang="en-US" sz="3708">
                <a:solidFill>
                  <a:srgbClr val="3257B8"/>
                </a:solidFill>
                <a:latin typeface="Libre Baskerville" pitchFamily="34" charset="0"/>
                <a:ea typeface="Libre Baskerville" pitchFamily="34" charset="-122"/>
                <a:cs typeface="Libre Baskerville" pitchFamily="34" charset="-120"/>
              </a:rPr>
              <a:t>Confidence Intervals (Lin)</a:t>
            </a:r>
            <a:endParaRPr lang="en-US" sz="3708"/>
          </a:p>
        </p:txBody>
      </p:sp>
      <p:sp>
        <p:nvSpPr>
          <p:cNvPr id="5" name="Shape 3"/>
          <p:cNvSpPr/>
          <p:nvPr/>
        </p:nvSpPr>
        <p:spPr>
          <a:xfrm>
            <a:off x="661492" y="2373808"/>
            <a:ext cx="3496965" cy="2412207"/>
          </a:xfrm>
          <a:prstGeom prst="roundRect">
            <a:avLst>
              <a:gd name="adj" fmla="val 1175"/>
            </a:avLst>
          </a:prstGeom>
          <a:solidFill>
            <a:srgbClr val="E9ECF2"/>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6" name="Text 4"/>
          <p:cNvSpPr/>
          <p:nvPr/>
        </p:nvSpPr>
        <p:spPr>
          <a:xfrm>
            <a:off x="850503" y="2562820"/>
            <a:ext cx="3106242"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a:solidFill>
                  <a:srgbClr val="15213F"/>
                </a:solidFill>
                <a:latin typeface="Libre Baskerville" pitchFamily="34" charset="0"/>
                <a:ea typeface="Libre Baskerville" pitchFamily="34" charset="-122"/>
                <a:cs typeface="Libre Baskerville" pitchFamily="34" charset="-120"/>
              </a:rPr>
              <a:t>Monthly Charges (95% CI)</a:t>
            </a:r>
            <a:endParaRPr lang="en-US" sz="1833"/>
          </a:p>
        </p:txBody>
      </p:sp>
      <p:sp>
        <p:nvSpPr>
          <p:cNvPr id="7" name="Text 5"/>
          <p:cNvSpPr/>
          <p:nvPr/>
        </p:nvSpPr>
        <p:spPr>
          <a:xfrm>
            <a:off x="850503" y="2971503"/>
            <a:ext cx="3118942" cy="30241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b="1">
                <a:solidFill>
                  <a:srgbClr val="15213F"/>
                </a:solidFill>
                <a:latin typeface="Source Sans 3" pitchFamily="34" charset="0"/>
                <a:ea typeface="Source Sans 3" pitchFamily="34" charset="-122"/>
                <a:cs typeface="Source Sans 3" pitchFamily="34" charset="-120"/>
              </a:rPr>
              <a:t>$68.47 – $76.54</a:t>
            </a:r>
            <a:endParaRPr lang="en-US" sz="1458"/>
          </a:p>
        </p:txBody>
      </p:sp>
      <p:sp>
        <p:nvSpPr>
          <p:cNvPr id="8" name="Text 6"/>
          <p:cNvSpPr/>
          <p:nvPr/>
        </p:nvSpPr>
        <p:spPr>
          <a:xfrm>
            <a:off x="850503" y="3387328"/>
            <a:ext cx="3118942" cy="1209675"/>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Source Sans 3" pitchFamily="34" charset="0"/>
                <a:ea typeface="Source Sans 3" pitchFamily="34" charset="-122"/>
                <a:cs typeface="Source Sans 3" pitchFamily="34" charset="-120"/>
              </a:rPr>
              <a:t>We are 95% confident the true population mean monthly charge falls in this range — anchoring revenue forecasts.</a:t>
            </a:r>
            <a:endParaRPr lang="en-US" sz="1458"/>
          </a:p>
        </p:txBody>
      </p:sp>
      <p:sp>
        <p:nvSpPr>
          <p:cNvPr id="9" name="Shape 7"/>
          <p:cNvSpPr/>
          <p:nvPr/>
        </p:nvSpPr>
        <p:spPr>
          <a:xfrm>
            <a:off x="4347468" y="2373808"/>
            <a:ext cx="3496965" cy="2412207"/>
          </a:xfrm>
          <a:prstGeom prst="roundRect">
            <a:avLst>
              <a:gd name="adj" fmla="val 1175"/>
            </a:avLst>
          </a:prstGeom>
          <a:solidFill>
            <a:srgbClr val="E9ECF2"/>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10" name="Text 8"/>
          <p:cNvSpPr/>
          <p:nvPr/>
        </p:nvSpPr>
        <p:spPr>
          <a:xfrm>
            <a:off x="4536480" y="2562820"/>
            <a:ext cx="2415977"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a:solidFill>
                  <a:srgbClr val="15213F"/>
                </a:solidFill>
                <a:latin typeface="Libre Baskerville" pitchFamily="34" charset="0"/>
                <a:ea typeface="Libre Baskerville" pitchFamily="34" charset="-122"/>
                <a:cs typeface="Libre Baskerville" pitchFamily="34" charset="-120"/>
              </a:rPr>
              <a:t>Churn Rate (95% CI)</a:t>
            </a:r>
            <a:endParaRPr lang="en-US" sz="1833"/>
          </a:p>
        </p:txBody>
      </p:sp>
      <p:sp>
        <p:nvSpPr>
          <p:cNvPr id="11" name="Text 9"/>
          <p:cNvSpPr/>
          <p:nvPr/>
        </p:nvSpPr>
        <p:spPr>
          <a:xfrm>
            <a:off x="4536480" y="2971503"/>
            <a:ext cx="3118942" cy="30241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b="1">
                <a:solidFill>
                  <a:srgbClr val="15213F"/>
                </a:solidFill>
                <a:latin typeface="Source Sans 3" pitchFamily="34" charset="0"/>
                <a:ea typeface="Source Sans 3" pitchFamily="34" charset="-122"/>
                <a:cs typeface="Source Sans 3" pitchFamily="34" charset="-120"/>
              </a:rPr>
              <a:t>19.2% – 36.9%</a:t>
            </a:r>
            <a:endParaRPr lang="en-US" sz="1458"/>
          </a:p>
        </p:txBody>
      </p:sp>
      <p:sp>
        <p:nvSpPr>
          <p:cNvPr id="12" name="Text 10"/>
          <p:cNvSpPr/>
          <p:nvPr/>
        </p:nvSpPr>
        <p:spPr>
          <a:xfrm>
            <a:off x="4536480" y="3387328"/>
            <a:ext cx="3118942" cy="90725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Source Sans 3" pitchFamily="34" charset="0"/>
                <a:ea typeface="Source Sans 3" pitchFamily="34" charset="-122"/>
                <a:cs typeface="Source Sans 3" pitchFamily="34" charset="-120"/>
              </a:rPr>
              <a:t>A wide interval reflecting sample size limits — plan retention budgets for the upper bound.</a:t>
            </a:r>
            <a:endParaRPr lang="en-US" sz="1458"/>
          </a:p>
        </p:txBody>
      </p:sp>
      <p:sp>
        <p:nvSpPr>
          <p:cNvPr id="13" name="Shape 11"/>
          <p:cNvSpPr/>
          <p:nvPr/>
        </p:nvSpPr>
        <p:spPr>
          <a:xfrm>
            <a:off x="8033444" y="2373808"/>
            <a:ext cx="3496965" cy="2412207"/>
          </a:xfrm>
          <a:prstGeom prst="roundRect">
            <a:avLst>
              <a:gd name="adj" fmla="val 1175"/>
            </a:avLst>
          </a:prstGeom>
          <a:solidFill>
            <a:srgbClr val="E9ECF2"/>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14" name="Text 12"/>
          <p:cNvSpPr/>
          <p:nvPr/>
        </p:nvSpPr>
        <p:spPr>
          <a:xfrm>
            <a:off x="8222457" y="2562820"/>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a:solidFill>
                  <a:srgbClr val="15213F"/>
                </a:solidFill>
                <a:latin typeface="Libre Baskerville" pitchFamily="34" charset="0"/>
                <a:ea typeface="Libre Baskerville" pitchFamily="34" charset="-122"/>
                <a:cs typeface="Libre Baskerville" pitchFamily="34" charset="-120"/>
              </a:rPr>
              <a:t>CLT Justification</a:t>
            </a:r>
            <a:endParaRPr lang="en-US" sz="1833"/>
          </a:p>
        </p:txBody>
      </p:sp>
      <p:sp>
        <p:nvSpPr>
          <p:cNvPr id="15" name="Text 13"/>
          <p:cNvSpPr/>
          <p:nvPr/>
        </p:nvSpPr>
        <p:spPr>
          <a:xfrm>
            <a:off x="8222457" y="2971503"/>
            <a:ext cx="3118942" cy="1209675"/>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Source Sans 3" pitchFamily="34" charset="0"/>
                <a:ea typeface="Source Sans 3" pitchFamily="34" charset="-122"/>
                <a:cs typeface="Source Sans 3" pitchFamily="34" charset="-120"/>
              </a:rPr>
              <a:t>With </a:t>
            </a:r>
            <a:r>
              <a:rPr lang="en-US" sz="1458" i="1">
                <a:solidFill>
                  <a:srgbClr val="15213F"/>
                </a:solidFill>
                <a:latin typeface="Source Sans 3" pitchFamily="34" charset="0"/>
                <a:ea typeface="Source Sans 3" pitchFamily="34" charset="-122"/>
                <a:cs typeface="Source Sans 3" pitchFamily="34" charset="-120"/>
              </a:rPr>
              <a:t>n</a:t>
            </a:r>
            <a:r>
              <a:rPr lang="en-US" sz="1458">
                <a:solidFill>
                  <a:srgbClr val="15213F"/>
                </a:solidFill>
                <a:latin typeface="Source Sans 3" pitchFamily="34" charset="0"/>
                <a:ea typeface="Source Sans 3" pitchFamily="34" charset="-122"/>
                <a:cs typeface="Source Sans 3" pitchFamily="34" charset="-120"/>
              </a:rPr>
              <a:t> = 100, the Central Limit Theorem guarantees sampling distributions are approximately normal — validating our normal-based inference.</a:t>
            </a:r>
            <a:endParaRPr lang="en-US" sz="1458"/>
          </a:p>
        </p:txBody>
      </p:sp>
      <p:sp>
        <p:nvSpPr>
          <p:cNvPr id="16" name="Shape 14"/>
          <p:cNvSpPr/>
          <p:nvPr/>
        </p:nvSpPr>
        <p:spPr>
          <a:xfrm>
            <a:off x="661492" y="4998641"/>
            <a:ext cx="9115375" cy="803176"/>
          </a:xfrm>
          <a:prstGeom prst="roundRect">
            <a:avLst>
              <a:gd name="adj" fmla="val 3530"/>
            </a:avLst>
          </a:prstGeom>
          <a:solidFill>
            <a:srgbClr val="FCF2B5"/>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pic>
        <p:nvPicPr>
          <p:cNvPr id="17" name="Image 0" descr="preencoded.png"/>
          <p:cNvPicPr>
            <a:picLocks noChangeAspect="1"/>
          </p:cNvPicPr>
          <p:nvPr/>
        </p:nvPicPr>
        <p:blipFill>
          <a:blip r:embed="rId3"/>
          <a:stretch>
            <a:fillRect/>
          </a:stretch>
        </p:blipFill>
        <p:spPr>
          <a:xfrm>
            <a:off x="850503" y="5272682"/>
            <a:ext cx="236240" cy="189012"/>
          </a:xfrm>
          <a:prstGeom prst="rect">
            <a:avLst/>
          </a:prstGeom>
        </p:spPr>
      </p:pic>
      <p:sp>
        <p:nvSpPr>
          <p:cNvPr id="18" name="Text 15"/>
          <p:cNvSpPr/>
          <p:nvPr/>
        </p:nvSpPr>
        <p:spPr>
          <a:xfrm>
            <a:off x="1223563" y="5234881"/>
            <a:ext cx="8280784" cy="19803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000000"/>
                </a:solidFill>
                <a:latin typeface="Source Sans 3" pitchFamily="34" charset="0"/>
                <a:ea typeface="Source Sans 3" pitchFamily="34" charset="-122"/>
                <a:cs typeface="Source Sans 3" pitchFamily="34" charset="-120"/>
              </a:rPr>
              <a:t>Management implication: Budget retention programs assuming up to 37% churn risk to avoid mid-year shortfalls.</a:t>
            </a:r>
            <a:endParaRPr lang="en-US" sz="1458"/>
          </a:p>
        </p:txBody>
      </p:sp>
    </p:spTree>
    <p:extLst>
      <p:ext uri="{BB962C8B-B14F-4D97-AF65-F5344CB8AC3E}">
        <p14:creationId xmlns:p14="http://schemas.microsoft.com/office/powerpoint/2010/main" val="3500657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BE36-2AE3-5C92-70C7-1E1997267AF3}"/>
              </a:ext>
            </a:extLst>
          </p:cNvPr>
          <p:cNvSpPr>
            <a:spLocks noGrp="1"/>
          </p:cNvSpPr>
          <p:nvPr>
            <p:ph type="title"/>
          </p:nvPr>
        </p:nvSpPr>
        <p:spPr/>
        <p:txBody>
          <a:bodyPr/>
          <a:lstStyle/>
          <a:p>
            <a:r>
              <a:rPr lang="en-US" sz="3700">
                <a:solidFill>
                  <a:srgbClr val="3257B8"/>
                </a:solidFill>
                <a:latin typeface="Libre Baskerville"/>
              </a:rPr>
              <a:t>Histogram of Normal Distribution (Lin)</a:t>
            </a:r>
            <a:endParaRPr lang="en-US"/>
          </a:p>
        </p:txBody>
      </p:sp>
      <p:pic>
        <p:nvPicPr>
          <p:cNvPr id="4" name="Content Placeholder 3" descr="A graph of services distribution with a blue line&#10;&#10;AI-generated content may be incorrect.">
            <a:extLst>
              <a:ext uri="{FF2B5EF4-FFF2-40B4-BE49-F238E27FC236}">
                <a16:creationId xmlns:a16="http://schemas.microsoft.com/office/drawing/2014/main" id="{51E2C154-A6B9-417B-B588-B178CCC090F2}"/>
              </a:ext>
            </a:extLst>
          </p:cNvPr>
          <p:cNvPicPr>
            <a:picLocks noGrp="1" noChangeAspect="1"/>
          </p:cNvPicPr>
          <p:nvPr>
            <p:ph idx="1"/>
          </p:nvPr>
        </p:nvPicPr>
        <p:blipFill>
          <a:blip r:embed="rId3"/>
          <a:stretch>
            <a:fillRect/>
          </a:stretch>
        </p:blipFill>
        <p:spPr>
          <a:xfrm>
            <a:off x="1377863" y="1812794"/>
            <a:ext cx="4070959" cy="2393713"/>
          </a:xfrm>
          <a:prstGeom prst="rect">
            <a:avLst/>
          </a:prstGeom>
        </p:spPr>
      </p:pic>
      <p:pic>
        <p:nvPicPr>
          <p:cNvPr id="5" name="Picture 4" descr="A diagram of a normal distribution&#10;&#10;AI-generated content may be incorrect.">
            <a:extLst>
              <a:ext uri="{FF2B5EF4-FFF2-40B4-BE49-F238E27FC236}">
                <a16:creationId xmlns:a16="http://schemas.microsoft.com/office/drawing/2014/main" id="{EECECF2F-823B-7FEA-4910-7393559E2456}"/>
              </a:ext>
            </a:extLst>
          </p:cNvPr>
          <p:cNvPicPr>
            <a:picLocks noChangeAspect="1"/>
          </p:cNvPicPr>
          <p:nvPr/>
        </p:nvPicPr>
        <p:blipFill>
          <a:blip r:embed="rId4"/>
          <a:stretch>
            <a:fillRect/>
          </a:stretch>
        </p:blipFill>
        <p:spPr>
          <a:xfrm>
            <a:off x="6785259" y="1826058"/>
            <a:ext cx="4279074" cy="2516950"/>
          </a:xfrm>
          <a:prstGeom prst="rect">
            <a:avLst/>
          </a:prstGeom>
        </p:spPr>
      </p:pic>
      <p:pic>
        <p:nvPicPr>
          <p:cNvPr id="6" name="Picture 5" descr="A graph of age distribution with a blue line&#10;&#10;AI-generated content may be incorrect.">
            <a:extLst>
              <a:ext uri="{FF2B5EF4-FFF2-40B4-BE49-F238E27FC236}">
                <a16:creationId xmlns:a16="http://schemas.microsoft.com/office/drawing/2014/main" id="{64662083-6023-B511-EF6B-BD041A0B9BC9}"/>
              </a:ext>
            </a:extLst>
          </p:cNvPr>
          <p:cNvPicPr>
            <a:picLocks noChangeAspect="1"/>
          </p:cNvPicPr>
          <p:nvPr/>
        </p:nvPicPr>
        <p:blipFill>
          <a:blip r:embed="rId5"/>
          <a:stretch>
            <a:fillRect/>
          </a:stretch>
        </p:blipFill>
        <p:spPr>
          <a:xfrm>
            <a:off x="1264998" y="4393895"/>
            <a:ext cx="4129676" cy="2370813"/>
          </a:xfrm>
          <a:prstGeom prst="rect">
            <a:avLst/>
          </a:prstGeom>
        </p:spPr>
      </p:pic>
      <p:pic>
        <p:nvPicPr>
          <p:cNvPr id="7" name="Picture 6" descr="A graph of a normal curve&#10;&#10;AI-generated content may be incorrect.">
            <a:extLst>
              <a:ext uri="{FF2B5EF4-FFF2-40B4-BE49-F238E27FC236}">
                <a16:creationId xmlns:a16="http://schemas.microsoft.com/office/drawing/2014/main" id="{E8EBD23D-2F69-9CCB-0509-440CC3656B37}"/>
              </a:ext>
            </a:extLst>
          </p:cNvPr>
          <p:cNvPicPr>
            <a:picLocks noChangeAspect="1"/>
          </p:cNvPicPr>
          <p:nvPr/>
        </p:nvPicPr>
        <p:blipFill>
          <a:blip r:embed="rId6"/>
          <a:stretch>
            <a:fillRect/>
          </a:stretch>
        </p:blipFill>
        <p:spPr>
          <a:xfrm>
            <a:off x="6785258" y="4344443"/>
            <a:ext cx="4132937" cy="2521908"/>
          </a:xfrm>
          <a:prstGeom prst="rect">
            <a:avLst/>
          </a:prstGeom>
        </p:spPr>
      </p:pic>
    </p:spTree>
    <p:extLst>
      <p:ext uri="{BB962C8B-B14F-4D97-AF65-F5344CB8AC3E}">
        <p14:creationId xmlns:p14="http://schemas.microsoft.com/office/powerpoint/2010/main" val="3153657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61492" y="1735505"/>
            <a:ext cx="3651181" cy="351338"/>
          </a:xfrm>
          <a:prstGeom prst="roundRect">
            <a:avLst>
              <a:gd name="adj" fmla="val 6165"/>
            </a:avLst>
          </a:prstGeom>
          <a:noFill/>
          <a:ln w="7620">
            <a:solidFill>
              <a:srgbClr val="3257B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3" name="Text 1"/>
          <p:cNvSpPr/>
          <p:nvPr/>
        </p:nvSpPr>
        <p:spPr>
          <a:xfrm>
            <a:off x="781249" y="1809552"/>
            <a:ext cx="3019623" cy="24189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167">
                <a:solidFill>
                  <a:srgbClr val="3257B8"/>
                </a:solidFill>
                <a:latin typeface="Source Sans 3" pitchFamily="34" charset="0"/>
                <a:ea typeface="Source Sans 3" pitchFamily="34" charset="-122"/>
                <a:cs typeface="Source Sans 3" pitchFamily="34" charset="-120"/>
              </a:rPr>
              <a:t>MODULE 4: CONFIDENCE &amp; RECOMMENDATIONS</a:t>
            </a:r>
            <a:endParaRPr lang="en-US" sz="1167"/>
          </a:p>
        </p:txBody>
      </p:sp>
      <p:sp>
        <p:nvSpPr>
          <p:cNvPr id="4" name="Text 2"/>
          <p:cNvSpPr/>
          <p:nvPr/>
        </p:nvSpPr>
        <p:spPr>
          <a:xfrm>
            <a:off x="661492" y="2190056"/>
            <a:ext cx="4725492" cy="59064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625"/>
              </a:lnSpc>
              <a:buNone/>
            </a:pPr>
            <a:r>
              <a:rPr lang="en-US" sz="3708">
                <a:solidFill>
                  <a:srgbClr val="3257B8"/>
                </a:solidFill>
                <a:latin typeface="Libre Baskerville" pitchFamily="34" charset="0"/>
                <a:ea typeface="Libre Baskerville" pitchFamily="34" charset="-122"/>
                <a:cs typeface="Libre Baskerville" pitchFamily="34" charset="-120"/>
              </a:rPr>
              <a:t>Key Findings (Lin)</a:t>
            </a:r>
            <a:endParaRPr lang="en-US" sz="3708"/>
          </a:p>
        </p:txBody>
      </p:sp>
      <p:sp>
        <p:nvSpPr>
          <p:cNvPr id="5" name="Shape 3"/>
          <p:cNvSpPr/>
          <p:nvPr/>
        </p:nvSpPr>
        <p:spPr>
          <a:xfrm>
            <a:off x="661492" y="3064173"/>
            <a:ext cx="3496965" cy="2047181"/>
          </a:xfrm>
          <a:prstGeom prst="roundRect">
            <a:avLst>
              <a:gd name="adj" fmla="val 1385"/>
            </a:avLst>
          </a:prstGeom>
          <a:solidFill>
            <a:srgbClr val="FBFCFE"/>
          </a:solidFill>
          <a:ln w="30480">
            <a:solidFill>
              <a:srgbClr val="CFD2D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6" name="Text 4"/>
          <p:cNvSpPr/>
          <p:nvPr/>
        </p:nvSpPr>
        <p:spPr>
          <a:xfrm>
            <a:off x="875904" y="3278584"/>
            <a:ext cx="2539008"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a:solidFill>
                  <a:srgbClr val="15213F"/>
                </a:solidFill>
                <a:latin typeface="Libre Baskerville" pitchFamily="34" charset="0"/>
                <a:ea typeface="Libre Baskerville" pitchFamily="34" charset="-122"/>
                <a:cs typeface="Libre Baskerville" pitchFamily="34" charset="-120"/>
              </a:rPr>
              <a:t>Critical Danger Zone</a:t>
            </a:r>
            <a:endParaRPr lang="en-US" sz="1833"/>
          </a:p>
        </p:txBody>
      </p:sp>
      <p:sp>
        <p:nvSpPr>
          <p:cNvPr id="7" name="Text 5"/>
          <p:cNvSpPr/>
          <p:nvPr/>
        </p:nvSpPr>
        <p:spPr>
          <a:xfrm>
            <a:off x="875903" y="3687267"/>
            <a:ext cx="3068142" cy="1209675"/>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Source Sans 3" pitchFamily="34" charset="0"/>
                <a:ea typeface="Source Sans 3" pitchFamily="34" charset="-122"/>
                <a:cs typeface="Source Sans 3" pitchFamily="34" charset="-120"/>
              </a:rPr>
              <a:t>Churn peaks between </a:t>
            </a:r>
            <a:r>
              <a:rPr lang="en-US" sz="1458" b="1">
                <a:solidFill>
                  <a:srgbClr val="15213F"/>
                </a:solidFill>
                <a:latin typeface="Source Sans 3" pitchFamily="34" charset="0"/>
                <a:ea typeface="Source Sans 3" pitchFamily="34" charset="-122"/>
                <a:cs typeface="Source Sans 3" pitchFamily="34" charset="-120"/>
              </a:rPr>
              <a:t>months 6–10</a:t>
            </a:r>
            <a:r>
              <a:rPr lang="en-US" sz="1458">
                <a:solidFill>
                  <a:srgbClr val="15213F"/>
                </a:solidFill>
                <a:latin typeface="Source Sans 3" pitchFamily="34" charset="0"/>
                <a:ea typeface="Source Sans 3" pitchFamily="34" charset="-122"/>
                <a:cs typeface="Source Sans 3" pitchFamily="34" charset="-120"/>
              </a:rPr>
              <a:t>. New customers need targeted intervention before this window closes.</a:t>
            </a:r>
            <a:endParaRPr lang="en-US" sz="1458"/>
          </a:p>
        </p:txBody>
      </p:sp>
      <p:sp>
        <p:nvSpPr>
          <p:cNvPr id="8" name="Shape 6"/>
          <p:cNvSpPr/>
          <p:nvPr/>
        </p:nvSpPr>
        <p:spPr>
          <a:xfrm>
            <a:off x="4347468" y="3064173"/>
            <a:ext cx="3496965" cy="2047181"/>
          </a:xfrm>
          <a:prstGeom prst="roundRect">
            <a:avLst>
              <a:gd name="adj" fmla="val 1385"/>
            </a:avLst>
          </a:prstGeom>
          <a:solidFill>
            <a:srgbClr val="FBFCFE"/>
          </a:solidFill>
          <a:ln w="30480">
            <a:solidFill>
              <a:srgbClr val="CFD2D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9" name="Text 7"/>
          <p:cNvSpPr/>
          <p:nvPr/>
        </p:nvSpPr>
        <p:spPr>
          <a:xfrm>
            <a:off x="4561880" y="3278584"/>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a:solidFill>
                  <a:srgbClr val="15213F"/>
                </a:solidFill>
                <a:latin typeface="Libre Baskerville" pitchFamily="34" charset="0"/>
                <a:ea typeface="Libre Baskerville" pitchFamily="34" charset="-122"/>
                <a:cs typeface="Libre Baskerville" pitchFamily="34" charset="-120"/>
              </a:rPr>
              <a:t>Age Matters</a:t>
            </a:r>
            <a:endParaRPr lang="en-US" sz="1833"/>
          </a:p>
        </p:txBody>
      </p:sp>
      <p:sp>
        <p:nvSpPr>
          <p:cNvPr id="10" name="Text 8"/>
          <p:cNvSpPr/>
          <p:nvPr/>
        </p:nvSpPr>
        <p:spPr>
          <a:xfrm>
            <a:off x="4561880" y="3687267"/>
            <a:ext cx="3068142" cy="1209675"/>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Source Sans 3" pitchFamily="34" charset="0"/>
                <a:ea typeface="Source Sans 3" pitchFamily="34" charset="-122"/>
                <a:cs typeface="Source Sans 3" pitchFamily="34" charset="-120"/>
              </a:rPr>
              <a:t>Churners average </a:t>
            </a:r>
            <a:r>
              <a:rPr lang="en-US" sz="1458" b="1">
                <a:solidFill>
                  <a:srgbClr val="15213F"/>
                </a:solidFill>
                <a:latin typeface="Source Sans 3" pitchFamily="34" charset="0"/>
                <a:ea typeface="Source Sans 3" pitchFamily="34" charset="-122"/>
                <a:cs typeface="Source Sans 3" pitchFamily="34" charset="-120"/>
              </a:rPr>
              <a:t>27 years old</a:t>
            </a:r>
            <a:r>
              <a:rPr lang="en-US" sz="1458">
                <a:solidFill>
                  <a:srgbClr val="15213F"/>
                </a:solidFill>
                <a:latin typeface="Source Sans 3" pitchFamily="34" charset="0"/>
                <a:ea typeface="Source Sans 3" pitchFamily="34" charset="-122"/>
                <a:cs typeface="Source Sans 3" pitchFamily="34" charset="-120"/>
              </a:rPr>
              <a:t>; retained customers average </a:t>
            </a:r>
            <a:r>
              <a:rPr lang="en-US" sz="1458" b="1">
                <a:solidFill>
                  <a:srgbClr val="15213F"/>
                </a:solidFill>
                <a:latin typeface="Source Sans 3" pitchFamily="34" charset="0"/>
                <a:ea typeface="Source Sans 3" pitchFamily="34" charset="-122"/>
                <a:cs typeface="Source Sans 3" pitchFamily="34" charset="-120"/>
              </a:rPr>
              <a:t>47</a:t>
            </a:r>
            <a:r>
              <a:rPr lang="en-US" sz="1458">
                <a:solidFill>
                  <a:srgbClr val="15213F"/>
                </a:solidFill>
                <a:latin typeface="Source Sans 3" pitchFamily="34" charset="0"/>
                <a:ea typeface="Source Sans 3" pitchFamily="34" charset="-122"/>
                <a:cs typeface="Source Sans 3" pitchFamily="34" charset="-120"/>
              </a:rPr>
              <a:t>. Younger segments demand different engagement strategies.</a:t>
            </a:r>
            <a:endParaRPr lang="en-US" sz="1458"/>
          </a:p>
        </p:txBody>
      </p:sp>
      <p:sp>
        <p:nvSpPr>
          <p:cNvPr id="11" name="Shape 9"/>
          <p:cNvSpPr/>
          <p:nvPr/>
        </p:nvSpPr>
        <p:spPr>
          <a:xfrm>
            <a:off x="8033444" y="3064173"/>
            <a:ext cx="3496965" cy="2047181"/>
          </a:xfrm>
          <a:prstGeom prst="roundRect">
            <a:avLst>
              <a:gd name="adj" fmla="val 1385"/>
            </a:avLst>
          </a:prstGeom>
          <a:solidFill>
            <a:srgbClr val="FBFCFE"/>
          </a:solidFill>
          <a:ln w="30480">
            <a:solidFill>
              <a:srgbClr val="CFD2D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12" name="Text 10"/>
          <p:cNvSpPr/>
          <p:nvPr/>
        </p:nvSpPr>
        <p:spPr>
          <a:xfrm>
            <a:off x="8247856" y="3278584"/>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a:solidFill>
                  <a:srgbClr val="15213F"/>
                </a:solidFill>
                <a:latin typeface="Libre Baskerville" pitchFamily="34" charset="0"/>
                <a:ea typeface="Libre Baskerville" pitchFamily="34" charset="-122"/>
                <a:cs typeface="Libre Baskerville" pitchFamily="34" charset="-120"/>
              </a:rPr>
              <a:t>The Safety Zone</a:t>
            </a:r>
            <a:endParaRPr lang="en-US" sz="1833"/>
          </a:p>
        </p:txBody>
      </p:sp>
      <p:sp>
        <p:nvSpPr>
          <p:cNvPr id="13" name="Text 11"/>
          <p:cNvSpPr/>
          <p:nvPr/>
        </p:nvSpPr>
        <p:spPr>
          <a:xfrm>
            <a:off x="8247856" y="3687267"/>
            <a:ext cx="3068142" cy="90725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Source Sans 3" pitchFamily="34" charset="0"/>
                <a:ea typeface="Source Sans 3" pitchFamily="34" charset="-122"/>
                <a:cs typeface="Source Sans 3" pitchFamily="34" charset="-120"/>
              </a:rPr>
              <a:t>Customers with </a:t>
            </a:r>
            <a:r>
              <a:rPr lang="en-US" sz="1458" b="1">
                <a:solidFill>
                  <a:srgbClr val="15213F"/>
                </a:solidFill>
                <a:latin typeface="Source Sans 3" pitchFamily="34" charset="0"/>
                <a:ea typeface="Source Sans 3" pitchFamily="34" charset="-122"/>
                <a:cs typeface="Source Sans 3" pitchFamily="34" charset="-120"/>
              </a:rPr>
              <a:t>4+ services show 0% churn</a:t>
            </a:r>
            <a:r>
              <a:rPr lang="en-US" sz="1458">
                <a:solidFill>
                  <a:srgbClr val="15213F"/>
                </a:solidFill>
                <a:latin typeface="Source Sans 3" pitchFamily="34" charset="0"/>
                <a:ea typeface="Source Sans 3" pitchFamily="34" charset="-122"/>
                <a:cs typeface="Source Sans 3" pitchFamily="34" charset="-120"/>
              </a:rPr>
              <a:t>. High engagement is the strongest predictor of loyalty.</a:t>
            </a:r>
            <a:endParaRPr lang="en-US" sz="1458"/>
          </a:p>
        </p:txBody>
      </p:sp>
    </p:spTree>
    <p:extLst>
      <p:ext uri="{BB962C8B-B14F-4D97-AF65-F5344CB8AC3E}">
        <p14:creationId xmlns:p14="http://schemas.microsoft.com/office/powerpoint/2010/main" val="1652124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77449" y="1247106"/>
            <a:ext cx="3419268" cy="301643"/>
          </a:xfrm>
          <a:prstGeom prst="roundRect">
            <a:avLst>
              <a:gd name="adj" fmla="val 6165"/>
            </a:avLst>
          </a:prstGeom>
          <a:noFill/>
          <a:ln w="7620">
            <a:solidFill>
              <a:srgbClr val="3257B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3" name="Text 1"/>
          <p:cNvSpPr/>
          <p:nvPr/>
        </p:nvSpPr>
        <p:spPr>
          <a:xfrm>
            <a:off x="781249" y="1282502"/>
            <a:ext cx="3019623" cy="24189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167">
                <a:solidFill>
                  <a:srgbClr val="3257B8"/>
                </a:solidFill>
                <a:latin typeface="Source Sans 3" pitchFamily="34" charset="0"/>
                <a:ea typeface="Source Sans 3" pitchFamily="34" charset="-122"/>
                <a:cs typeface="Source Sans 3" pitchFamily="34" charset="-120"/>
              </a:rPr>
              <a:t>MODULE 4: CONFIDENCE &amp; RECOMMENDATIONS</a:t>
            </a:r>
            <a:endParaRPr lang="en-US" sz="1167"/>
          </a:p>
        </p:txBody>
      </p:sp>
      <p:sp>
        <p:nvSpPr>
          <p:cNvPr id="4" name="Text 2"/>
          <p:cNvSpPr/>
          <p:nvPr/>
        </p:nvSpPr>
        <p:spPr>
          <a:xfrm>
            <a:off x="661492" y="1663006"/>
            <a:ext cx="8757940" cy="59064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625"/>
              </a:lnSpc>
              <a:buNone/>
            </a:pPr>
            <a:r>
              <a:rPr lang="en-US" sz="3708">
                <a:solidFill>
                  <a:srgbClr val="3257B8"/>
                </a:solidFill>
                <a:latin typeface="Libre Baskerville" pitchFamily="34" charset="0"/>
                <a:ea typeface="Libre Baskerville" pitchFamily="34" charset="-122"/>
                <a:cs typeface="Libre Baskerville" pitchFamily="34" charset="-120"/>
              </a:rPr>
              <a:t>Business Recommendations (Logan)</a:t>
            </a:r>
            <a:endParaRPr lang="en-US" sz="3708"/>
          </a:p>
        </p:txBody>
      </p:sp>
      <p:sp>
        <p:nvSpPr>
          <p:cNvPr id="5" name="Text 3"/>
          <p:cNvSpPr/>
          <p:nvPr/>
        </p:nvSpPr>
        <p:spPr>
          <a:xfrm>
            <a:off x="661492" y="2537123"/>
            <a:ext cx="378023" cy="23624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Libre Baskerville Light" pitchFamily="34" charset="0"/>
                <a:ea typeface="Libre Baskerville Light" pitchFamily="34" charset="-122"/>
                <a:cs typeface="Libre Baskerville Light" pitchFamily="34" charset="-120"/>
              </a:rPr>
              <a:t>01</a:t>
            </a:r>
            <a:endParaRPr lang="en-US" sz="1458"/>
          </a:p>
        </p:txBody>
      </p:sp>
      <p:pic>
        <p:nvPicPr>
          <p:cNvPr id="6" name="Image 0" descr="preencoded.png"/>
          <p:cNvPicPr>
            <a:picLocks noChangeAspect="1"/>
          </p:cNvPicPr>
          <p:nvPr/>
        </p:nvPicPr>
        <p:blipFill>
          <a:blip r:embed="rId3"/>
          <a:stretch>
            <a:fillRect/>
          </a:stretch>
        </p:blipFill>
        <p:spPr>
          <a:xfrm>
            <a:off x="661492" y="2832993"/>
            <a:ext cx="3496965" cy="25400"/>
          </a:xfrm>
          <a:prstGeom prst="rect">
            <a:avLst/>
          </a:prstGeom>
        </p:spPr>
      </p:pic>
      <p:sp>
        <p:nvSpPr>
          <p:cNvPr id="7" name="Text 4"/>
          <p:cNvSpPr/>
          <p:nvPr/>
        </p:nvSpPr>
        <p:spPr>
          <a:xfrm>
            <a:off x="661492" y="2978249"/>
            <a:ext cx="3496965" cy="59055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00">
                <a:solidFill>
                  <a:srgbClr val="15213F"/>
                </a:solidFill>
                <a:latin typeface="Libre Baskerville"/>
                <a:ea typeface="Libre Baskerville" pitchFamily="34" charset="-122"/>
                <a:cs typeface="Libre Baskerville" pitchFamily="34" charset="-120"/>
              </a:rPr>
              <a:t>Early Intervention (&lt;12 Months)</a:t>
            </a:r>
            <a:endParaRPr lang="en-US" sz="1800">
              <a:latin typeface="Libre Baskerville"/>
            </a:endParaRPr>
          </a:p>
        </p:txBody>
      </p:sp>
      <p:sp>
        <p:nvSpPr>
          <p:cNvPr id="8" name="Text 5"/>
          <p:cNvSpPr/>
          <p:nvPr/>
        </p:nvSpPr>
        <p:spPr>
          <a:xfrm>
            <a:off x="661492" y="3682207"/>
            <a:ext cx="3496965" cy="1512094"/>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0" b="1">
                <a:solidFill>
                  <a:srgbClr val="15213F"/>
                </a:solidFill>
                <a:latin typeface="Source Sans 3"/>
                <a:ea typeface="Source Sans 3" pitchFamily="34" charset="-122"/>
                <a:cs typeface="Source Sans 3" pitchFamily="34" charset="-120"/>
              </a:rPr>
              <a:t>Who:</a:t>
            </a:r>
            <a:r>
              <a:rPr lang="en-US" sz="1450">
                <a:solidFill>
                  <a:srgbClr val="15213F"/>
                </a:solidFill>
                <a:latin typeface="Source Sans 3"/>
                <a:ea typeface="Source Sans 3" pitchFamily="34" charset="-122"/>
                <a:cs typeface="Source Sans 3" pitchFamily="34" charset="-120"/>
              </a:rPr>
              <a:t> Marketing team · </a:t>
            </a:r>
            <a:r>
              <a:rPr lang="en-US" sz="1450" b="1">
                <a:solidFill>
                  <a:srgbClr val="15213F"/>
                </a:solidFill>
                <a:latin typeface="Source Sans 3"/>
                <a:ea typeface="Source Sans 3" pitchFamily="34" charset="-122"/>
                <a:cs typeface="Source Sans 3" pitchFamily="34" charset="-120"/>
              </a:rPr>
              <a:t>When:</a:t>
            </a:r>
            <a:r>
              <a:rPr lang="en-US" sz="1450">
                <a:solidFill>
                  <a:srgbClr val="15213F"/>
                </a:solidFill>
                <a:latin typeface="Source Sans 3"/>
                <a:ea typeface="Source Sans 3" pitchFamily="34" charset="-122"/>
                <a:cs typeface="Source Sans 3" pitchFamily="34" charset="-120"/>
              </a:rPr>
              <a:t> Month 3 </a:t>
            </a:r>
            <a:endParaRPr lang="en-US" sz="1450">
              <a:solidFill>
                <a:srgbClr val="15213F"/>
              </a:solidFill>
              <a:latin typeface="Source Sans 3"/>
            </a:endParaRPr>
          </a:p>
          <a:p>
            <a:pPr>
              <a:lnSpc>
                <a:spcPts val="2375"/>
              </a:lnSpc>
            </a:pPr>
            <a:r>
              <a:rPr lang="en-US" sz="1450">
                <a:solidFill>
                  <a:srgbClr val="15213F"/>
                </a:solidFill>
                <a:latin typeface="Source Sans 3"/>
                <a:ea typeface="Source Sans 3"/>
                <a:cs typeface="Source Sans 3" pitchFamily="34" charset="-120"/>
              </a:rPr>
              <a:t>Check-ins for new customers is imperative to determine customer satisfaction. </a:t>
            </a:r>
            <a:endParaRPr lang="en-US" sz="1450">
              <a:solidFill>
                <a:srgbClr val="15213F"/>
              </a:solidFill>
              <a:latin typeface="Source Sans 3"/>
            </a:endParaRPr>
          </a:p>
        </p:txBody>
      </p:sp>
      <p:sp>
        <p:nvSpPr>
          <p:cNvPr id="9" name="Text 6"/>
          <p:cNvSpPr/>
          <p:nvPr/>
        </p:nvSpPr>
        <p:spPr>
          <a:xfrm>
            <a:off x="4347469" y="2537123"/>
            <a:ext cx="378023" cy="23624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Libre Baskerville Light" pitchFamily="34" charset="0"/>
                <a:ea typeface="Libre Baskerville Light" pitchFamily="34" charset="-122"/>
                <a:cs typeface="Libre Baskerville Light" pitchFamily="34" charset="-120"/>
              </a:rPr>
              <a:t>02</a:t>
            </a:r>
            <a:endParaRPr lang="en-US" sz="1458"/>
          </a:p>
        </p:txBody>
      </p:sp>
      <p:pic>
        <p:nvPicPr>
          <p:cNvPr id="10" name="Image 1" descr="preencoded.png"/>
          <p:cNvPicPr>
            <a:picLocks noChangeAspect="1"/>
          </p:cNvPicPr>
          <p:nvPr/>
        </p:nvPicPr>
        <p:blipFill>
          <a:blip r:embed="rId3"/>
          <a:stretch>
            <a:fillRect/>
          </a:stretch>
        </p:blipFill>
        <p:spPr>
          <a:xfrm>
            <a:off x="4347468" y="2832993"/>
            <a:ext cx="3496965" cy="25400"/>
          </a:xfrm>
          <a:prstGeom prst="rect">
            <a:avLst/>
          </a:prstGeom>
        </p:spPr>
      </p:pic>
      <p:sp>
        <p:nvSpPr>
          <p:cNvPr id="11" name="Text 7"/>
          <p:cNvSpPr/>
          <p:nvPr/>
        </p:nvSpPr>
        <p:spPr>
          <a:xfrm>
            <a:off x="4347468" y="2978249"/>
            <a:ext cx="3496965" cy="59055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2292"/>
              </a:lnSpc>
            </a:pPr>
            <a:r>
              <a:rPr lang="en-US" sz="1800">
                <a:solidFill>
                  <a:srgbClr val="15213F"/>
                </a:solidFill>
                <a:latin typeface="Libre Baskerville"/>
              </a:rPr>
              <a:t>Lock in Customers Into 4+ Services</a:t>
            </a:r>
          </a:p>
        </p:txBody>
      </p:sp>
      <p:sp>
        <p:nvSpPr>
          <p:cNvPr id="12" name="Text 8"/>
          <p:cNvSpPr/>
          <p:nvPr/>
        </p:nvSpPr>
        <p:spPr>
          <a:xfrm>
            <a:off x="4347468" y="3682207"/>
            <a:ext cx="3496965" cy="1512094"/>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0" b="1">
                <a:solidFill>
                  <a:srgbClr val="15213F"/>
                </a:solidFill>
                <a:latin typeface="Source Sans 3" pitchFamily="34" charset="0"/>
                <a:ea typeface="Source Sans 3"/>
                <a:cs typeface="Source Sans 3" pitchFamily="34" charset="-120"/>
              </a:rPr>
              <a:t>Who:</a:t>
            </a:r>
            <a:r>
              <a:rPr lang="en-US" sz="1450">
                <a:solidFill>
                  <a:srgbClr val="15213F"/>
                </a:solidFill>
                <a:latin typeface="Source Sans 3" pitchFamily="34" charset="0"/>
                <a:ea typeface="Source Sans 3"/>
                <a:cs typeface="Source Sans 3" pitchFamily="34" charset="-120"/>
              </a:rPr>
              <a:t> Sales &amp; CX teams · </a:t>
            </a:r>
            <a:r>
              <a:rPr lang="en-US" sz="1450" b="1">
                <a:solidFill>
                  <a:srgbClr val="15213F"/>
                </a:solidFill>
                <a:latin typeface="Source Sans 3" pitchFamily="34" charset="0"/>
                <a:ea typeface="Source Sans 3"/>
                <a:cs typeface="Source Sans 3" pitchFamily="34" charset="-120"/>
              </a:rPr>
              <a:t>When:</a:t>
            </a:r>
            <a:r>
              <a:rPr lang="en-US" sz="1450">
                <a:solidFill>
                  <a:srgbClr val="15213F"/>
                </a:solidFill>
                <a:latin typeface="Source Sans 3" pitchFamily="34" charset="0"/>
                <a:ea typeface="Source Sans 3"/>
                <a:cs typeface="Source Sans 3" pitchFamily="34" charset="-120"/>
              </a:rPr>
              <a:t> Quarterly account reviews</a:t>
            </a:r>
            <a:endParaRPr lang="en-US" sz="1450">
              <a:ea typeface="Source Sans 3"/>
            </a:endParaRPr>
          </a:p>
          <a:p>
            <a:pPr>
              <a:lnSpc>
                <a:spcPts val="2375"/>
              </a:lnSpc>
            </a:pPr>
            <a:r>
              <a:rPr lang="en-US" sz="1450">
                <a:solidFill>
                  <a:srgbClr val="15213F"/>
                </a:solidFill>
                <a:latin typeface="Source Sans 3"/>
                <a:ea typeface="Source Sans 3"/>
                <a:cs typeface="Source Sans 3" pitchFamily="34" charset="-120"/>
              </a:rPr>
              <a:t>Persuade customers to subscribe to higher bundles for a smaller churn rate. </a:t>
            </a:r>
            <a:endParaRPr lang="en-US" sz="1450">
              <a:solidFill>
                <a:srgbClr val="15213F"/>
              </a:solidFill>
              <a:latin typeface="Source Sans 3"/>
              <a:ea typeface="Source Sans 3"/>
            </a:endParaRPr>
          </a:p>
        </p:txBody>
      </p:sp>
      <p:sp>
        <p:nvSpPr>
          <p:cNvPr id="13" name="Text 9"/>
          <p:cNvSpPr/>
          <p:nvPr/>
        </p:nvSpPr>
        <p:spPr>
          <a:xfrm>
            <a:off x="8033444" y="2537123"/>
            <a:ext cx="378023" cy="23624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a:solidFill>
                  <a:srgbClr val="15213F"/>
                </a:solidFill>
                <a:latin typeface="Libre Baskerville Light" pitchFamily="34" charset="0"/>
                <a:ea typeface="Libre Baskerville Light" pitchFamily="34" charset="-122"/>
                <a:cs typeface="Libre Baskerville Light" pitchFamily="34" charset="-120"/>
              </a:rPr>
              <a:t>03</a:t>
            </a:r>
            <a:endParaRPr lang="en-US" sz="1458"/>
          </a:p>
        </p:txBody>
      </p:sp>
      <p:pic>
        <p:nvPicPr>
          <p:cNvPr id="14" name="Image 2" descr="preencoded.png"/>
          <p:cNvPicPr>
            <a:picLocks noChangeAspect="1"/>
          </p:cNvPicPr>
          <p:nvPr/>
        </p:nvPicPr>
        <p:blipFill>
          <a:blip r:embed="rId3"/>
          <a:stretch>
            <a:fillRect/>
          </a:stretch>
        </p:blipFill>
        <p:spPr>
          <a:xfrm>
            <a:off x="8033444" y="2832993"/>
            <a:ext cx="3496965" cy="25400"/>
          </a:xfrm>
          <a:prstGeom prst="rect">
            <a:avLst/>
          </a:prstGeom>
        </p:spPr>
      </p:pic>
      <p:sp>
        <p:nvSpPr>
          <p:cNvPr id="15" name="Text 10"/>
          <p:cNvSpPr/>
          <p:nvPr/>
        </p:nvSpPr>
        <p:spPr>
          <a:xfrm>
            <a:off x="8033444" y="2978249"/>
            <a:ext cx="3496965" cy="59055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00">
                <a:solidFill>
                  <a:srgbClr val="15213F"/>
                </a:solidFill>
                <a:latin typeface="Libre Baskerville"/>
                <a:ea typeface="Libre Baskerville" pitchFamily="34" charset="-122"/>
                <a:cs typeface="Libre Baskerville" pitchFamily="34" charset="-120"/>
              </a:rPr>
              <a:t>Age-Specific Campaigns for Under-30</a:t>
            </a:r>
            <a:endParaRPr lang="en-US" sz="1833"/>
          </a:p>
        </p:txBody>
      </p:sp>
      <p:sp>
        <p:nvSpPr>
          <p:cNvPr id="16" name="Text 11"/>
          <p:cNvSpPr/>
          <p:nvPr/>
        </p:nvSpPr>
        <p:spPr>
          <a:xfrm>
            <a:off x="8033444" y="3682207"/>
            <a:ext cx="3496965" cy="1814513"/>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0" b="1">
                <a:solidFill>
                  <a:srgbClr val="15213F"/>
                </a:solidFill>
                <a:latin typeface="Source Sans 3" pitchFamily="34" charset="0"/>
                <a:ea typeface="Source Sans 3"/>
                <a:cs typeface="Source Sans 3" pitchFamily="34" charset="-120"/>
              </a:rPr>
              <a:t>Who:</a:t>
            </a:r>
            <a:r>
              <a:rPr lang="en-US" sz="1450">
                <a:solidFill>
                  <a:srgbClr val="15213F"/>
                </a:solidFill>
                <a:latin typeface="Source Sans 3" pitchFamily="34" charset="0"/>
                <a:ea typeface="Source Sans 3"/>
                <a:cs typeface="Source Sans 3" pitchFamily="34" charset="-120"/>
              </a:rPr>
              <a:t> Digital marketing · </a:t>
            </a:r>
            <a:r>
              <a:rPr lang="en-US" sz="1450" b="1">
                <a:solidFill>
                  <a:srgbClr val="15213F"/>
                </a:solidFill>
                <a:latin typeface="Source Sans 3" pitchFamily="34" charset="0"/>
                <a:ea typeface="Source Sans 3"/>
                <a:cs typeface="Source Sans 3" pitchFamily="34" charset="-120"/>
              </a:rPr>
              <a:t>When:</a:t>
            </a:r>
            <a:r>
              <a:rPr lang="en-US" sz="1450">
                <a:solidFill>
                  <a:srgbClr val="15213F"/>
                </a:solidFill>
                <a:latin typeface="Source Sans 3" pitchFamily="34" charset="0"/>
                <a:ea typeface="Source Sans 3"/>
                <a:cs typeface="Source Sans 3" pitchFamily="34" charset="-120"/>
              </a:rPr>
              <a:t> Continuous, social-first channels</a:t>
            </a:r>
            <a:endParaRPr lang="en-US" sz="1450">
              <a:ea typeface="Source Sans 3"/>
            </a:endParaRPr>
          </a:p>
          <a:p>
            <a:pPr>
              <a:lnSpc>
                <a:spcPts val="2375"/>
              </a:lnSpc>
            </a:pPr>
            <a:r>
              <a:rPr lang="en-US" sz="1450">
                <a:solidFill>
                  <a:srgbClr val="15213F"/>
                </a:solidFill>
                <a:latin typeface="Source Sans 3"/>
                <a:ea typeface="Source Sans 3"/>
                <a:cs typeface="Source Sans 3" pitchFamily="34" charset="-120"/>
              </a:rPr>
              <a:t>Attract and keep viewers under 30 years old. </a:t>
            </a:r>
            <a:endParaRPr lang="en-US" sz="1450">
              <a:solidFill>
                <a:srgbClr val="15213F"/>
              </a:solidFill>
              <a:latin typeface="Source Sans 3"/>
              <a:ea typeface="Source Sans 3"/>
            </a:endParaRPr>
          </a:p>
        </p:txBody>
      </p:sp>
    </p:spTree>
    <p:extLst>
      <p:ext uri="{BB962C8B-B14F-4D97-AF65-F5344CB8AC3E}">
        <p14:creationId xmlns:p14="http://schemas.microsoft.com/office/powerpoint/2010/main" val="4028430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62940" y="552773"/>
            <a:ext cx="3432930" cy="286760"/>
          </a:xfrm>
          <a:prstGeom prst="roundRect">
            <a:avLst>
              <a:gd name="adj" fmla="val 6225"/>
            </a:avLst>
          </a:prstGeom>
          <a:noFill/>
          <a:ln w="7620">
            <a:solidFill>
              <a:srgbClr val="3257B8"/>
            </a:solidFill>
            <a:prstDash val="solid"/>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3" name="Text 1"/>
          <p:cNvSpPr/>
          <p:nvPr/>
        </p:nvSpPr>
        <p:spPr>
          <a:xfrm>
            <a:off x="757039" y="586383"/>
            <a:ext cx="2924473" cy="23058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92"/>
              </a:lnSpc>
              <a:buNone/>
            </a:pPr>
            <a:r>
              <a:rPr lang="en-US" sz="1125">
                <a:solidFill>
                  <a:srgbClr val="3257B8"/>
                </a:solidFill>
                <a:latin typeface="Source Sans 3" pitchFamily="34" charset="0"/>
                <a:ea typeface="Source Sans 3" pitchFamily="34" charset="-122"/>
                <a:cs typeface="Source Sans 3" pitchFamily="34" charset="-120"/>
              </a:rPr>
              <a:t>MODULE 4: CONFIDENCE &amp; RECOMMENDATIONS</a:t>
            </a:r>
            <a:endParaRPr lang="en-US" sz="1125"/>
          </a:p>
        </p:txBody>
      </p:sp>
      <p:sp>
        <p:nvSpPr>
          <p:cNvPr id="4" name="Text 2"/>
          <p:cNvSpPr/>
          <p:nvPr/>
        </p:nvSpPr>
        <p:spPr>
          <a:xfrm>
            <a:off x="3807024" y="949127"/>
            <a:ext cx="4577854" cy="5721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4500"/>
              </a:lnSpc>
              <a:buNone/>
            </a:pPr>
            <a:r>
              <a:rPr lang="en-US" sz="3583">
                <a:solidFill>
                  <a:srgbClr val="3257B8"/>
                </a:solidFill>
                <a:latin typeface="Libre Baskerville" pitchFamily="34" charset="0"/>
                <a:ea typeface="Libre Baskerville" pitchFamily="34" charset="-122"/>
                <a:cs typeface="Libre Baskerville" pitchFamily="34" charset="-120"/>
              </a:rPr>
              <a:t>Limitations (Lin)</a:t>
            </a:r>
            <a:endParaRPr lang="en-US" sz="3583"/>
          </a:p>
        </p:txBody>
      </p:sp>
      <p:pic>
        <p:nvPicPr>
          <p:cNvPr id="5" name="Image 0" descr="preencoded.png"/>
          <p:cNvPicPr>
            <a:picLocks noChangeAspect="1"/>
          </p:cNvPicPr>
          <p:nvPr/>
        </p:nvPicPr>
        <p:blipFill>
          <a:blip r:embed="rId3"/>
          <a:stretch>
            <a:fillRect/>
          </a:stretch>
        </p:blipFill>
        <p:spPr>
          <a:xfrm>
            <a:off x="640854" y="1884561"/>
            <a:ext cx="91480" cy="91480"/>
          </a:xfrm>
          <a:prstGeom prst="rect">
            <a:avLst/>
          </a:prstGeom>
        </p:spPr>
      </p:pic>
      <p:sp>
        <p:nvSpPr>
          <p:cNvPr id="6" name="Text 3"/>
          <p:cNvSpPr/>
          <p:nvPr/>
        </p:nvSpPr>
        <p:spPr>
          <a:xfrm>
            <a:off x="909638" y="1787327"/>
            <a:ext cx="2288878" cy="28604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792">
                <a:solidFill>
                  <a:srgbClr val="15213F"/>
                </a:solidFill>
                <a:latin typeface="Libre Baskerville" pitchFamily="34" charset="0"/>
                <a:ea typeface="Libre Baskerville" pitchFamily="34" charset="-122"/>
                <a:cs typeface="Libre Baskerville" pitchFamily="34" charset="-120"/>
              </a:rPr>
              <a:t>Simulated Data</a:t>
            </a:r>
            <a:endParaRPr lang="en-US" sz="1792"/>
          </a:p>
        </p:txBody>
      </p:sp>
      <p:sp>
        <p:nvSpPr>
          <p:cNvPr id="7" name="Text 4"/>
          <p:cNvSpPr/>
          <p:nvPr/>
        </p:nvSpPr>
        <p:spPr>
          <a:xfrm>
            <a:off x="909638" y="2179737"/>
            <a:ext cx="3220144" cy="86528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417">
                <a:solidFill>
                  <a:srgbClr val="15213F"/>
                </a:solidFill>
                <a:latin typeface="Source Sans 3" pitchFamily="34" charset="0"/>
                <a:ea typeface="Source Sans 3" pitchFamily="34" charset="-122"/>
                <a:cs typeface="Source Sans 3" pitchFamily="34" charset="-120"/>
              </a:rPr>
              <a:t>100 clean rows leave out real-world noise such as missing values, data-entry errors, and edge cases.</a:t>
            </a:r>
            <a:endParaRPr lang="en-US" sz="1417"/>
          </a:p>
        </p:txBody>
      </p:sp>
      <p:pic>
        <p:nvPicPr>
          <p:cNvPr id="8" name="Image 1" descr="preencoded.png"/>
          <p:cNvPicPr>
            <a:picLocks noChangeAspect="1"/>
          </p:cNvPicPr>
          <p:nvPr/>
        </p:nvPicPr>
        <p:blipFill>
          <a:blip r:embed="rId3"/>
          <a:stretch>
            <a:fillRect/>
          </a:stretch>
        </p:blipFill>
        <p:spPr>
          <a:xfrm>
            <a:off x="4351437" y="1884561"/>
            <a:ext cx="91480" cy="91480"/>
          </a:xfrm>
          <a:prstGeom prst="rect">
            <a:avLst/>
          </a:prstGeom>
        </p:spPr>
      </p:pic>
      <p:sp>
        <p:nvSpPr>
          <p:cNvPr id="9" name="Text 5"/>
          <p:cNvSpPr/>
          <p:nvPr/>
        </p:nvSpPr>
        <p:spPr>
          <a:xfrm>
            <a:off x="4620220" y="1787327"/>
            <a:ext cx="2288878" cy="28604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792">
                <a:solidFill>
                  <a:srgbClr val="15213F"/>
                </a:solidFill>
                <a:latin typeface="Libre Baskerville" pitchFamily="34" charset="0"/>
                <a:ea typeface="Libre Baskerville" pitchFamily="34" charset="-122"/>
                <a:cs typeface="Libre Baskerville" pitchFamily="34" charset="-120"/>
              </a:rPr>
              <a:t>Sample Size</a:t>
            </a:r>
            <a:endParaRPr lang="en-US" sz="1792"/>
          </a:p>
        </p:txBody>
      </p:sp>
      <p:sp>
        <p:nvSpPr>
          <p:cNvPr id="10" name="Text 6"/>
          <p:cNvSpPr/>
          <p:nvPr/>
        </p:nvSpPr>
        <p:spPr>
          <a:xfrm>
            <a:off x="4620221" y="2179737"/>
            <a:ext cx="3220244" cy="86528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417">
                <a:solidFill>
                  <a:srgbClr val="15213F"/>
                </a:solidFill>
                <a:latin typeface="Source Sans 3" pitchFamily="34" charset="0"/>
                <a:ea typeface="Source Sans 3" pitchFamily="34" charset="-122"/>
                <a:cs typeface="Source Sans 3" pitchFamily="34" charset="-120"/>
              </a:rPr>
              <a:t>Wide confidence intervals reflect limited observations; real telecom datasets span millions of records.</a:t>
            </a:r>
            <a:endParaRPr lang="en-US" sz="1417"/>
          </a:p>
        </p:txBody>
      </p:sp>
      <p:pic>
        <p:nvPicPr>
          <p:cNvPr id="11" name="Image 2" descr="preencoded.png"/>
          <p:cNvPicPr>
            <a:picLocks noChangeAspect="1"/>
          </p:cNvPicPr>
          <p:nvPr/>
        </p:nvPicPr>
        <p:blipFill>
          <a:blip r:embed="rId3"/>
          <a:stretch>
            <a:fillRect/>
          </a:stretch>
        </p:blipFill>
        <p:spPr>
          <a:xfrm>
            <a:off x="8062119" y="1884561"/>
            <a:ext cx="91480" cy="91480"/>
          </a:xfrm>
          <a:prstGeom prst="rect">
            <a:avLst/>
          </a:prstGeom>
        </p:spPr>
      </p:pic>
      <p:sp>
        <p:nvSpPr>
          <p:cNvPr id="12" name="Text 7"/>
          <p:cNvSpPr/>
          <p:nvPr/>
        </p:nvSpPr>
        <p:spPr>
          <a:xfrm>
            <a:off x="8330903" y="1787327"/>
            <a:ext cx="2288878" cy="28604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792">
                <a:solidFill>
                  <a:srgbClr val="15213F"/>
                </a:solidFill>
                <a:latin typeface="Libre Baskerville" pitchFamily="34" charset="0"/>
                <a:ea typeface="Libre Baskerville" pitchFamily="34" charset="-122"/>
                <a:cs typeface="Libre Baskerville" pitchFamily="34" charset="-120"/>
              </a:rPr>
              <a:t>No Time Series</a:t>
            </a:r>
            <a:endParaRPr lang="en-US" sz="1792"/>
          </a:p>
        </p:txBody>
      </p:sp>
      <p:sp>
        <p:nvSpPr>
          <p:cNvPr id="13" name="Text 8"/>
          <p:cNvSpPr/>
          <p:nvPr/>
        </p:nvSpPr>
        <p:spPr>
          <a:xfrm>
            <a:off x="8330903" y="2179737"/>
            <a:ext cx="3220144" cy="86528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417">
                <a:solidFill>
                  <a:srgbClr val="15213F"/>
                </a:solidFill>
                <a:latin typeface="Source Sans 3" pitchFamily="34" charset="0"/>
                <a:ea typeface="Source Sans 3" pitchFamily="34" charset="-122"/>
                <a:cs typeface="Source Sans 3" pitchFamily="34" charset="-120"/>
              </a:rPr>
              <a:t>This cross-sectional snapshot misses seasonal trends and campaign effects over time.</a:t>
            </a:r>
            <a:endParaRPr lang="en-US" sz="1417"/>
          </a:p>
        </p:txBody>
      </p:sp>
      <p:sp>
        <p:nvSpPr>
          <p:cNvPr id="14" name="Shape 9"/>
          <p:cNvSpPr/>
          <p:nvPr/>
        </p:nvSpPr>
        <p:spPr>
          <a:xfrm>
            <a:off x="640854" y="3290293"/>
            <a:ext cx="10910293" cy="13693"/>
          </a:xfrm>
          <a:prstGeom prst="rect">
            <a:avLst/>
          </a:prstGeom>
          <a:solidFill>
            <a:srgbClr val="15213F">
              <a:alpha val="50000"/>
            </a:srgbClr>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sp>
        <p:nvSpPr>
          <p:cNvPr id="15" name="Text 10"/>
          <p:cNvSpPr/>
          <p:nvPr/>
        </p:nvSpPr>
        <p:spPr>
          <a:xfrm>
            <a:off x="3807024" y="3615731"/>
            <a:ext cx="4577854" cy="5721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4500"/>
              </a:lnSpc>
              <a:buNone/>
            </a:pPr>
            <a:r>
              <a:rPr lang="en-US" sz="3583">
                <a:solidFill>
                  <a:srgbClr val="3257B8"/>
                </a:solidFill>
                <a:latin typeface="Libre Baskerville" pitchFamily="34" charset="0"/>
                <a:ea typeface="Libre Baskerville" pitchFamily="34" charset="-122"/>
                <a:cs typeface="Libre Baskerville" pitchFamily="34" charset="-120"/>
              </a:rPr>
              <a:t>Future Analysis</a:t>
            </a:r>
            <a:endParaRPr lang="en-US" sz="3583"/>
          </a:p>
        </p:txBody>
      </p:sp>
      <p:sp>
        <p:nvSpPr>
          <p:cNvPr id="16" name="Shape 11"/>
          <p:cNvSpPr/>
          <p:nvPr/>
        </p:nvSpPr>
        <p:spPr>
          <a:xfrm>
            <a:off x="640855" y="4453930"/>
            <a:ext cx="5366444" cy="549275"/>
          </a:xfrm>
          <a:prstGeom prst="roundRect">
            <a:avLst>
              <a:gd name="adj" fmla="val 480065"/>
            </a:avLst>
          </a:prstGeom>
          <a:solidFill>
            <a:srgbClr val="E9ECF2"/>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pic>
        <p:nvPicPr>
          <p:cNvPr id="17"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86708" y="4591249"/>
            <a:ext cx="274638" cy="274638"/>
          </a:xfrm>
          <a:prstGeom prst="rect">
            <a:avLst/>
          </a:prstGeom>
        </p:spPr>
      </p:pic>
      <p:sp>
        <p:nvSpPr>
          <p:cNvPr id="18" name="Text 12"/>
          <p:cNvSpPr/>
          <p:nvPr/>
        </p:nvSpPr>
        <p:spPr>
          <a:xfrm>
            <a:off x="823913" y="5180509"/>
            <a:ext cx="2529185" cy="28604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792">
                <a:solidFill>
                  <a:srgbClr val="15213F"/>
                </a:solidFill>
                <a:latin typeface="Libre Baskerville" pitchFamily="34" charset="0"/>
                <a:ea typeface="Libre Baskerville" pitchFamily="34" charset="-122"/>
                <a:cs typeface="Libre Baskerville" pitchFamily="34" charset="-120"/>
              </a:rPr>
              <a:t>Seasonal Fluctuations</a:t>
            </a:r>
            <a:endParaRPr lang="en-US" sz="1792"/>
          </a:p>
        </p:txBody>
      </p:sp>
      <p:sp>
        <p:nvSpPr>
          <p:cNvPr id="19" name="Text 13"/>
          <p:cNvSpPr/>
          <p:nvPr/>
        </p:nvSpPr>
        <p:spPr>
          <a:xfrm>
            <a:off x="823913" y="5572919"/>
            <a:ext cx="5000328" cy="57685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417">
                <a:solidFill>
                  <a:srgbClr val="15213F"/>
                </a:solidFill>
                <a:latin typeface="Source Sans 3" pitchFamily="34" charset="0"/>
                <a:ea typeface="Source Sans 3" pitchFamily="34" charset="-122"/>
                <a:cs typeface="Source Sans 3" pitchFamily="34" charset="-120"/>
              </a:rPr>
              <a:t>Model churn across contract renewal cycles and promotional windows.</a:t>
            </a:r>
            <a:endParaRPr lang="en-US" sz="1417"/>
          </a:p>
        </p:txBody>
      </p:sp>
      <p:sp>
        <p:nvSpPr>
          <p:cNvPr id="20" name="Shape 14"/>
          <p:cNvSpPr/>
          <p:nvPr/>
        </p:nvSpPr>
        <p:spPr>
          <a:xfrm>
            <a:off x="6184603" y="4453930"/>
            <a:ext cx="5366544" cy="549275"/>
          </a:xfrm>
          <a:prstGeom prst="roundRect">
            <a:avLst>
              <a:gd name="adj" fmla="val 480065"/>
            </a:avLst>
          </a:prstGeom>
          <a:solidFill>
            <a:srgbClr val="E9ECF2"/>
          </a:solidFill>
          <a:ln/>
        </p:spPr>
        <p:txBody>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endParaRPr lang="en-US" sz="1250"/>
          </a:p>
        </p:txBody>
      </p:sp>
      <p:pic>
        <p:nvPicPr>
          <p:cNvPr id="21"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30556" y="4591249"/>
            <a:ext cx="274638" cy="274638"/>
          </a:xfrm>
          <a:prstGeom prst="rect">
            <a:avLst/>
          </a:prstGeom>
        </p:spPr>
      </p:pic>
      <p:sp>
        <p:nvSpPr>
          <p:cNvPr id="22" name="Text 15"/>
          <p:cNvSpPr/>
          <p:nvPr/>
        </p:nvSpPr>
        <p:spPr>
          <a:xfrm>
            <a:off x="6367661" y="5180509"/>
            <a:ext cx="2288878" cy="28604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792">
                <a:solidFill>
                  <a:srgbClr val="15213F"/>
                </a:solidFill>
                <a:latin typeface="Libre Baskerville" pitchFamily="34" charset="0"/>
                <a:ea typeface="Libre Baskerville" pitchFamily="34" charset="-122"/>
                <a:cs typeface="Libre Baskerville" pitchFamily="34" charset="-120"/>
              </a:rPr>
              <a:t>Competitor Pricing</a:t>
            </a:r>
            <a:endParaRPr lang="en-US" sz="1792"/>
          </a:p>
        </p:txBody>
      </p:sp>
      <p:sp>
        <p:nvSpPr>
          <p:cNvPr id="23" name="Text 16"/>
          <p:cNvSpPr/>
          <p:nvPr/>
        </p:nvSpPr>
        <p:spPr>
          <a:xfrm>
            <a:off x="6367661" y="5572920"/>
            <a:ext cx="5000427" cy="28842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50"/>
              </a:lnSpc>
              <a:buNone/>
            </a:pPr>
            <a:r>
              <a:rPr lang="en-US" sz="1417">
                <a:solidFill>
                  <a:srgbClr val="15213F"/>
                </a:solidFill>
                <a:latin typeface="Source Sans 3" pitchFamily="34" charset="0"/>
                <a:ea typeface="Source Sans 3" pitchFamily="34" charset="-122"/>
                <a:cs typeface="Source Sans 3" pitchFamily="34" charset="-120"/>
              </a:rPr>
              <a:t>Integrate market-rate data to isolate price-sensitivity effects.</a:t>
            </a:r>
            <a:endParaRPr lang="en-US" sz="1417"/>
          </a:p>
        </p:txBody>
      </p:sp>
    </p:spTree>
    <p:extLst>
      <p:ext uri="{BB962C8B-B14F-4D97-AF65-F5344CB8AC3E}">
        <p14:creationId xmlns:p14="http://schemas.microsoft.com/office/powerpoint/2010/main" val="3367005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6F68-E646-894B-F5B8-5F78DE70890A}"/>
              </a:ext>
            </a:extLst>
          </p:cNvPr>
          <p:cNvSpPr>
            <a:spLocks noGrp="1"/>
          </p:cNvSpPr>
          <p:nvPr>
            <p:ph type="title"/>
          </p:nvPr>
        </p:nvSpPr>
        <p:spPr>
          <a:xfrm>
            <a:off x="838200" y="365125"/>
            <a:ext cx="10515600" cy="1184275"/>
          </a:xfrm>
        </p:spPr>
        <p:txBody>
          <a:bodyPr>
            <a:normAutofit/>
          </a:bodyPr>
          <a:lstStyle/>
          <a:p>
            <a:r>
              <a:rPr lang="en-US" sz="3600">
                <a:solidFill>
                  <a:srgbClr val="3257B8"/>
                </a:solidFill>
                <a:latin typeface="Libre Baskerville" pitchFamily="34" charset="0"/>
                <a:ea typeface="Libre Baskerville" pitchFamily="34" charset="-122"/>
                <a:cs typeface="Libre Baskerville" pitchFamily="34" charset="-120"/>
              </a:rPr>
              <a:t>Christian Worldview Integration (Lewis)</a:t>
            </a:r>
            <a:br>
              <a:rPr lang="en-US" sz="3600"/>
            </a:br>
            <a:endParaRPr lang="en-US" sz="3600"/>
          </a:p>
        </p:txBody>
      </p:sp>
      <p:sp>
        <p:nvSpPr>
          <p:cNvPr id="3" name="Content Placeholder 2">
            <a:extLst>
              <a:ext uri="{FF2B5EF4-FFF2-40B4-BE49-F238E27FC236}">
                <a16:creationId xmlns:a16="http://schemas.microsoft.com/office/drawing/2014/main" id="{5C33CCE9-95DC-70A7-2262-21B21AF09383}"/>
              </a:ext>
            </a:extLst>
          </p:cNvPr>
          <p:cNvSpPr>
            <a:spLocks noGrp="1"/>
          </p:cNvSpPr>
          <p:nvPr>
            <p:ph idx="1"/>
          </p:nvPr>
        </p:nvSpPr>
        <p:spPr>
          <a:xfrm>
            <a:off x="838199" y="1116756"/>
            <a:ext cx="10515600" cy="865287"/>
          </a:xfrm>
        </p:spPr>
        <p:txBody>
          <a:bodyPr>
            <a:normAutofit fontScale="92500" lnSpcReduction="10000"/>
          </a:bodyPr>
          <a:lstStyle/>
          <a:p>
            <a:pPr>
              <a:lnSpc>
                <a:spcPct val="150000"/>
              </a:lnSpc>
            </a:pPr>
            <a:r>
              <a:rPr lang="en-US" sz="2000">
                <a:latin typeface="Times New Roman" panose="02020603050405020304" pitchFamily="18" charset="0"/>
                <a:cs typeface="Times New Roman" panose="02020603050405020304" pitchFamily="18" charset="0"/>
              </a:rPr>
              <a:t>The Statistical methods and ethical commitments embedded in this analysis align with several foundational biblical principles. Each principle below is applied to a specific aspect of the dataset:</a:t>
            </a:r>
          </a:p>
        </p:txBody>
      </p:sp>
      <p:sp>
        <p:nvSpPr>
          <p:cNvPr id="4" name="Text 6">
            <a:extLst>
              <a:ext uri="{FF2B5EF4-FFF2-40B4-BE49-F238E27FC236}">
                <a16:creationId xmlns:a16="http://schemas.microsoft.com/office/drawing/2014/main" id="{D4FF9A62-A0C6-530A-AC5B-5968CF3EA7D3}"/>
              </a:ext>
            </a:extLst>
          </p:cNvPr>
          <p:cNvSpPr/>
          <p:nvPr/>
        </p:nvSpPr>
        <p:spPr>
          <a:xfrm>
            <a:off x="1103870" y="2109887"/>
            <a:ext cx="9984259" cy="3082239"/>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ct val="150000"/>
              </a:lnSpc>
            </a:pPr>
            <a:r>
              <a:rPr lang="en-US" sz="1800" b="1">
                <a:latin typeface="Times New Roman" panose="02020603050405020304" pitchFamily="18" charset="0"/>
                <a:cs typeface="Times New Roman" panose="02020603050405020304" pitchFamily="18" charset="0"/>
              </a:rPr>
              <a:t>Honest Measurement (Proverbs 11:1 </a:t>
            </a:r>
            <a:r>
              <a:rPr lang="en-US" sz="1800">
                <a:latin typeface="Times New Roman" panose="02020603050405020304" pitchFamily="18" charset="0"/>
                <a:cs typeface="Times New Roman" panose="02020603050405020304" pitchFamily="18" charset="0"/>
              </a:rPr>
              <a:t>“A false balance is an abomination to the lord, but a just weight in his delight”). The careful and accurate computation of descriptive statistics such as mean, median, standard deviation and IQR, reflects the biblical mandate for honest and precise measurement.</a:t>
            </a:r>
          </a:p>
          <a:p>
            <a:pPr>
              <a:lnSpc>
                <a:spcPct val="150000"/>
              </a:lnSpc>
            </a:pPr>
            <a:r>
              <a:rPr lang="en-US" sz="1800" b="1">
                <a:latin typeface="Times New Roman" panose="02020603050405020304" pitchFamily="18" charset="0"/>
                <a:cs typeface="Times New Roman" panose="02020603050405020304" pitchFamily="18" charset="0"/>
              </a:rPr>
              <a:t>Faithful Stewardship of Resources (Luke 16:10 </a:t>
            </a:r>
            <a:r>
              <a:rPr lang="en-US" sz="1800">
                <a:latin typeface="Times New Roman" panose="02020603050405020304" pitchFamily="18" charset="0"/>
                <a:cs typeface="Times New Roman" panose="02020603050405020304" pitchFamily="18" charset="0"/>
              </a:rPr>
              <a:t>“Whoever is faithful in very little is also faithful in much”). Customer churn analysis is fundamentally an exercise in stewardship. Every customer who churns represents a loss of entrusted revenue and relationship.</a:t>
            </a:r>
          </a:p>
          <a:p>
            <a:pPr>
              <a:lnSpc>
                <a:spcPct val="150000"/>
              </a:lnSpc>
            </a:pPr>
            <a:r>
              <a:rPr lang="en-US" sz="1800" b="1">
                <a:latin typeface="Times New Roman" panose="02020603050405020304" pitchFamily="18" charset="0"/>
                <a:cs typeface="Times New Roman" panose="02020603050405020304" pitchFamily="18" charset="0"/>
              </a:rPr>
              <a:t>Truthful Witness and Transparency (Ephesians 4:25 </a:t>
            </a:r>
            <a:r>
              <a:rPr lang="en-US" sz="1800">
                <a:latin typeface="Times New Roman" panose="02020603050405020304" pitchFamily="18" charset="0"/>
                <a:cs typeface="Times New Roman" panose="02020603050405020304" pitchFamily="18" charset="0"/>
              </a:rPr>
              <a:t>“ Therefore, having put away falsehood, let each one of you speak the truth with his neighbor.”). Explicitly acknowledging that this dataset is simulated and clearly stating that findings cannot be generalized to real telecom populations, reflects the biblical call to honest witness.</a:t>
            </a:r>
          </a:p>
        </p:txBody>
      </p:sp>
    </p:spTree>
    <p:extLst>
      <p:ext uri="{BB962C8B-B14F-4D97-AF65-F5344CB8AC3E}">
        <p14:creationId xmlns:p14="http://schemas.microsoft.com/office/powerpoint/2010/main" val="759662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276395" y="171470"/>
            <a:ext cx="4725492" cy="59064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625"/>
              </a:lnSpc>
              <a:buNone/>
            </a:pPr>
            <a:r>
              <a:rPr lang="en-US" sz="3708">
                <a:solidFill>
                  <a:srgbClr val="3257B8"/>
                </a:solidFill>
                <a:latin typeface="Libre Baskerville" pitchFamily="34" charset="0"/>
                <a:ea typeface="Libre Baskerville" pitchFamily="34" charset="-122"/>
                <a:cs typeface="Libre Baskerville" pitchFamily="34" charset="-120"/>
              </a:rPr>
              <a:t>References</a:t>
            </a:r>
            <a:endParaRPr lang="en-US" sz="3708"/>
          </a:p>
        </p:txBody>
      </p:sp>
      <p:sp>
        <p:nvSpPr>
          <p:cNvPr id="3" name="Text 1"/>
          <p:cNvSpPr/>
          <p:nvPr/>
        </p:nvSpPr>
        <p:spPr>
          <a:xfrm>
            <a:off x="276395" y="976271"/>
            <a:ext cx="10670690" cy="481492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indent="-457200">
              <a:lnSpc>
                <a:spcPct val="200000"/>
              </a:lnSpc>
            </a:pPr>
            <a:r>
              <a:rPr lang="en-US" sz="1200">
                <a:latin typeface="Times New Roman" panose="02020603050405020304" pitchFamily="18" charset="0"/>
                <a:cs typeface="Times New Roman" panose="02020603050405020304" pitchFamily="18" charset="0"/>
              </a:rPr>
              <a:t>Fryer, Thomas. (2026). Bus 534 Week 3: Chapter 2 - Uncertainty Quantification. [</a:t>
            </a:r>
            <a:r>
              <a:rPr lang="en-US" sz="1200" err="1">
                <a:latin typeface="Times New Roman" panose="02020603050405020304" pitchFamily="18" charset="0"/>
                <a:cs typeface="Times New Roman" panose="02020603050405020304" pitchFamily="18" charset="0"/>
              </a:rPr>
              <a:t>Powerpoint</a:t>
            </a:r>
            <a:r>
              <a:rPr lang="en-US" sz="1200">
                <a:latin typeface="Times New Roman" panose="02020603050405020304" pitchFamily="18" charset="0"/>
                <a:cs typeface="Times New Roman" panose="02020603050405020304" pitchFamily="18" charset="0"/>
              </a:rPr>
              <a:t> slides]. School of Business, California </a:t>
            </a:r>
          </a:p>
          <a:p>
            <a:pPr indent="-457200">
              <a:lnSpc>
                <a:spcPct val="200000"/>
              </a:lnSpc>
            </a:pPr>
            <a:r>
              <a:rPr lang="en-US" sz="1200">
                <a:latin typeface="Times New Roman" panose="02020603050405020304" pitchFamily="18" charset="0"/>
                <a:cs typeface="Times New Roman" panose="02020603050405020304" pitchFamily="18" charset="0"/>
              </a:rPr>
              <a:t>		Baptist University. </a:t>
            </a:r>
            <a:r>
              <a:rPr lang="en-US" sz="1200">
                <a:latin typeface="Times New Roman" panose="02020603050405020304" pitchFamily="18" charset="0"/>
                <a:cs typeface="Times New Roman" panose="02020603050405020304" pitchFamily="18" charset="0"/>
                <a:hlinkClick r:id="rId3"/>
              </a:rPr>
              <a:t>https://calbaptist.blackboard.com/ultra/institution-page</a:t>
            </a:r>
            <a:endParaRPr lang="en-US" sz="1200">
              <a:latin typeface="Times New Roman" panose="02020603050405020304" pitchFamily="18" charset="0"/>
              <a:cs typeface="Times New Roman" panose="02020603050405020304" pitchFamily="18" charset="0"/>
            </a:endParaRPr>
          </a:p>
          <a:p>
            <a:pPr indent="-457200">
              <a:lnSpc>
                <a:spcPct val="200000"/>
              </a:lnSpc>
            </a:pPr>
            <a:r>
              <a:rPr lang="en-US" sz="1200">
                <a:latin typeface="Times New Roman" panose="02020603050405020304" pitchFamily="18" charset="0"/>
                <a:cs typeface="Times New Roman" panose="02020603050405020304" pitchFamily="18" charset="0"/>
              </a:rPr>
              <a:t>Li, C., Swaminathan, S., &amp; Kim, J. (2025). Point Redemption in Loyalty Programs:</a:t>
            </a:r>
          </a:p>
          <a:p>
            <a:pPr indent="-457200">
              <a:lnSpc>
                <a:spcPct val="200000"/>
              </a:lnSpc>
            </a:pPr>
            <a:r>
              <a:rPr lang="en-US" sz="1200">
                <a:latin typeface="Times New Roman" panose="02020603050405020304" pitchFamily="18" charset="0"/>
                <a:cs typeface="Times New Roman" panose="02020603050405020304" pitchFamily="18" charset="0"/>
              </a:rPr>
              <a:t>                                       The Role of Customer Relationship Characteristics and Their Implications for Service Providers. </a:t>
            </a:r>
          </a:p>
          <a:p>
            <a:pPr indent="-457200">
              <a:lnSpc>
                <a:spcPct val="200000"/>
              </a:lnSpc>
            </a:pPr>
            <a:r>
              <a:rPr lang="en-US" sz="1200">
                <a:latin typeface="Times New Roman" panose="02020603050405020304" pitchFamily="18" charset="0"/>
                <a:cs typeface="Times New Roman" panose="02020603050405020304" pitchFamily="18" charset="0"/>
              </a:rPr>
              <a:t>                                       Journal of Service Research, 28(4),652–668. </a:t>
            </a:r>
          </a:p>
          <a:p>
            <a:pPr indent="-457200">
              <a:lnSpc>
                <a:spcPct val="200000"/>
              </a:lnSpc>
            </a:pPr>
            <a:r>
              <a:rPr lang="en-US" sz="1200">
                <a:latin typeface="Times New Roman" panose="02020603050405020304" pitchFamily="18" charset="0"/>
                <a:cs typeface="Times New Roman" panose="02020603050405020304" pitchFamily="18" charset="0"/>
              </a:rPr>
              <a:t>                                       </a:t>
            </a:r>
            <a:r>
              <a:rPr lang="en-US" sz="1200">
                <a:latin typeface="Times New Roman" panose="02020603050405020304" pitchFamily="18" charset="0"/>
                <a:cs typeface="Times New Roman" panose="02020603050405020304" pitchFamily="18" charset="0"/>
                <a:hlinkClick r:id="rId4"/>
              </a:rPr>
              <a:t>https://doi.org/10.1177/10946705241246341</a:t>
            </a:r>
            <a:endParaRPr lang="en-US" sz="1200">
              <a:latin typeface="Times New Roman" panose="02020603050405020304" pitchFamily="18" charset="0"/>
              <a:cs typeface="Times New Roman" panose="02020603050405020304" pitchFamily="18" charset="0"/>
            </a:endParaRPr>
          </a:p>
          <a:p>
            <a:pPr marL="0" indent="0" algn="l">
              <a:lnSpc>
                <a:spcPct val="200000"/>
              </a:lnSpc>
              <a:buNone/>
            </a:pPr>
            <a:r>
              <a:rPr lang="en-US" sz="1200">
                <a:latin typeface="Times New Roman" panose="02020603050405020304" pitchFamily="18" charset="0"/>
                <a:cs typeface="Times New Roman" panose="02020603050405020304" pitchFamily="18" charset="0"/>
              </a:rPr>
              <a:t>Raghunathan, T. E. (2021). Synthetic data. </a:t>
            </a:r>
            <a:r>
              <a:rPr lang="en-US" sz="1200" i="1">
                <a:latin typeface="Times New Roman" panose="02020603050405020304" pitchFamily="18" charset="0"/>
                <a:cs typeface="Times New Roman" panose="02020603050405020304" pitchFamily="18" charset="0"/>
              </a:rPr>
              <a:t>Annual Review of Statistics and Its Application, 8</a:t>
            </a:r>
            <a:r>
              <a:rPr lang="en-US" sz="1200">
                <a:latin typeface="Times New Roman" panose="02020603050405020304" pitchFamily="18" charset="0"/>
                <a:cs typeface="Times New Roman" panose="02020603050405020304" pitchFamily="18" charset="0"/>
              </a:rPr>
              <a:t>(1), 129–140. </a:t>
            </a:r>
          </a:p>
          <a:p>
            <a:pPr>
              <a:lnSpc>
                <a:spcPct val="200000"/>
              </a:lnSpc>
            </a:pPr>
            <a:r>
              <a:rPr lang="en-US" sz="1200">
                <a:latin typeface="Times New Roman" panose="02020603050405020304" pitchFamily="18" charset="0"/>
                <a:cs typeface="Times New Roman" panose="02020603050405020304" pitchFamily="18" charset="0"/>
              </a:rPr>
              <a:t>		</a:t>
            </a:r>
            <a:r>
              <a:rPr lang="en-US" sz="1200">
                <a:latin typeface="Times New Roman" panose="02020603050405020304" pitchFamily="18" charset="0"/>
                <a:cs typeface="Times New Roman" panose="02020603050405020304" pitchFamily="18" charset="0"/>
                <a:hlinkClick r:id="rId5"/>
              </a:rPr>
              <a:t>https://doi.org/10.1146/annurev-statistics-040720-031848</a:t>
            </a:r>
            <a:endParaRPr lang="en-US" sz="1200">
              <a:latin typeface="Times New Roman" panose="02020603050405020304" pitchFamily="18" charset="0"/>
              <a:cs typeface="Times New Roman" panose="02020603050405020304" pitchFamily="18" charset="0"/>
            </a:endParaRPr>
          </a:p>
          <a:p>
            <a:pPr>
              <a:lnSpc>
                <a:spcPct val="200000"/>
              </a:lnSpc>
            </a:pPr>
            <a:r>
              <a:rPr lang="en-US" sz="1200">
                <a:latin typeface="Times New Roman" panose="02020603050405020304" pitchFamily="18" charset="0"/>
                <a:cs typeface="Times New Roman" panose="02020603050405020304" pitchFamily="18" charset="0"/>
              </a:rPr>
              <a:t>Taddy, M., Hendrix, L., &amp; Harding, M. C. (2022). </a:t>
            </a:r>
            <a:r>
              <a:rPr lang="en-US" sz="1200" i="1">
                <a:latin typeface="Times New Roman" panose="02020603050405020304" pitchFamily="18" charset="0"/>
                <a:cs typeface="Times New Roman" panose="02020603050405020304" pitchFamily="18" charset="0"/>
              </a:rPr>
              <a:t>Modern business analytics: With R: Data-driven decision making</a:t>
            </a:r>
            <a:r>
              <a:rPr lang="en-US" sz="1200">
                <a:latin typeface="Times New Roman" panose="02020603050405020304" pitchFamily="18" charset="0"/>
                <a:cs typeface="Times New Roman" panose="02020603050405020304" pitchFamily="18" charset="0"/>
              </a:rPr>
              <a:t>. </a:t>
            </a:r>
          </a:p>
          <a:p>
            <a:pPr>
              <a:lnSpc>
                <a:spcPct val="200000"/>
              </a:lnSpc>
            </a:pPr>
            <a:r>
              <a:rPr lang="en-US" sz="1200">
                <a:latin typeface="Times New Roman" panose="02020603050405020304" pitchFamily="18" charset="0"/>
                <a:cs typeface="Times New Roman" panose="02020603050405020304" pitchFamily="18" charset="0"/>
              </a:rPr>
              <a:t>		McGraw-Hill Education.</a:t>
            </a:r>
          </a:p>
          <a:p>
            <a:pPr>
              <a:lnSpc>
                <a:spcPct val="200000"/>
              </a:lnSpc>
            </a:pPr>
            <a:r>
              <a:rPr lang="en-US" sz="1200">
                <a:latin typeface="Times New Roman" panose="02020603050405020304" pitchFamily="18" charset="0"/>
                <a:cs typeface="Times New Roman" panose="02020603050405020304" pitchFamily="18" charset="0"/>
              </a:rPr>
              <a:t>The Holy Bible, King James Version. (n.d.).</a:t>
            </a:r>
          </a:p>
          <a:p>
            <a:pPr>
              <a:lnSpc>
                <a:spcPct val="200000"/>
              </a:lnSpc>
            </a:pPr>
            <a:r>
              <a:rPr lang="en-US" sz="1200">
                <a:latin typeface="Times New Roman" panose="02020603050405020304" pitchFamily="18" charset="0"/>
                <a:cs typeface="Times New Roman" panose="02020603050405020304" pitchFamily="18" charset="0"/>
              </a:rPr>
              <a:t>Verbeke, W., Dejaeger, K., Martens, D., Hur, J., &amp; </a:t>
            </a:r>
            <a:r>
              <a:rPr lang="en-US" sz="1200" err="1">
                <a:latin typeface="Times New Roman" panose="02020603050405020304" pitchFamily="18" charset="0"/>
                <a:cs typeface="Times New Roman" panose="02020603050405020304" pitchFamily="18" charset="0"/>
              </a:rPr>
              <a:t>Baesens</a:t>
            </a:r>
            <a:r>
              <a:rPr lang="en-US" sz="1200">
                <a:latin typeface="Times New Roman" panose="02020603050405020304" pitchFamily="18" charset="0"/>
                <a:cs typeface="Times New Roman" panose="02020603050405020304" pitchFamily="18" charset="0"/>
              </a:rPr>
              <a:t>, B. (2012). New insights into churn prediction in the telecommunication industry: </a:t>
            </a:r>
          </a:p>
          <a:p>
            <a:pPr>
              <a:lnSpc>
                <a:spcPct val="200000"/>
              </a:lnSpc>
            </a:pPr>
            <a:r>
              <a:rPr lang="en-US" sz="1200">
                <a:latin typeface="Times New Roman" panose="02020603050405020304" pitchFamily="18" charset="0"/>
                <a:cs typeface="Times New Roman" panose="02020603050405020304" pitchFamily="18" charset="0"/>
              </a:rPr>
              <a:t>		A profit driven data mining approach. </a:t>
            </a:r>
            <a:r>
              <a:rPr lang="en-US" sz="1200" i="1">
                <a:latin typeface="Times New Roman" panose="02020603050405020304" pitchFamily="18" charset="0"/>
                <a:cs typeface="Times New Roman" panose="02020603050405020304" pitchFamily="18" charset="0"/>
              </a:rPr>
              <a:t>European Journal of Operational Research, 218</a:t>
            </a:r>
            <a:r>
              <a:rPr lang="en-US" sz="1200">
                <a:latin typeface="Times New Roman" panose="02020603050405020304" pitchFamily="18" charset="0"/>
                <a:cs typeface="Times New Roman" panose="02020603050405020304" pitchFamily="18" charset="0"/>
              </a:rPr>
              <a:t>(1), 211–229.</a:t>
            </a:r>
          </a:p>
          <a:p>
            <a:pPr lvl="4">
              <a:lnSpc>
                <a:spcPct val="200000"/>
              </a:lnSpc>
            </a:pPr>
            <a:r>
              <a:rPr lang="en-US" sz="1200">
                <a:latin typeface="Times New Roman" panose="02020603050405020304" pitchFamily="18" charset="0"/>
                <a:cs typeface="Times New Roman" panose="02020603050405020304" pitchFamily="18" charset="0"/>
              </a:rPr>
              <a:t>https://</a:t>
            </a:r>
            <a:r>
              <a:rPr lang="en-US" sz="1200" err="1">
                <a:latin typeface="Times New Roman" panose="02020603050405020304" pitchFamily="18" charset="0"/>
                <a:cs typeface="Times New Roman" panose="02020603050405020304" pitchFamily="18" charset="0"/>
              </a:rPr>
              <a:t>doi.org</a:t>
            </a:r>
            <a:r>
              <a:rPr lang="en-US" sz="1200">
                <a:latin typeface="Times New Roman" panose="02020603050405020304" pitchFamily="18" charset="0"/>
                <a:cs typeface="Times New Roman" panose="02020603050405020304" pitchFamily="18" charset="0"/>
              </a:rPr>
              <a:t>/10.1016/j.ejor.2011.09.031</a:t>
            </a:r>
          </a:p>
          <a:p>
            <a:pPr>
              <a:lnSpc>
                <a:spcPct val="200000"/>
              </a:lnSpc>
            </a:pPr>
            <a:endParaRPr lang="en-US" sz="1200">
              <a:latin typeface="Times New Roman" panose="02020603050405020304" pitchFamily="18" charset="0"/>
              <a:cs typeface="Times New Roman" panose="02020603050405020304" pitchFamily="18" charset="0"/>
            </a:endParaRPr>
          </a:p>
          <a:p>
            <a:pPr indent="-457200">
              <a:lnSpc>
                <a:spcPct val="200000"/>
              </a:lnSpc>
            </a:pPr>
            <a:endParaRPr lang="en-US" sz="1200">
              <a:latin typeface="Times New Roman" panose="02020603050405020304" pitchFamily="18" charset="0"/>
              <a:cs typeface="Times New Roman" panose="02020603050405020304" pitchFamily="18" charset="0"/>
            </a:endParaRPr>
          </a:p>
          <a:p>
            <a:pPr marL="0" algn="l">
              <a:lnSpc>
                <a:spcPct val="200000"/>
              </a:lnSpc>
              <a:buNone/>
            </a:pPr>
            <a:endParaRPr lang="en-US" sz="1200">
              <a:latin typeface="Times New Roman" panose="02020603050405020304" pitchFamily="18" charset="0"/>
              <a:cs typeface="Times New Roman" panose="02020603050405020304" pitchFamily="18" charset="0"/>
            </a:endParaRPr>
          </a:p>
          <a:p>
            <a:pPr indent="-457200">
              <a:lnSpc>
                <a:spcPct val="200000"/>
              </a:lnSpc>
            </a:pPr>
            <a:endParaRPr lang="en-US" sz="1200">
              <a:latin typeface="Times New Roman" panose="02020603050405020304" pitchFamily="18" charset="0"/>
              <a:cs typeface="Times New Roman" panose="02020603050405020304" pitchFamily="18" charset="0"/>
            </a:endParaRPr>
          </a:p>
          <a:p>
            <a:pPr indent="-457200">
              <a:lnSpc>
                <a:spcPct val="200000"/>
              </a:lnSpc>
            </a:pPr>
            <a:endParaRPr lang="en-US" sz="1200">
              <a:latin typeface="Times New Roman" panose="02020603050405020304" pitchFamily="18" charset="0"/>
              <a:cs typeface="Times New Roman" panose="02020603050405020304" pitchFamily="18" charset="0"/>
            </a:endParaRPr>
          </a:p>
          <a:p>
            <a:pPr>
              <a:lnSpc>
                <a:spcPct val="200000"/>
              </a:lnSpc>
            </a:pPr>
            <a:endParaRPr lang="en-US" sz="1200">
              <a:latin typeface="Times New Roman" panose="02020603050405020304" pitchFamily="18" charset="0"/>
              <a:cs typeface="Times New Roman" panose="02020603050405020304" pitchFamily="18" charset="0"/>
            </a:endParaRPr>
          </a:p>
          <a:p>
            <a:pPr>
              <a:lnSpc>
                <a:spcPct val="200000"/>
              </a:lnSpc>
            </a:pPr>
            <a:endParaRPr lang="en-US" sz="1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2746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92" y="746324"/>
            <a:ext cx="7105650" cy="59064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625"/>
              </a:lnSpc>
              <a:buNone/>
            </a:pPr>
            <a:r>
              <a:rPr lang="en-US" sz="3708">
                <a:solidFill>
                  <a:srgbClr val="3257B8"/>
                </a:solidFill>
                <a:latin typeface="Libre Baskerville" pitchFamily="34" charset="0"/>
                <a:ea typeface="Libre Baskerville" pitchFamily="34" charset="-122"/>
                <a:cs typeface="Libre Baskerville" pitchFamily="34" charset="-120"/>
              </a:rPr>
              <a:t>Appendix A: AI Transparency</a:t>
            </a:r>
            <a:endParaRPr lang="en-US" sz="3708"/>
          </a:p>
        </p:txBody>
      </p:sp>
      <p:graphicFrame>
        <p:nvGraphicFramePr>
          <p:cNvPr id="4" name="Table 3">
            <a:extLst>
              <a:ext uri="{FF2B5EF4-FFF2-40B4-BE49-F238E27FC236}">
                <a16:creationId xmlns:a16="http://schemas.microsoft.com/office/drawing/2014/main" id="{7A1E9C21-D840-5160-7015-D4D7B09B1742}"/>
              </a:ext>
            </a:extLst>
          </p:cNvPr>
          <p:cNvGraphicFramePr>
            <a:graphicFrameLocks noGrp="1"/>
          </p:cNvGraphicFramePr>
          <p:nvPr>
            <p:extLst>
              <p:ext uri="{D42A27DB-BD31-4B8C-83A1-F6EECF244321}">
                <p14:modId xmlns:p14="http://schemas.microsoft.com/office/powerpoint/2010/main" val="2778337021"/>
              </p:ext>
            </p:extLst>
          </p:nvPr>
        </p:nvGraphicFramePr>
        <p:xfrm>
          <a:off x="553064" y="1636248"/>
          <a:ext cx="11085872" cy="4645853"/>
        </p:xfrm>
        <a:graphic>
          <a:graphicData uri="http://schemas.openxmlformats.org/drawingml/2006/table">
            <a:tbl>
              <a:tblPr firstRow="1" bandRow="1">
                <a:tableStyleId>{BC89EF96-8CEA-46FF-86C4-4CE0E7609802}</a:tableStyleId>
              </a:tblPr>
              <a:tblGrid>
                <a:gridCol w="2771468">
                  <a:extLst>
                    <a:ext uri="{9D8B030D-6E8A-4147-A177-3AD203B41FA5}">
                      <a16:colId xmlns:a16="http://schemas.microsoft.com/office/drawing/2014/main" val="1936347256"/>
                    </a:ext>
                  </a:extLst>
                </a:gridCol>
                <a:gridCol w="2599540">
                  <a:extLst>
                    <a:ext uri="{9D8B030D-6E8A-4147-A177-3AD203B41FA5}">
                      <a16:colId xmlns:a16="http://schemas.microsoft.com/office/drawing/2014/main" val="2767164866"/>
                    </a:ext>
                  </a:extLst>
                </a:gridCol>
                <a:gridCol w="2943396">
                  <a:extLst>
                    <a:ext uri="{9D8B030D-6E8A-4147-A177-3AD203B41FA5}">
                      <a16:colId xmlns:a16="http://schemas.microsoft.com/office/drawing/2014/main" val="3597386909"/>
                    </a:ext>
                  </a:extLst>
                </a:gridCol>
                <a:gridCol w="2771468">
                  <a:extLst>
                    <a:ext uri="{9D8B030D-6E8A-4147-A177-3AD203B41FA5}">
                      <a16:colId xmlns:a16="http://schemas.microsoft.com/office/drawing/2014/main" val="2504119967"/>
                    </a:ext>
                  </a:extLst>
                </a:gridCol>
              </a:tblGrid>
              <a:tr h="630101">
                <a:tc>
                  <a:txBody>
                    <a:bodyPr/>
                    <a:lstStyle/>
                    <a:p>
                      <a:r>
                        <a:rPr lang="en-US" sz="1500">
                          <a:latin typeface="Times New Roman" panose="02020603050405020304" pitchFamily="18" charset="0"/>
                          <a:cs typeface="Times New Roman" panose="02020603050405020304" pitchFamily="18" charset="0"/>
                        </a:rPr>
                        <a:t>Section</a:t>
                      </a:r>
                      <a:endParaRPr lang="en-US" sz="1500" i="1">
                        <a:latin typeface="Times New Roman" panose="02020603050405020304" pitchFamily="18" charset="0"/>
                        <a:cs typeface="Times New Roman" panose="02020603050405020304" pitchFamily="18" charset="0"/>
                      </a:endParaRP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Members</a:t>
                      </a:r>
                      <a:endParaRPr lang="en-US" sz="1500" i="1">
                        <a:latin typeface="Times New Roman" panose="02020603050405020304" pitchFamily="18" charset="0"/>
                        <a:cs typeface="Times New Roman" panose="02020603050405020304" pitchFamily="18" charset="0"/>
                      </a:endParaRP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AI Used + Hyperlink</a:t>
                      </a:r>
                      <a:endParaRPr lang="en-US" sz="1500" i="1">
                        <a:latin typeface="Times New Roman" panose="02020603050405020304" pitchFamily="18" charset="0"/>
                        <a:cs typeface="Times New Roman" panose="02020603050405020304" pitchFamily="18" charset="0"/>
                      </a:endParaRP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AI Contribution</a:t>
                      </a:r>
                      <a:endParaRPr lang="en-US" sz="1500" i="1">
                        <a:latin typeface="Times New Roman" panose="02020603050405020304" pitchFamily="18" charset="0"/>
                        <a:cs typeface="Times New Roman" panose="02020603050405020304" pitchFamily="18" charset="0"/>
                      </a:endParaRPr>
                    </a:p>
                  </a:txBody>
                  <a:tcPr marL="76200" marR="76200" marT="38100" marB="38100"/>
                </a:tc>
                <a:extLst>
                  <a:ext uri="{0D108BD9-81ED-4DB2-BD59-A6C34878D82A}">
                    <a16:rowId xmlns:a16="http://schemas.microsoft.com/office/drawing/2014/main" val="143349954"/>
                  </a:ext>
                </a:extLst>
              </a:tr>
              <a:tr h="622938">
                <a:tc>
                  <a:txBody>
                    <a:bodyPr/>
                    <a:lstStyle/>
                    <a:p>
                      <a:pPr>
                        <a:buNone/>
                      </a:pPr>
                      <a:r>
                        <a:rPr lang="en-US" sz="1500">
                          <a:latin typeface="Times New Roman" panose="02020603050405020304" pitchFamily="18" charset="0"/>
                          <a:cs typeface="Times New Roman" panose="02020603050405020304" pitchFamily="18" charset="0"/>
                        </a:rPr>
                        <a:t>Business Context </a:t>
                      </a:r>
                      <a:r>
                        <a:rPr lang="en-US" sz="1500" b="1">
                          <a:latin typeface="Times New Roman" panose="02020603050405020304" pitchFamily="18" charset="0"/>
                          <a:cs typeface="Times New Roman" panose="02020603050405020304" pitchFamily="18" charset="0"/>
                        </a:rPr>
                        <a:t>I </a:t>
                      </a:r>
                      <a:r>
                        <a:rPr lang="en-US" sz="1500">
                          <a:latin typeface="Times New Roman" panose="02020603050405020304" pitchFamily="18" charset="0"/>
                          <a:cs typeface="Times New Roman" panose="02020603050405020304" pitchFamily="18" charset="0"/>
                        </a:rPr>
                        <a:t>Research Questions </a:t>
                      </a:r>
                      <a:r>
                        <a:rPr lang="en-US" sz="1500" b="1">
                          <a:latin typeface="Times New Roman" panose="02020603050405020304" pitchFamily="18" charset="0"/>
                          <a:cs typeface="Times New Roman" panose="02020603050405020304" pitchFamily="18" charset="0"/>
                        </a:rPr>
                        <a:t>I </a:t>
                      </a:r>
                      <a:r>
                        <a:rPr lang="en-US" sz="1500">
                          <a:latin typeface="Times New Roman" panose="02020603050405020304" pitchFamily="18" charset="0"/>
                          <a:cs typeface="Times New Roman" panose="02020603050405020304" pitchFamily="18" charset="0"/>
                        </a:rPr>
                        <a:t>Recommendations</a:t>
                      </a:r>
                    </a:p>
                  </a:txBody>
                  <a:tcPr marL="76200" marR="76200" marT="38100" marB="38100" anchor="ctr"/>
                </a:tc>
                <a:tc>
                  <a:txBody>
                    <a:bodyPr/>
                    <a:lstStyle/>
                    <a:p>
                      <a:pPr>
                        <a:buNone/>
                      </a:pPr>
                      <a:r>
                        <a:rPr lang="en-US" sz="1500">
                          <a:latin typeface="Times New Roman" panose="02020603050405020304" pitchFamily="18" charset="0"/>
                          <a:cs typeface="Times New Roman" panose="02020603050405020304" pitchFamily="18" charset="0"/>
                        </a:rPr>
                        <a:t>Logan</a:t>
                      </a:r>
                    </a:p>
                  </a:txBody>
                  <a:tcPr marL="76200" marR="76200" marT="38100" marB="38100" anchor="ctr"/>
                </a:tc>
                <a:tc>
                  <a:txBody>
                    <a:bodyPr/>
                    <a:lstStyle/>
                    <a:p>
                      <a:r>
                        <a:rPr lang="en-US" sz="1500">
                          <a:latin typeface="Times New Roman"/>
                          <a:cs typeface="Times New Roman"/>
                        </a:rPr>
                        <a:t>N/A</a:t>
                      </a:r>
                      <a:endParaRPr lang="en-US" sz="1500">
                        <a:latin typeface="Times New Roman" panose="02020603050405020304" pitchFamily="18" charset="0"/>
                        <a:cs typeface="Times New Roman" panose="02020603050405020304" pitchFamily="18" charset="0"/>
                      </a:endParaRPr>
                    </a:p>
                  </a:txBody>
                  <a:tcPr marL="76200" marR="76200" marT="38100" marB="38100"/>
                </a:tc>
                <a:tc>
                  <a:txBody>
                    <a:bodyPr/>
                    <a:lstStyle/>
                    <a:p>
                      <a:r>
                        <a:rPr lang="en-US" sz="1500">
                          <a:latin typeface="Times New Roman"/>
                          <a:cs typeface="Times New Roman"/>
                        </a:rPr>
                        <a:t>N/A</a:t>
                      </a:r>
                      <a:endParaRPr lang="en-US" sz="1500">
                        <a:latin typeface="Times New Roman" panose="02020603050405020304" pitchFamily="18" charset="0"/>
                        <a:cs typeface="Times New Roman" panose="02020603050405020304" pitchFamily="18" charset="0"/>
                      </a:endParaRPr>
                    </a:p>
                  </a:txBody>
                  <a:tcPr marL="76200" marR="76200" marT="38100" marB="38100"/>
                </a:tc>
                <a:extLst>
                  <a:ext uri="{0D108BD9-81ED-4DB2-BD59-A6C34878D82A}">
                    <a16:rowId xmlns:a16="http://schemas.microsoft.com/office/drawing/2014/main" val="1676995593"/>
                  </a:ext>
                </a:extLst>
              </a:tr>
              <a:tr h="76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Data Description </a:t>
                      </a:r>
                      <a:r>
                        <a:rPr lang="en-US" sz="1500" b="1">
                          <a:latin typeface="Times New Roman" panose="02020603050405020304" pitchFamily="18" charset="0"/>
                          <a:cs typeface="Times New Roman" panose="02020603050405020304" pitchFamily="18" charset="0"/>
                        </a:rPr>
                        <a:t>I </a:t>
                      </a:r>
                      <a:r>
                        <a:rPr lang="en-US" sz="1500">
                          <a:latin typeface="Times New Roman" panose="02020603050405020304" pitchFamily="18" charset="0"/>
                          <a:cs typeface="Times New Roman" panose="02020603050405020304" pitchFamily="18" charset="0"/>
                        </a:rPr>
                        <a:t>Christian Worldview Integration</a:t>
                      </a:r>
                    </a:p>
                    <a:p>
                      <a:endParaRPr lang="en-US" sz="1500">
                        <a:latin typeface="Times New Roman" panose="02020603050405020304" pitchFamily="18" charset="0"/>
                        <a:cs typeface="Times New Roman" panose="02020603050405020304" pitchFamily="18" charset="0"/>
                      </a:endParaRPr>
                    </a:p>
                  </a:txBody>
                  <a:tcPr marL="76200" marR="76200" marT="38100" marB="38100"/>
                </a:tc>
                <a:tc>
                  <a:txBody>
                    <a:bodyPr/>
                    <a:lstStyle/>
                    <a:p>
                      <a:pPr>
                        <a:buNone/>
                      </a:pPr>
                      <a:r>
                        <a:rPr lang="en-US" sz="1500">
                          <a:latin typeface="Times New Roman" panose="02020603050405020304" pitchFamily="18" charset="0"/>
                          <a:cs typeface="Times New Roman" panose="02020603050405020304" pitchFamily="18" charset="0"/>
                        </a:rPr>
                        <a:t>Lewis</a:t>
                      </a:r>
                    </a:p>
                  </a:txBody>
                  <a:tcPr marL="76200" marR="76200" marT="38100" marB="38100" anchor="ctr"/>
                </a:tc>
                <a:tc>
                  <a:txBody>
                    <a:bodyPr/>
                    <a:lstStyle/>
                    <a:p>
                      <a:r>
                        <a:rPr lang="en-US" sz="1500">
                          <a:latin typeface="Times New Roman" panose="02020603050405020304" pitchFamily="18" charset="0"/>
                          <a:cs typeface="Times New Roman" panose="02020603050405020304" pitchFamily="18" charset="0"/>
                          <a:hlinkClick r:id="rId3"/>
                        </a:rPr>
                        <a:t>Claude</a:t>
                      </a:r>
                      <a:endParaRPr lang="en-US" sz="1500">
                        <a:latin typeface="Times New Roman" panose="02020603050405020304" pitchFamily="18" charset="0"/>
                        <a:cs typeface="Times New Roman" panose="02020603050405020304" pitchFamily="18" charset="0"/>
                      </a:endParaRP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Understanding simulated nature of dataset vs real world scenario and providing biblical principles.</a:t>
                      </a:r>
                    </a:p>
                  </a:txBody>
                  <a:tcPr marL="76200" marR="76200" marT="38100" marB="38100"/>
                </a:tc>
                <a:extLst>
                  <a:ext uri="{0D108BD9-81ED-4DB2-BD59-A6C34878D82A}">
                    <a16:rowId xmlns:a16="http://schemas.microsoft.com/office/drawing/2014/main" val="4075217515"/>
                  </a:ext>
                </a:extLst>
              </a:tr>
              <a:tr h="76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Descriptive Exploratory Analysis Sections</a:t>
                      </a:r>
                    </a:p>
                    <a:p>
                      <a:endParaRPr lang="en-US" sz="1500">
                        <a:latin typeface="Times New Roman" panose="02020603050405020304" pitchFamily="18" charset="0"/>
                        <a:cs typeface="Times New Roman" panose="02020603050405020304" pitchFamily="18" charset="0"/>
                      </a:endParaRPr>
                    </a:p>
                  </a:txBody>
                  <a:tcPr marL="76200" marR="76200" marT="38100" marB="38100"/>
                </a:tc>
                <a:tc>
                  <a:txBody>
                    <a:bodyPr/>
                    <a:lstStyle/>
                    <a:p>
                      <a:pPr>
                        <a:buNone/>
                      </a:pPr>
                      <a:r>
                        <a:rPr lang="en-US" sz="1500" err="1">
                          <a:latin typeface="Times New Roman" panose="02020603050405020304" pitchFamily="18" charset="0"/>
                          <a:cs typeface="Times New Roman" panose="02020603050405020304" pitchFamily="18" charset="0"/>
                        </a:rPr>
                        <a:t>Zikun</a:t>
                      </a:r>
                      <a:endParaRPr lang="en-US" sz="1500">
                        <a:latin typeface="Times New Roman" panose="02020603050405020304" pitchFamily="18" charset="0"/>
                        <a:cs typeface="Times New Roman" panose="02020603050405020304" pitchFamily="18" charset="0"/>
                      </a:endParaRPr>
                    </a:p>
                  </a:txBody>
                  <a:tcPr marL="76200" marR="76200" marT="38100" marB="38100" anchor="ctr"/>
                </a:tc>
                <a:tc>
                  <a:txBody>
                    <a:bodyPr/>
                    <a:lstStyle/>
                    <a:p>
                      <a:pPr lvl="0">
                        <a:buNone/>
                      </a:pPr>
                      <a:r>
                        <a:rPr lang="en-US" sz="1500" b="0" i="0" u="none" strike="noStrike" noProof="0">
                          <a:latin typeface="Times New Roman"/>
                          <a:cs typeface="Times New Roman"/>
                          <a:hlinkClick r:id="rId3"/>
                        </a:rPr>
                        <a:t>Claude</a:t>
                      </a:r>
                      <a:endParaRPr lang="en-US"/>
                    </a:p>
                  </a:txBody>
                  <a:tcPr marL="76200" marR="76200" marT="38100" marB="38100"/>
                </a:tc>
                <a:tc>
                  <a:txBody>
                    <a:bodyPr/>
                    <a:lstStyle/>
                    <a:p>
                      <a:r>
                        <a:rPr lang="en-US" sz="1500">
                          <a:latin typeface="Times New Roman"/>
                          <a:cs typeface="Times New Roman"/>
                        </a:rPr>
                        <a:t>Learn R coding and data analysis.</a:t>
                      </a:r>
                      <a:endParaRPr lang="en-US" sz="1500">
                        <a:latin typeface="Times New Roman" panose="02020603050405020304" pitchFamily="18" charset="0"/>
                        <a:cs typeface="Times New Roman" panose="02020603050405020304" pitchFamily="18" charset="0"/>
                      </a:endParaRPr>
                    </a:p>
                  </a:txBody>
                  <a:tcPr marL="76200" marR="76200" marT="38100" marB="38100"/>
                </a:tc>
                <a:extLst>
                  <a:ext uri="{0D108BD9-81ED-4DB2-BD59-A6C34878D82A}">
                    <a16:rowId xmlns:a16="http://schemas.microsoft.com/office/drawing/2014/main" val="1017599234"/>
                  </a:ext>
                </a:extLst>
              </a:tr>
              <a:tr h="622938">
                <a:tc>
                  <a:txBody>
                    <a:bodyPr/>
                    <a:lstStyle/>
                    <a:p>
                      <a:pPr>
                        <a:buNone/>
                      </a:pPr>
                      <a:r>
                        <a:rPr lang="en-US" sz="1500">
                          <a:latin typeface="Times New Roman" panose="02020603050405020304" pitchFamily="18" charset="0"/>
                          <a:cs typeface="Times New Roman" panose="02020603050405020304" pitchFamily="18" charset="0"/>
                        </a:rPr>
                        <a:t>Probability &amp; Distribution Sections</a:t>
                      </a:r>
                    </a:p>
                  </a:txBody>
                  <a:tcPr marL="76200" marR="76200" marT="38100" marB="38100" anchor="ctr"/>
                </a:tc>
                <a:tc>
                  <a:txBody>
                    <a:bodyPr/>
                    <a:lstStyle/>
                    <a:p>
                      <a:pPr>
                        <a:buNone/>
                      </a:pPr>
                      <a:r>
                        <a:rPr lang="en-US" sz="1500">
                          <a:latin typeface="Times New Roman" panose="02020603050405020304" pitchFamily="18" charset="0"/>
                          <a:cs typeface="Times New Roman" panose="02020603050405020304" pitchFamily="18" charset="0"/>
                        </a:rPr>
                        <a:t>Mia</a:t>
                      </a:r>
                    </a:p>
                  </a:txBody>
                  <a:tcPr marL="76200" marR="76200" marT="38100" marB="38100" anchor="ctr"/>
                </a:tc>
                <a:tc>
                  <a:txBody>
                    <a:bodyPr/>
                    <a:lstStyle/>
                    <a:p>
                      <a:r>
                        <a:rPr lang="en-US" sz="1500">
                          <a:latin typeface="Times New Roman" panose="02020603050405020304" pitchFamily="18" charset="0"/>
                          <a:cs typeface="Times New Roman" panose="02020603050405020304" pitchFamily="18" charset="0"/>
                          <a:hlinkClick r:id="rId4"/>
                        </a:rPr>
                        <a:t>Gemini</a:t>
                      </a:r>
                      <a:endParaRPr lang="en-US" sz="1500">
                        <a:latin typeface="Times New Roman" panose="02020603050405020304" pitchFamily="18" charset="0"/>
                        <a:cs typeface="Times New Roman" panose="02020603050405020304" pitchFamily="18" charset="0"/>
                      </a:endParaRP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Aided in R coding, creating deliverable checklist, and analysis</a:t>
                      </a:r>
                    </a:p>
                  </a:txBody>
                  <a:tcPr marL="76200" marR="76200" marT="38100" marB="38100"/>
                </a:tc>
                <a:extLst>
                  <a:ext uri="{0D108BD9-81ED-4DB2-BD59-A6C34878D82A}">
                    <a16:rowId xmlns:a16="http://schemas.microsoft.com/office/drawing/2014/main" val="3894496824"/>
                  </a:ext>
                </a:extLst>
              </a:tr>
              <a:tr h="622938">
                <a:tc>
                  <a:txBody>
                    <a:bodyPr/>
                    <a:lstStyle/>
                    <a:p>
                      <a:pPr>
                        <a:buNone/>
                      </a:pPr>
                      <a:r>
                        <a:rPr lang="en-US" sz="1500">
                          <a:latin typeface="Times New Roman" panose="02020603050405020304" pitchFamily="18" charset="0"/>
                          <a:cs typeface="Times New Roman" panose="02020603050405020304" pitchFamily="18" charset="0"/>
                        </a:rPr>
                        <a:t>CI's </a:t>
                      </a:r>
                      <a:r>
                        <a:rPr lang="en-US" sz="1500" b="1">
                          <a:latin typeface="Times New Roman" panose="02020603050405020304" pitchFamily="18" charset="0"/>
                          <a:cs typeface="Times New Roman" panose="02020603050405020304" pitchFamily="18" charset="0"/>
                        </a:rPr>
                        <a:t>I</a:t>
                      </a:r>
                      <a:r>
                        <a:rPr lang="en-US" sz="1500">
                          <a:latin typeface="Times New Roman" panose="02020603050405020304" pitchFamily="18" charset="0"/>
                          <a:cs typeface="Times New Roman" panose="02020603050405020304" pitchFamily="18" charset="0"/>
                        </a:rPr>
                        <a:t> Key Findings </a:t>
                      </a:r>
                      <a:r>
                        <a:rPr lang="en-US" sz="1500" b="1">
                          <a:latin typeface="Times New Roman" panose="02020603050405020304" pitchFamily="18" charset="0"/>
                          <a:cs typeface="Times New Roman" panose="02020603050405020304" pitchFamily="18" charset="0"/>
                        </a:rPr>
                        <a:t>I </a:t>
                      </a:r>
                      <a:r>
                        <a:rPr lang="en-US" sz="1500">
                          <a:latin typeface="Times New Roman" panose="02020603050405020304" pitchFamily="18" charset="0"/>
                          <a:cs typeface="Times New Roman" panose="02020603050405020304" pitchFamily="18" charset="0"/>
                        </a:rPr>
                        <a:t>Limitations &amp; Future Analysis</a:t>
                      </a:r>
                    </a:p>
                  </a:txBody>
                  <a:tcPr marL="76200" marR="76200" marT="38100" marB="38100" anchor="ctr"/>
                </a:tc>
                <a:tc>
                  <a:txBody>
                    <a:bodyPr/>
                    <a:lstStyle/>
                    <a:p>
                      <a:pPr>
                        <a:buNone/>
                      </a:pPr>
                      <a:r>
                        <a:rPr lang="en-US" sz="1500">
                          <a:latin typeface="Times New Roman" panose="02020603050405020304" pitchFamily="18" charset="0"/>
                          <a:cs typeface="Times New Roman" panose="02020603050405020304" pitchFamily="18" charset="0"/>
                        </a:rPr>
                        <a:t>Lin</a:t>
                      </a:r>
                    </a:p>
                  </a:txBody>
                  <a:tcPr marL="76200" marR="76200" marT="38100" marB="38100" anchor="ctr"/>
                </a:tc>
                <a:tc>
                  <a:txBody>
                    <a:bodyPr/>
                    <a:lstStyle/>
                    <a:p>
                      <a:pPr lvl="0">
                        <a:buNone/>
                      </a:pPr>
                      <a:r>
                        <a:rPr lang="en-US" sz="1500" b="0" i="0" u="none" strike="noStrike" baseline="0" noProof="0">
                          <a:solidFill>
                            <a:srgbClr val="000000"/>
                          </a:solidFill>
                          <a:latin typeface="Times New Roman" panose="02020603050405020304" pitchFamily="18" charset="0"/>
                          <a:cs typeface="Times New Roman" panose="02020603050405020304" pitchFamily="18" charset="0"/>
                          <a:hlinkClick r:id="rId5"/>
                        </a:rPr>
                        <a:t>Claude</a:t>
                      </a:r>
                      <a:r>
                        <a:rPr lang="en-US" sz="1500" b="0" i="0" u="none" strike="noStrike" baseline="0" noProof="0">
                          <a:solidFill>
                            <a:srgbClr val="000000"/>
                          </a:solidFill>
                          <a:latin typeface="Times New Roman" panose="02020603050405020304" pitchFamily="18" charset="0"/>
                          <a:cs typeface="Times New Roman" panose="02020603050405020304" pitchFamily="18" charset="0"/>
                        </a:rPr>
                        <a:t> </a:t>
                      </a: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Create R code and analyze data</a:t>
                      </a:r>
                    </a:p>
                  </a:txBody>
                  <a:tcPr marL="76200" marR="76200" marT="38100" marB="38100"/>
                </a:tc>
                <a:extLst>
                  <a:ext uri="{0D108BD9-81ED-4DB2-BD59-A6C34878D82A}">
                    <a16:rowId xmlns:a16="http://schemas.microsoft.com/office/drawing/2014/main" val="3378770869"/>
                  </a:ext>
                </a:extLst>
              </a:tr>
              <a:tr h="622938">
                <a:tc>
                  <a:txBody>
                    <a:bodyPr/>
                    <a:lstStyle/>
                    <a:p>
                      <a:pPr>
                        <a:buNone/>
                      </a:pPr>
                      <a:r>
                        <a:rPr lang="en-US" sz="1500">
                          <a:latin typeface="Times New Roman" panose="02020603050405020304" pitchFamily="18" charset="0"/>
                          <a:cs typeface="Times New Roman" panose="02020603050405020304" pitchFamily="18" charset="0"/>
                        </a:rPr>
                        <a:t>PowerPoint Design</a:t>
                      </a:r>
                    </a:p>
                  </a:txBody>
                  <a:tcPr marL="76200" marR="76200" marT="38100" marB="38100" anchor="ctr"/>
                </a:tc>
                <a:tc>
                  <a:txBody>
                    <a:bodyPr/>
                    <a:lstStyle/>
                    <a:p>
                      <a:pPr>
                        <a:buNone/>
                      </a:pPr>
                      <a:r>
                        <a:rPr lang="en-US" sz="1500">
                          <a:latin typeface="Times New Roman" panose="02020603050405020304" pitchFamily="18" charset="0"/>
                          <a:cs typeface="Times New Roman" panose="02020603050405020304" pitchFamily="18" charset="0"/>
                        </a:rPr>
                        <a:t>Mia</a:t>
                      </a:r>
                    </a:p>
                  </a:txBody>
                  <a:tcPr marL="76200" marR="76200" marT="38100" marB="38100" anchor="ctr"/>
                </a:tc>
                <a:tc>
                  <a:txBody>
                    <a:bodyPr/>
                    <a:lstStyle/>
                    <a:p>
                      <a:pPr lvl="0">
                        <a:buNone/>
                      </a:pPr>
                      <a:r>
                        <a:rPr lang="en-US" sz="1500" b="0" i="0" u="none" strike="noStrike" baseline="0" noProof="0">
                          <a:solidFill>
                            <a:srgbClr val="000000"/>
                          </a:solidFill>
                          <a:latin typeface="Times New Roman" panose="02020603050405020304" pitchFamily="18" charset="0"/>
                          <a:cs typeface="Times New Roman" panose="02020603050405020304" pitchFamily="18" charset="0"/>
                          <a:hlinkClick r:id="rId6"/>
                        </a:rPr>
                        <a:t>Gamma</a:t>
                      </a:r>
                      <a:r>
                        <a:rPr lang="en-US" sz="1500" b="0" i="0" u="none" strike="noStrike" baseline="0" noProof="0">
                          <a:solidFill>
                            <a:srgbClr val="000000"/>
                          </a:solidFill>
                          <a:latin typeface="Times New Roman" panose="02020603050405020304" pitchFamily="18" charset="0"/>
                          <a:cs typeface="Times New Roman" panose="02020603050405020304" pitchFamily="18" charset="0"/>
                        </a:rPr>
                        <a:t> </a:t>
                      </a:r>
                    </a:p>
                  </a:txBody>
                  <a:tcPr marL="76200" marR="76200" marT="38100" marB="38100"/>
                </a:tc>
                <a:tc>
                  <a:txBody>
                    <a:bodyPr/>
                    <a:lstStyle/>
                    <a:p>
                      <a:r>
                        <a:rPr lang="en-US" sz="1500">
                          <a:latin typeface="Times New Roman" panose="02020603050405020304" pitchFamily="18" charset="0"/>
                          <a:cs typeface="Times New Roman" panose="02020603050405020304" pitchFamily="18" charset="0"/>
                        </a:rPr>
                        <a:t>PowerPoint template creation aid</a:t>
                      </a:r>
                    </a:p>
                  </a:txBody>
                  <a:tcPr marL="76200" marR="76200" marT="38100" marB="38100"/>
                </a:tc>
                <a:extLst>
                  <a:ext uri="{0D108BD9-81ED-4DB2-BD59-A6C34878D82A}">
                    <a16:rowId xmlns:a16="http://schemas.microsoft.com/office/drawing/2014/main" val="681401952"/>
                  </a:ext>
                </a:extLst>
              </a:tr>
            </a:tbl>
          </a:graphicData>
        </a:graphic>
      </p:graphicFrame>
    </p:spTree>
    <p:extLst>
      <p:ext uri="{BB962C8B-B14F-4D97-AF65-F5344CB8AC3E}">
        <p14:creationId xmlns:p14="http://schemas.microsoft.com/office/powerpoint/2010/main" val="282946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368703" y="67451"/>
            <a:ext cx="4646613" cy="46146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625"/>
              </a:lnSpc>
              <a:buNone/>
            </a:pPr>
            <a:r>
              <a:rPr lang="en-US" sz="2400">
                <a:solidFill>
                  <a:srgbClr val="3257B8"/>
                </a:solidFill>
                <a:latin typeface="Libre Baskerville" pitchFamily="34" charset="0"/>
                <a:ea typeface="Libre Baskerville" pitchFamily="34" charset="-122"/>
                <a:cs typeface="Libre Baskerville" pitchFamily="34" charset="-120"/>
              </a:rPr>
              <a:t>Appendix B: Key R Code</a:t>
            </a:r>
            <a:endParaRPr lang="en-US" sz="2400"/>
          </a:p>
        </p:txBody>
      </p:sp>
      <p:sp>
        <p:nvSpPr>
          <p:cNvPr id="19" name="Text 1">
            <a:extLst>
              <a:ext uri="{FF2B5EF4-FFF2-40B4-BE49-F238E27FC236}">
                <a16:creationId xmlns:a16="http://schemas.microsoft.com/office/drawing/2014/main" id="{60957FBC-CE74-1A86-918B-0FFB303DA2F4}"/>
              </a:ext>
            </a:extLst>
          </p:cNvPr>
          <p:cNvSpPr/>
          <p:nvPr/>
        </p:nvSpPr>
        <p:spPr>
          <a:xfrm>
            <a:off x="368703" y="690794"/>
            <a:ext cx="5199854" cy="323752"/>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625"/>
              </a:lnSpc>
            </a:pPr>
            <a:r>
              <a:rPr lang="en-US" sz="1100">
                <a:solidFill>
                  <a:srgbClr val="15213F"/>
                </a:solidFill>
                <a:latin typeface="Source Sans 3"/>
              </a:rPr>
              <a:t>R Code of probability and distribution sections</a:t>
            </a:r>
          </a:p>
        </p:txBody>
      </p:sp>
      <p:pic>
        <p:nvPicPr>
          <p:cNvPr id="24" name="Picture 23">
            <a:extLst>
              <a:ext uri="{FF2B5EF4-FFF2-40B4-BE49-F238E27FC236}">
                <a16:creationId xmlns:a16="http://schemas.microsoft.com/office/drawing/2014/main" id="{AA071323-2CEE-9619-E379-6F6A634675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550" y="1014546"/>
            <a:ext cx="5763803" cy="5614127"/>
          </a:xfrm>
          <a:prstGeom prst="rect">
            <a:avLst/>
          </a:prstGeom>
        </p:spPr>
      </p:pic>
      <p:pic>
        <p:nvPicPr>
          <p:cNvPr id="28" name="Picture 27">
            <a:extLst>
              <a:ext uri="{FF2B5EF4-FFF2-40B4-BE49-F238E27FC236}">
                <a16:creationId xmlns:a16="http://schemas.microsoft.com/office/drawing/2014/main" id="{EB9C7AAE-05FF-A9AD-8780-F9E75A13A4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0382" y="61729"/>
            <a:ext cx="6061753" cy="6734542"/>
          </a:xfrm>
          <a:prstGeom prst="rect">
            <a:avLst/>
          </a:prstGeom>
        </p:spPr>
      </p:pic>
    </p:spTree>
    <p:extLst>
      <p:ext uri="{BB962C8B-B14F-4D97-AF65-F5344CB8AC3E}">
        <p14:creationId xmlns:p14="http://schemas.microsoft.com/office/powerpoint/2010/main" val="2612226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2F09A-6D71-D5AE-1BFD-C490B8B470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DFE6FA5-6ED5-E31A-FAD5-B99DDB798E68}"/>
              </a:ext>
            </a:extLst>
          </p:cNvPr>
          <p:cNvSpPr/>
          <p:nvPr/>
        </p:nvSpPr>
        <p:spPr>
          <a:xfrm>
            <a:off x="368703" y="67451"/>
            <a:ext cx="4646613" cy="46146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625"/>
              </a:lnSpc>
              <a:buNone/>
            </a:pPr>
            <a:r>
              <a:rPr lang="en-US" sz="2000">
                <a:solidFill>
                  <a:srgbClr val="3257B8"/>
                </a:solidFill>
                <a:latin typeface="Libre Baskerville" pitchFamily="34" charset="0"/>
                <a:ea typeface="Libre Baskerville" pitchFamily="34" charset="-122"/>
                <a:cs typeface="Libre Baskerville" pitchFamily="34" charset="-120"/>
              </a:rPr>
              <a:t>Appendix B: Key R Code Continued</a:t>
            </a:r>
            <a:endParaRPr lang="en-US" sz="2000"/>
          </a:p>
        </p:txBody>
      </p:sp>
      <p:pic>
        <p:nvPicPr>
          <p:cNvPr id="4" name="Picture 3">
            <a:extLst>
              <a:ext uri="{FF2B5EF4-FFF2-40B4-BE49-F238E27FC236}">
                <a16:creationId xmlns:a16="http://schemas.microsoft.com/office/drawing/2014/main" id="{E42632DE-AB6A-74A8-1559-85C822418D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0382" y="67451"/>
            <a:ext cx="5934083" cy="6614580"/>
          </a:xfrm>
          <a:prstGeom prst="rect">
            <a:avLst/>
          </a:prstGeom>
        </p:spPr>
      </p:pic>
      <p:pic>
        <p:nvPicPr>
          <p:cNvPr id="6" name="Picture 5">
            <a:extLst>
              <a:ext uri="{FF2B5EF4-FFF2-40B4-BE49-F238E27FC236}">
                <a16:creationId xmlns:a16="http://schemas.microsoft.com/office/drawing/2014/main" id="{EA281B3C-75CA-7E53-2FEB-BA3ACA6CE7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8703" y="449122"/>
            <a:ext cx="5425921" cy="6341428"/>
          </a:xfrm>
          <a:prstGeom prst="rect">
            <a:avLst/>
          </a:prstGeom>
        </p:spPr>
      </p:pic>
    </p:spTree>
    <p:extLst>
      <p:ext uri="{BB962C8B-B14F-4D97-AF65-F5344CB8AC3E}">
        <p14:creationId xmlns:p14="http://schemas.microsoft.com/office/powerpoint/2010/main" val="2495030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24E5E-62FB-7A73-5EE3-DD6B968B6A6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8FAA573-AFC4-1699-30D2-8BE036D6AD9E}"/>
              </a:ext>
            </a:extLst>
          </p:cNvPr>
          <p:cNvSpPr/>
          <p:nvPr/>
        </p:nvSpPr>
        <p:spPr>
          <a:xfrm>
            <a:off x="432164" y="242831"/>
            <a:ext cx="4646613" cy="46146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625"/>
              </a:lnSpc>
              <a:buNone/>
            </a:pPr>
            <a:r>
              <a:rPr lang="en-US" sz="2850">
                <a:solidFill>
                  <a:srgbClr val="3257B8"/>
                </a:solidFill>
                <a:latin typeface="Libre Baskerville"/>
                <a:ea typeface="Libre Baskerville" pitchFamily="34" charset="-122"/>
                <a:cs typeface="Libre Baskerville" pitchFamily="34" charset="-120"/>
              </a:rPr>
              <a:t>Appendix B: Key R Code Continued</a:t>
            </a:r>
            <a:endParaRPr lang="en-US" sz="2850">
              <a:latin typeface="Libre Baskerville"/>
            </a:endParaRPr>
          </a:p>
        </p:txBody>
      </p:sp>
      <p:sp>
        <p:nvSpPr>
          <p:cNvPr id="3" name="Text 1">
            <a:extLst>
              <a:ext uri="{FF2B5EF4-FFF2-40B4-BE49-F238E27FC236}">
                <a16:creationId xmlns:a16="http://schemas.microsoft.com/office/drawing/2014/main" id="{6EC171CD-A1EB-1E4D-CA1D-840B36F78AEF}"/>
              </a:ext>
            </a:extLst>
          </p:cNvPr>
          <p:cNvSpPr/>
          <p:nvPr/>
        </p:nvSpPr>
        <p:spPr>
          <a:xfrm>
            <a:off x="432164" y="820561"/>
            <a:ext cx="11158339" cy="21034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625"/>
              </a:lnSpc>
            </a:pPr>
            <a:r>
              <a:rPr lang="en-US" sz="1100">
                <a:solidFill>
                  <a:srgbClr val="15213F"/>
                </a:solidFill>
                <a:latin typeface="Source Sans 3"/>
              </a:rPr>
              <a:t>R Code of Confidence Intervals and Normal distribution</a:t>
            </a:r>
          </a:p>
        </p:txBody>
      </p:sp>
      <p:sp>
        <p:nvSpPr>
          <p:cNvPr id="4" name="Text 2">
            <a:extLst>
              <a:ext uri="{FF2B5EF4-FFF2-40B4-BE49-F238E27FC236}">
                <a16:creationId xmlns:a16="http://schemas.microsoft.com/office/drawing/2014/main" id="{9DCA864E-2688-9119-F7CC-1DBB9FA5C42B}"/>
              </a:ext>
            </a:extLst>
          </p:cNvPr>
          <p:cNvSpPr/>
          <p:nvPr/>
        </p:nvSpPr>
        <p:spPr>
          <a:xfrm>
            <a:off x="516831" y="1639689"/>
            <a:ext cx="3160018" cy="2306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92"/>
              </a:lnSpc>
              <a:buNone/>
            </a:pPr>
            <a:endParaRPr lang="en-US" sz="1400">
              <a:solidFill>
                <a:srgbClr val="3257B8"/>
              </a:solidFill>
              <a:latin typeface="Libre Baskerville"/>
            </a:endParaRPr>
          </a:p>
        </p:txBody>
      </p:sp>
      <p:sp>
        <p:nvSpPr>
          <p:cNvPr id="7" name="Text 5">
            <a:extLst>
              <a:ext uri="{FF2B5EF4-FFF2-40B4-BE49-F238E27FC236}">
                <a16:creationId xmlns:a16="http://schemas.microsoft.com/office/drawing/2014/main" id="{5EAF99D2-4928-789D-8554-82C6FA206691}"/>
              </a:ext>
            </a:extLst>
          </p:cNvPr>
          <p:cNvSpPr/>
          <p:nvPr/>
        </p:nvSpPr>
        <p:spPr>
          <a:xfrm>
            <a:off x="694035" y="2147789"/>
            <a:ext cx="5044678" cy="1051719"/>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625"/>
              </a:lnSpc>
              <a:buNone/>
            </a:pPr>
            <a:endParaRPr lang="en-US" sz="1100">
              <a:solidFill>
                <a:srgbClr val="6A737D"/>
              </a:solidFill>
              <a:highlight>
                <a:srgbClr val="EEEFF1"/>
              </a:highlight>
              <a:latin typeface="Consolas"/>
            </a:endParaRPr>
          </a:p>
        </p:txBody>
      </p:sp>
      <p:sp>
        <p:nvSpPr>
          <p:cNvPr id="8" name="Text 6">
            <a:extLst>
              <a:ext uri="{FF2B5EF4-FFF2-40B4-BE49-F238E27FC236}">
                <a16:creationId xmlns:a16="http://schemas.microsoft.com/office/drawing/2014/main" id="{DBA57046-5331-C54D-7080-C30C54F1E050}"/>
              </a:ext>
            </a:extLst>
          </p:cNvPr>
          <p:cNvSpPr/>
          <p:nvPr/>
        </p:nvSpPr>
        <p:spPr>
          <a:xfrm>
            <a:off x="516831" y="3476923"/>
            <a:ext cx="2945706" cy="2306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92"/>
              </a:lnSpc>
              <a:buNone/>
            </a:pPr>
            <a:endParaRPr lang="en-US" sz="1400">
              <a:solidFill>
                <a:srgbClr val="3257B8"/>
              </a:solidFill>
              <a:latin typeface="Libre Baskerville"/>
            </a:endParaRPr>
          </a:p>
        </p:txBody>
      </p:sp>
      <p:sp>
        <p:nvSpPr>
          <p:cNvPr id="12" name="Text 10">
            <a:extLst>
              <a:ext uri="{FF2B5EF4-FFF2-40B4-BE49-F238E27FC236}">
                <a16:creationId xmlns:a16="http://schemas.microsoft.com/office/drawing/2014/main" id="{CDEA3077-4C6C-393F-3FE0-99841A1FACAE}"/>
              </a:ext>
            </a:extLst>
          </p:cNvPr>
          <p:cNvSpPr/>
          <p:nvPr/>
        </p:nvSpPr>
        <p:spPr>
          <a:xfrm>
            <a:off x="6282432" y="1639689"/>
            <a:ext cx="3793530" cy="2306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92"/>
              </a:lnSpc>
              <a:buNone/>
            </a:pPr>
            <a:endParaRPr lang="en-US" sz="1400">
              <a:solidFill>
                <a:srgbClr val="3257B8"/>
              </a:solidFill>
              <a:latin typeface="Libre Baskerville"/>
            </a:endParaRPr>
          </a:p>
        </p:txBody>
      </p:sp>
      <p:sp>
        <p:nvSpPr>
          <p:cNvPr id="15" name="Text 13">
            <a:extLst>
              <a:ext uri="{FF2B5EF4-FFF2-40B4-BE49-F238E27FC236}">
                <a16:creationId xmlns:a16="http://schemas.microsoft.com/office/drawing/2014/main" id="{E235F65D-7BF7-0973-7603-E21095A47692}"/>
              </a:ext>
            </a:extLst>
          </p:cNvPr>
          <p:cNvSpPr/>
          <p:nvPr/>
        </p:nvSpPr>
        <p:spPr>
          <a:xfrm>
            <a:off x="6459637" y="2147789"/>
            <a:ext cx="5044678" cy="21034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625"/>
              </a:lnSpc>
              <a:buNone/>
            </a:pPr>
            <a:endParaRPr lang="en-US" sz="1100">
              <a:solidFill>
                <a:srgbClr val="6A737D"/>
              </a:solidFill>
              <a:highlight>
                <a:srgbClr val="EEEFF1"/>
              </a:highlight>
              <a:latin typeface="Consolas"/>
            </a:endParaRPr>
          </a:p>
        </p:txBody>
      </p:sp>
      <p:pic>
        <p:nvPicPr>
          <p:cNvPr id="17" name="Image 0" descr="preencoded.png">
            <a:extLst>
              <a:ext uri="{FF2B5EF4-FFF2-40B4-BE49-F238E27FC236}">
                <a16:creationId xmlns:a16="http://schemas.microsoft.com/office/drawing/2014/main" id="{2E40B978-DFA2-DC68-0996-DA26C9D3FB31}"/>
              </a:ext>
            </a:extLst>
          </p:cNvPr>
          <p:cNvPicPr>
            <a:picLocks noChangeAspect="1"/>
          </p:cNvPicPr>
          <p:nvPr/>
        </p:nvPicPr>
        <p:blipFill>
          <a:blip r:embed="rId3"/>
          <a:stretch>
            <a:fillRect/>
          </a:stretch>
        </p:blipFill>
        <p:spPr>
          <a:xfrm>
            <a:off x="6430069" y="4736406"/>
            <a:ext cx="184547" cy="147638"/>
          </a:xfrm>
          <a:prstGeom prst="rect">
            <a:avLst/>
          </a:prstGeom>
        </p:spPr>
      </p:pic>
      <p:sp>
        <p:nvSpPr>
          <p:cNvPr id="18" name="Text 15">
            <a:extLst>
              <a:ext uri="{FF2B5EF4-FFF2-40B4-BE49-F238E27FC236}">
                <a16:creationId xmlns:a16="http://schemas.microsoft.com/office/drawing/2014/main" id="{0CC04B7B-A5E5-5910-8E99-CE6FE4B622B2}"/>
              </a:ext>
            </a:extLst>
          </p:cNvPr>
          <p:cNvSpPr/>
          <p:nvPr/>
        </p:nvSpPr>
        <p:spPr>
          <a:xfrm>
            <a:off x="6762254" y="4680844"/>
            <a:ext cx="4771628" cy="42068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625"/>
              </a:lnSpc>
              <a:buNone/>
            </a:pPr>
            <a:endParaRPr lang="en-US" sz="1100">
              <a:latin typeface="Source Sans 3"/>
            </a:endParaRPr>
          </a:p>
        </p:txBody>
      </p:sp>
      <p:pic>
        <p:nvPicPr>
          <p:cNvPr id="19" name="Picture 18">
            <a:extLst>
              <a:ext uri="{FF2B5EF4-FFF2-40B4-BE49-F238E27FC236}">
                <a16:creationId xmlns:a16="http://schemas.microsoft.com/office/drawing/2014/main" id="{D4060DE4-3391-0F05-CFE0-5A7D84AF9BC9}"/>
              </a:ext>
            </a:extLst>
          </p:cNvPr>
          <p:cNvPicPr>
            <a:picLocks noChangeAspect="1"/>
          </p:cNvPicPr>
          <p:nvPr/>
        </p:nvPicPr>
        <p:blipFill>
          <a:blip r:embed="rId4"/>
          <a:stretch>
            <a:fillRect/>
          </a:stretch>
        </p:blipFill>
        <p:spPr>
          <a:xfrm>
            <a:off x="277407" y="1155908"/>
            <a:ext cx="4243381" cy="5459261"/>
          </a:xfrm>
          <a:prstGeom prst="rect">
            <a:avLst/>
          </a:prstGeom>
        </p:spPr>
      </p:pic>
      <p:pic>
        <p:nvPicPr>
          <p:cNvPr id="20" name="Picture 19" descr="A screenshot of a computer program&#10;&#10;AI-generated content may be incorrect.">
            <a:extLst>
              <a:ext uri="{FF2B5EF4-FFF2-40B4-BE49-F238E27FC236}">
                <a16:creationId xmlns:a16="http://schemas.microsoft.com/office/drawing/2014/main" id="{A6B0770D-6591-CEE6-CBD1-1A5280D2F402}"/>
              </a:ext>
            </a:extLst>
          </p:cNvPr>
          <p:cNvPicPr>
            <a:picLocks noChangeAspect="1"/>
          </p:cNvPicPr>
          <p:nvPr/>
        </p:nvPicPr>
        <p:blipFill>
          <a:blip r:embed="rId5"/>
          <a:stretch>
            <a:fillRect/>
          </a:stretch>
        </p:blipFill>
        <p:spPr>
          <a:xfrm>
            <a:off x="4536980" y="1166347"/>
            <a:ext cx="4067932" cy="5448822"/>
          </a:xfrm>
          <a:prstGeom prst="rect">
            <a:avLst/>
          </a:prstGeom>
        </p:spPr>
      </p:pic>
      <p:pic>
        <p:nvPicPr>
          <p:cNvPr id="22" name="Picture 21">
            <a:extLst>
              <a:ext uri="{FF2B5EF4-FFF2-40B4-BE49-F238E27FC236}">
                <a16:creationId xmlns:a16="http://schemas.microsoft.com/office/drawing/2014/main" id="{BAC094A6-095C-7EEE-3FA7-4450631FF876}"/>
              </a:ext>
            </a:extLst>
          </p:cNvPr>
          <p:cNvPicPr>
            <a:picLocks noChangeAspect="1"/>
          </p:cNvPicPr>
          <p:nvPr/>
        </p:nvPicPr>
        <p:blipFill>
          <a:blip r:embed="rId6"/>
          <a:stretch>
            <a:fillRect/>
          </a:stretch>
        </p:blipFill>
        <p:spPr>
          <a:xfrm>
            <a:off x="8621104" y="1166347"/>
            <a:ext cx="3571875" cy="3248025"/>
          </a:xfrm>
          <a:prstGeom prst="rect">
            <a:avLst/>
          </a:prstGeom>
        </p:spPr>
      </p:pic>
    </p:spTree>
    <p:extLst>
      <p:ext uri="{BB962C8B-B14F-4D97-AF65-F5344CB8AC3E}">
        <p14:creationId xmlns:p14="http://schemas.microsoft.com/office/powerpoint/2010/main" val="3075255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22</Slides>
  <Notes>21</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Histogram of Normal Distribution (Lin)</vt:lpstr>
      <vt:lpstr>PowerPoint Presentation</vt:lpstr>
      <vt:lpstr>PowerPoint Presentation</vt:lpstr>
      <vt:lpstr>PowerPoint Presentation</vt:lpstr>
      <vt:lpstr>Christian Worldview Integration (Lewis)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2026-04-20T01:34:12Z</dcterms:created>
  <dcterms:modified xsi:type="dcterms:W3CDTF">2026-10-04T03:50:46Z</dcterms:modified>
</cp:coreProperties>
</file>